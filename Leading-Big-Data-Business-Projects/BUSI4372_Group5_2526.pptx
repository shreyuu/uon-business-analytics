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ontserrat Bold" charset="1" panose="00000800000000000000"/>
      <p:regular r:id="rId22"/>
    </p:embeddedFont>
    <p:embeddedFont>
      <p:font typeface="Inter Bold Italics" charset="1" panose="02000503000000020004"/>
      <p:regular r:id="rId23"/>
    </p:embeddedFont>
    <p:embeddedFont>
      <p:font typeface="Inter" charset="1" panose="02000503000000020004"/>
      <p:regular r:id="rId24"/>
    </p:embeddedFont>
    <p:embeddedFont>
      <p:font typeface="Inter Italics" charset="1" panose="02000503000000020004"/>
      <p:regular r:id="rId25"/>
    </p:embeddedFont>
    <p:embeddedFont>
      <p:font typeface="Inter Bold" charset="1" panose="02000503000000020004"/>
      <p:regular r:id="rId26"/>
    </p:embeddedFont>
    <p:embeddedFont>
      <p:font typeface="Montserrat" charset="1" panose="00000500000000000000"/>
      <p:regular r:id="rId27"/>
    </p:embeddedFont>
    <p:embeddedFont>
      <p:font typeface="Lora Bold Italics" charset="1" panose="000008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jpeg" Type="http://schemas.openxmlformats.org/officeDocument/2006/relationships/image"/><Relationship Id="rId5" Target="../media/image36.jpeg" Type="http://schemas.openxmlformats.org/officeDocument/2006/relationships/image"/><Relationship Id="rId6" Target="../media/image3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28700" y="1028700"/>
            <a:ext cx="597073" cy="557133"/>
          </a:xfrm>
          <a:custGeom>
            <a:avLst/>
            <a:gdLst/>
            <a:ahLst/>
            <a:cxnLst/>
            <a:rect r="r" b="b" t="t" l="l"/>
            <a:pathLst>
              <a:path h="557133" w="597073">
                <a:moveTo>
                  <a:pt x="0" y="0"/>
                </a:moveTo>
                <a:lnTo>
                  <a:pt x="597073" y="0"/>
                </a:lnTo>
                <a:lnTo>
                  <a:pt x="597073" y="557133"/>
                </a:lnTo>
                <a:lnTo>
                  <a:pt x="0" y="5571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F2F0EB">
                    <a:alpha val="100000"/>
                  </a:srgbClr>
                </a:gs>
                <a:gs pos="25000">
                  <a:srgbClr val="F2F0EB">
                    <a:alpha val="100000"/>
                  </a:srgbClr>
                </a:gs>
                <a:gs pos="50000">
                  <a:srgbClr val="F2F0EB">
                    <a:alpha val="100000"/>
                  </a:srgbClr>
                </a:gs>
                <a:gs pos="75000">
                  <a:srgbClr val="F2F0EB">
                    <a:alpha val="50000"/>
                  </a:srgbClr>
                </a:gs>
                <a:gs pos="100000">
                  <a:srgbClr val="F2F0EB">
                    <a:alpha val="0"/>
                  </a:srgbClr>
                </a:gs>
              </a:gsLst>
              <a:lin ang="0"/>
            </a:gradFill>
          </p:spPr>
        </p:sp>
        <p:sp>
          <p:nvSpPr>
            <p:cNvPr name="TextBox 6" id="6"/>
            <p:cNvSpPr txBox="true"/>
            <p:nvPr/>
          </p:nvSpPr>
          <p:spPr>
            <a:xfrm>
              <a:off x="0" y="-47625"/>
              <a:ext cx="4816593" cy="2756958"/>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434074" y="539788"/>
            <a:ext cx="6801867" cy="2092090"/>
          </a:xfrm>
          <a:custGeom>
            <a:avLst/>
            <a:gdLst/>
            <a:ahLst/>
            <a:cxnLst/>
            <a:rect r="r" b="b" t="t" l="l"/>
            <a:pathLst>
              <a:path h="2092090" w="6801867">
                <a:moveTo>
                  <a:pt x="0" y="0"/>
                </a:moveTo>
                <a:lnTo>
                  <a:pt x="6801867" y="0"/>
                </a:lnTo>
                <a:lnTo>
                  <a:pt x="6801867" y="2092090"/>
                </a:lnTo>
                <a:lnTo>
                  <a:pt x="0" y="2092090"/>
                </a:lnTo>
                <a:lnTo>
                  <a:pt x="0" y="0"/>
                </a:lnTo>
                <a:close/>
              </a:path>
            </a:pathLst>
          </a:custGeom>
          <a:blipFill>
            <a:blip r:embed="rId5"/>
            <a:stretch>
              <a:fillRect l="0" t="-12354" r="0" b="-18507"/>
            </a:stretch>
          </a:blipFill>
        </p:spPr>
      </p:sp>
      <p:sp>
        <p:nvSpPr>
          <p:cNvPr name="TextBox 8" id="8"/>
          <p:cNvSpPr txBox="true"/>
          <p:nvPr/>
        </p:nvSpPr>
        <p:spPr>
          <a:xfrm rot="0">
            <a:off x="1028700" y="3309690"/>
            <a:ext cx="8312264" cy="3534269"/>
          </a:xfrm>
          <a:prstGeom prst="rect">
            <a:avLst/>
          </a:prstGeom>
        </p:spPr>
        <p:txBody>
          <a:bodyPr anchor="t" rtlCol="false" tIns="0" lIns="0" bIns="0" rIns="0">
            <a:spAutoFit/>
          </a:bodyPr>
          <a:lstStyle/>
          <a:p>
            <a:pPr algn="l" marL="0" indent="0" lvl="0">
              <a:lnSpc>
                <a:spcPts val="9422"/>
              </a:lnSpc>
            </a:pPr>
            <a:r>
              <a:rPr lang="en-US" b="true" sz="6730">
                <a:solidFill>
                  <a:srgbClr val="1E3932"/>
                </a:solidFill>
                <a:latin typeface="Montserrat Bold"/>
                <a:ea typeface="Montserrat Bold"/>
                <a:cs typeface="Montserrat Bold"/>
                <a:sym typeface="Montserrat Bold"/>
              </a:rPr>
              <a:t>BIG DATA  ANALYTICS ENGAGEMENT</a:t>
            </a:r>
          </a:p>
        </p:txBody>
      </p:sp>
      <p:sp>
        <p:nvSpPr>
          <p:cNvPr name="TextBox 9" id="9"/>
          <p:cNvSpPr txBox="true"/>
          <p:nvPr/>
        </p:nvSpPr>
        <p:spPr>
          <a:xfrm rot="0">
            <a:off x="1028700" y="7473537"/>
            <a:ext cx="10198966" cy="481375"/>
          </a:xfrm>
          <a:prstGeom prst="rect">
            <a:avLst/>
          </a:prstGeom>
        </p:spPr>
        <p:txBody>
          <a:bodyPr anchor="t" rtlCol="false" tIns="0" lIns="0" bIns="0" rIns="0">
            <a:spAutoFit/>
          </a:bodyPr>
          <a:lstStyle/>
          <a:p>
            <a:pPr algn="l" marL="0" indent="0" lvl="0">
              <a:lnSpc>
                <a:spcPts val="3917"/>
              </a:lnSpc>
              <a:spcBef>
                <a:spcPct val="0"/>
              </a:spcBef>
            </a:pPr>
            <a:r>
              <a:rPr lang="en-US" b="true" sz="2798" i="true">
                <a:solidFill>
                  <a:srgbClr val="6B6B5E"/>
                </a:solidFill>
                <a:latin typeface="Inter Bold Italics"/>
                <a:ea typeface="Inter Bold Italics"/>
                <a:cs typeface="Inter Bold Italics"/>
                <a:sym typeface="Inter Bold Italics"/>
              </a:rPr>
              <a:t>Prepared for Starbucks Autumn 2026 Campaign </a:t>
            </a:r>
          </a:p>
        </p:txBody>
      </p:sp>
      <p:sp>
        <p:nvSpPr>
          <p:cNvPr name="TextBox 10" id="10"/>
          <p:cNvSpPr txBox="true"/>
          <p:nvPr/>
        </p:nvSpPr>
        <p:spPr>
          <a:xfrm rot="0">
            <a:off x="8401385" y="9210675"/>
            <a:ext cx="1485230" cy="405810"/>
          </a:xfrm>
          <a:prstGeom prst="rect">
            <a:avLst/>
          </a:prstGeom>
        </p:spPr>
        <p:txBody>
          <a:bodyPr anchor="t" rtlCol="false" tIns="0" lIns="0" bIns="0" rIns="0">
            <a:spAutoFit/>
          </a:bodyPr>
          <a:lstStyle/>
          <a:p>
            <a:pPr algn="ctr">
              <a:lnSpc>
                <a:spcPts val="3357"/>
              </a:lnSpc>
              <a:spcBef>
                <a:spcPct val="0"/>
              </a:spcBef>
            </a:pPr>
            <a:r>
              <a:rPr lang="en-US" sz="2398">
                <a:solidFill>
                  <a:srgbClr val="1E3932"/>
                </a:solidFill>
                <a:latin typeface="Inter"/>
                <a:ea typeface="Inter"/>
                <a:cs typeface="Inter"/>
                <a:sym typeface="Inter"/>
              </a:rPr>
              <a:t>MAY 2026</a:t>
            </a:r>
          </a:p>
        </p:txBody>
      </p:sp>
      <p:grpSp>
        <p:nvGrpSpPr>
          <p:cNvPr name="Group 11" id="11"/>
          <p:cNvGrpSpPr/>
          <p:nvPr/>
        </p:nvGrpSpPr>
        <p:grpSpPr>
          <a:xfrm rot="0">
            <a:off x="1922145" y="1311592"/>
            <a:ext cx="188595" cy="189548"/>
            <a:chOff x="0" y="0"/>
            <a:chExt cx="251460" cy="252730"/>
          </a:xfrm>
        </p:grpSpPr>
        <p:sp>
          <p:nvSpPr>
            <p:cNvPr name="Freeform 12" id="12"/>
            <p:cNvSpPr/>
            <p:nvPr/>
          </p:nvSpPr>
          <p:spPr>
            <a:xfrm flipH="false" flipV="false" rot="0">
              <a:off x="50562" y="50749"/>
              <a:ext cx="148828" cy="151990"/>
            </a:xfrm>
            <a:custGeom>
              <a:avLst/>
              <a:gdLst/>
              <a:ahLst/>
              <a:cxnLst/>
              <a:rect r="r" b="b" t="t" l="l"/>
              <a:pathLst>
                <a:path h="151990" w="148828">
                  <a:moveTo>
                    <a:pt x="148828" y="52121"/>
                  </a:moveTo>
                  <a:cubicBezTo>
                    <a:pt x="129778" y="133401"/>
                    <a:pt x="118348" y="139751"/>
                    <a:pt x="108188" y="144831"/>
                  </a:cubicBezTo>
                  <a:cubicBezTo>
                    <a:pt x="96758" y="149911"/>
                    <a:pt x="85328" y="153721"/>
                    <a:pt x="71358" y="151181"/>
                  </a:cubicBezTo>
                  <a:cubicBezTo>
                    <a:pt x="53578" y="147371"/>
                    <a:pt x="23098" y="128321"/>
                    <a:pt x="11668" y="114351"/>
                  </a:cubicBezTo>
                  <a:cubicBezTo>
                    <a:pt x="2778" y="104191"/>
                    <a:pt x="-1032" y="92761"/>
                    <a:pt x="238" y="80061"/>
                  </a:cubicBezTo>
                  <a:cubicBezTo>
                    <a:pt x="1508" y="61011"/>
                    <a:pt x="16748" y="27991"/>
                    <a:pt x="29448" y="15291"/>
                  </a:cubicBezTo>
                  <a:cubicBezTo>
                    <a:pt x="38338" y="5131"/>
                    <a:pt x="49768" y="1321"/>
                    <a:pt x="62468" y="51"/>
                  </a:cubicBezTo>
                  <a:cubicBezTo>
                    <a:pt x="81518" y="-1219"/>
                    <a:pt x="129778" y="21641"/>
                    <a:pt x="129778" y="21641"/>
                  </a:cubicBezTo>
                </a:path>
              </a:pathLst>
            </a:custGeom>
            <a:solidFill>
              <a:srgbClr val="FFFFFF"/>
            </a:solidFill>
            <a:ln cap="sq">
              <a:noFill/>
              <a:prstDash val="solid"/>
              <a:miter/>
            </a:ln>
          </p:spPr>
        </p:sp>
      </p:grpSp>
      <p:grpSp>
        <p:nvGrpSpPr>
          <p:cNvPr name="Group 13" id="13"/>
          <p:cNvGrpSpPr/>
          <p:nvPr/>
        </p:nvGrpSpPr>
        <p:grpSpPr>
          <a:xfrm rot="0">
            <a:off x="1795462" y="938212"/>
            <a:ext cx="184785" cy="189548"/>
            <a:chOff x="0" y="0"/>
            <a:chExt cx="246380" cy="252730"/>
          </a:xfrm>
        </p:grpSpPr>
        <p:sp>
          <p:nvSpPr>
            <p:cNvPr name="Freeform 14" id="14"/>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15" id="15"/>
          <p:cNvGrpSpPr/>
          <p:nvPr/>
        </p:nvGrpSpPr>
        <p:grpSpPr>
          <a:xfrm rot="0">
            <a:off x="1824038" y="951548"/>
            <a:ext cx="191452" cy="190500"/>
            <a:chOff x="0" y="0"/>
            <a:chExt cx="255270" cy="254000"/>
          </a:xfrm>
        </p:grpSpPr>
        <p:sp>
          <p:nvSpPr>
            <p:cNvPr name="Freeform 16" id="16"/>
            <p:cNvSpPr/>
            <p:nvPr/>
          </p:nvSpPr>
          <p:spPr>
            <a:xfrm flipH="false" flipV="false" rot="0">
              <a:off x="50727" y="50408"/>
              <a:ext cx="153935" cy="153012"/>
            </a:xfrm>
            <a:custGeom>
              <a:avLst/>
              <a:gdLst/>
              <a:ahLst/>
              <a:cxnLst/>
              <a:rect r="r" b="b" t="t" l="l"/>
              <a:pathLst>
                <a:path h="153012" w="153935">
                  <a:moveTo>
                    <a:pt x="20393" y="129932"/>
                  </a:moveTo>
                  <a:cubicBezTo>
                    <a:pt x="3883" y="39762"/>
                    <a:pt x="25473" y="13092"/>
                    <a:pt x="44523" y="5472"/>
                  </a:cubicBezTo>
                  <a:cubicBezTo>
                    <a:pt x="63573" y="-3418"/>
                    <a:pt x="97863" y="-878"/>
                    <a:pt x="115643" y="10552"/>
                  </a:cubicBezTo>
                  <a:cubicBezTo>
                    <a:pt x="133423" y="21982"/>
                    <a:pt x="151203" y="52462"/>
                    <a:pt x="151203" y="72782"/>
                  </a:cubicBezTo>
                  <a:cubicBezTo>
                    <a:pt x="152473" y="94372"/>
                    <a:pt x="137233" y="124852"/>
                    <a:pt x="119453" y="137552"/>
                  </a:cubicBezTo>
                  <a:cubicBezTo>
                    <a:pt x="102943" y="150252"/>
                    <a:pt x="68653" y="154062"/>
                    <a:pt x="48333" y="146442"/>
                  </a:cubicBezTo>
                  <a:cubicBezTo>
                    <a:pt x="29283" y="140092"/>
                    <a:pt x="6423" y="114692"/>
                    <a:pt x="1343" y="94372"/>
                  </a:cubicBezTo>
                  <a:cubicBezTo>
                    <a:pt x="-3737" y="72782"/>
                    <a:pt x="6423" y="39762"/>
                    <a:pt x="17853" y="24522"/>
                  </a:cubicBezTo>
                  <a:cubicBezTo>
                    <a:pt x="28013" y="11822"/>
                    <a:pt x="44523" y="1662"/>
                    <a:pt x="61033" y="392"/>
                  </a:cubicBezTo>
                  <a:cubicBezTo>
                    <a:pt x="80083" y="-2148"/>
                    <a:pt x="113103" y="8012"/>
                    <a:pt x="129613" y="20712"/>
                  </a:cubicBezTo>
                  <a:cubicBezTo>
                    <a:pt x="142313" y="32142"/>
                    <a:pt x="151203" y="52462"/>
                    <a:pt x="153743" y="70242"/>
                  </a:cubicBezTo>
                  <a:cubicBezTo>
                    <a:pt x="155013" y="86752"/>
                    <a:pt x="149933" y="108342"/>
                    <a:pt x="139773" y="122312"/>
                  </a:cubicBezTo>
                  <a:cubicBezTo>
                    <a:pt x="129613" y="136282"/>
                    <a:pt x="111833" y="148982"/>
                    <a:pt x="95323" y="152792"/>
                  </a:cubicBezTo>
                  <a:cubicBezTo>
                    <a:pt x="75003" y="155332"/>
                    <a:pt x="25473" y="135012"/>
                    <a:pt x="25473" y="135012"/>
                  </a:cubicBezTo>
                </a:path>
              </a:pathLst>
            </a:custGeom>
            <a:solidFill>
              <a:srgbClr val="FFFFFF"/>
            </a:solidFill>
            <a:ln cap="sq">
              <a:noFill/>
              <a:prstDash val="solid"/>
              <a:miter/>
            </a:ln>
          </p:spPr>
        </p:sp>
      </p:grpSp>
      <p:grpSp>
        <p:nvGrpSpPr>
          <p:cNvPr name="Group 17" id="17"/>
          <p:cNvGrpSpPr/>
          <p:nvPr/>
        </p:nvGrpSpPr>
        <p:grpSpPr>
          <a:xfrm rot="0">
            <a:off x="1806892" y="953452"/>
            <a:ext cx="184785" cy="189548"/>
            <a:chOff x="0" y="0"/>
            <a:chExt cx="246380" cy="252730"/>
          </a:xfrm>
        </p:grpSpPr>
        <p:sp>
          <p:nvSpPr>
            <p:cNvPr name="Freeform 18" id="18"/>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19" id="19"/>
          <p:cNvGrpSpPr/>
          <p:nvPr/>
        </p:nvGrpSpPr>
        <p:grpSpPr>
          <a:xfrm rot="0">
            <a:off x="1797367" y="951548"/>
            <a:ext cx="184785" cy="189548"/>
            <a:chOff x="0" y="0"/>
            <a:chExt cx="246380" cy="252730"/>
          </a:xfrm>
        </p:grpSpPr>
        <p:sp>
          <p:nvSpPr>
            <p:cNvPr name="Freeform 20" id="20"/>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21" id="21"/>
          <p:cNvGrpSpPr/>
          <p:nvPr/>
        </p:nvGrpSpPr>
        <p:grpSpPr>
          <a:xfrm rot="0">
            <a:off x="1781175" y="950595"/>
            <a:ext cx="192405" cy="191452"/>
            <a:chOff x="0" y="0"/>
            <a:chExt cx="256540" cy="255270"/>
          </a:xfrm>
        </p:grpSpPr>
        <p:sp>
          <p:nvSpPr>
            <p:cNvPr name="Freeform 22" id="22"/>
            <p:cNvSpPr/>
            <p:nvPr/>
          </p:nvSpPr>
          <p:spPr>
            <a:xfrm flipH="false" flipV="false" rot="0">
              <a:off x="50153" y="50641"/>
              <a:ext cx="155587" cy="152559"/>
            </a:xfrm>
            <a:custGeom>
              <a:avLst/>
              <a:gdLst/>
              <a:ahLst/>
              <a:cxnLst/>
              <a:rect r="r" b="b" t="t" l="l"/>
              <a:pathLst>
                <a:path h="152559" w="155587">
                  <a:moveTo>
                    <a:pt x="76847" y="152559"/>
                  </a:moveTo>
                  <a:cubicBezTo>
                    <a:pt x="1917" y="101759"/>
                    <a:pt x="-1893" y="67469"/>
                    <a:pt x="5727" y="48419"/>
                  </a:cubicBezTo>
                  <a:cubicBezTo>
                    <a:pt x="13347" y="28099"/>
                    <a:pt x="40017" y="6509"/>
                    <a:pt x="60337" y="1429"/>
                  </a:cubicBezTo>
                  <a:cubicBezTo>
                    <a:pt x="80657" y="-2381"/>
                    <a:pt x="113677" y="6509"/>
                    <a:pt x="128917" y="20479"/>
                  </a:cubicBezTo>
                  <a:cubicBezTo>
                    <a:pt x="144157" y="35719"/>
                    <a:pt x="155587" y="67469"/>
                    <a:pt x="151777" y="89059"/>
                  </a:cubicBezTo>
                  <a:cubicBezTo>
                    <a:pt x="149237" y="109379"/>
                    <a:pt x="127647" y="137319"/>
                    <a:pt x="108597" y="146209"/>
                  </a:cubicBezTo>
                  <a:cubicBezTo>
                    <a:pt x="89547" y="155099"/>
                    <a:pt x="55257" y="152559"/>
                    <a:pt x="37477" y="141129"/>
                  </a:cubicBezTo>
                  <a:cubicBezTo>
                    <a:pt x="19697" y="130969"/>
                    <a:pt x="3187" y="100489"/>
                    <a:pt x="647" y="80169"/>
                  </a:cubicBezTo>
                  <a:cubicBezTo>
                    <a:pt x="-1893" y="63659"/>
                    <a:pt x="3187" y="45879"/>
                    <a:pt x="13347" y="33179"/>
                  </a:cubicBezTo>
                  <a:cubicBezTo>
                    <a:pt x="26047" y="17939"/>
                    <a:pt x="56527" y="1429"/>
                    <a:pt x="76847" y="159"/>
                  </a:cubicBezTo>
                  <a:cubicBezTo>
                    <a:pt x="94627" y="-1111"/>
                    <a:pt x="114947" y="5239"/>
                    <a:pt x="127647" y="17939"/>
                  </a:cubicBezTo>
                  <a:cubicBezTo>
                    <a:pt x="142887" y="31909"/>
                    <a:pt x="155587" y="62389"/>
                    <a:pt x="155587" y="82709"/>
                  </a:cubicBezTo>
                  <a:cubicBezTo>
                    <a:pt x="155587" y="100489"/>
                    <a:pt x="144157" y="120809"/>
                    <a:pt x="131457" y="132239"/>
                  </a:cubicBezTo>
                  <a:cubicBezTo>
                    <a:pt x="120027" y="143669"/>
                    <a:pt x="81927" y="152559"/>
                    <a:pt x="81927" y="152559"/>
                  </a:cubicBezTo>
                </a:path>
              </a:pathLst>
            </a:custGeom>
            <a:solidFill>
              <a:srgbClr val="FFFFFF"/>
            </a:solidFill>
            <a:ln cap="sq">
              <a:noFill/>
              <a:prstDash val="solid"/>
              <a:miter/>
            </a:ln>
          </p:spPr>
        </p:sp>
      </p:grpSp>
      <p:grpSp>
        <p:nvGrpSpPr>
          <p:cNvPr name="Group 23" id="23"/>
          <p:cNvGrpSpPr/>
          <p:nvPr/>
        </p:nvGrpSpPr>
        <p:grpSpPr>
          <a:xfrm rot="0">
            <a:off x="1780223" y="962977"/>
            <a:ext cx="184785" cy="189548"/>
            <a:chOff x="0" y="0"/>
            <a:chExt cx="246380" cy="252730"/>
          </a:xfrm>
        </p:grpSpPr>
        <p:sp>
          <p:nvSpPr>
            <p:cNvPr name="Freeform 24" id="24"/>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25" id="25"/>
          <p:cNvGrpSpPr/>
          <p:nvPr/>
        </p:nvGrpSpPr>
        <p:grpSpPr>
          <a:xfrm rot="0">
            <a:off x="1780223" y="964882"/>
            <a:ext cx="184785" cy="189548"/>
            <a:chOff x="0" y="0"/>
            <a:chExt cx="246380" cy="252730"/>
          </a:xfrm>
        </p:grpSpPr>
        <p:sp>
          <p:nvSpPr>
            <p:cNvPr name="Freeform 26" id="26"/>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27" id="27"/>
          <p:cNvGrpSpPr/>
          <p:nvPr/>
        </p:nvGrpSpPr>
        <p:grpSpPr>
          <a:xfrm rot="0">
            <a:off x="1773555" y="963930"/>
            <a:ext cx="192405" cy="191452"/>
            <a:chOff x="0" y="0"/>
            <a:chExt cx="256540" cy="255270"/>
          </a:xfrm>
        </p:grpSpPr>
        <p:sp>
          <p:nvSpPr>
            <p:cNvPr name="Freeform 28" id="28"/>
            <p:cNvSpPr/>
            <p:nvPr/>
          </p:nvSpPr>
          <p:spPr>
            <a:xfrm flipH="false" flipV="false" rot="0">
              <a:off x="50153" y="50800"/>
              <a:ext cx="155778" cy="152400"/>
            </a:xfrm>
            <a:custGeom>
              <a:avLst/>
              <a:gdLst/>
              <a:ahLst/>
              <a:cxnLst/>
              <a:rect r="r" b="b" t="t" l="l"/>
              <a:pathLst>
                <a:path h="152400" w="155778">
                  <a:moveTo>
                    <a:pt x="76847" y="152400"/>
                  </a:moveTo>
                  <a:cubicBezTo>
                    <a:pt x="1917" y="101600"/>
                    <a:pt x="-1893" y="67310"/>
                    <a:pt x="5727" y="48260"/>
                  </a:cubicBezTo>
                  <a:cubicBezTo>
                    <a:pt x="13347" y="27940"/>
                    <a:pt x="40017" y="6350"/>
                    <a:pt x="60337" y="1270"/>
                  </a:cubicBezTo>
                  <a:cubicBezTo>
                    <a:pt x="80657" y="-2540"/>
                    <a:pt x="113677" y="6350"/>
                    <a:pt x="128917" y="20320"/>
                  </a:cubicBezTo>
                  <a:cubicBezTo>
                    <a:pt x="144157" y="35560"/>
                    <a:pt x="155587" y="67310"/>
                    <a:pt x="151777" y="88900"/>
                  </a:cubicBezTo>
                  <a:cubicBezTo>
                    <a:pt x="149237" y="109220"/>
                    <a:pt x="127647" y="137160"/>
                    <a:pt x="108597" y="146050"/>
                  </a:cubicBezTo>
                  <a:cubicBezTo>
                    <a:pt x="89547" y="154940"/>
                    <a:pt x="55257" y="152400"/>
                    <a:pt x="37477" y="140970"/>
                  </a:cubicBezTo>
                  <a:cubicBezTo>
                    <a:pt x="19697" y="130810"/>
                    <a:pt x="3187" y="100330"/>
                    <a:pt x="647" y="80010"/>
                  </a:cubicBezTo>
                  <a:cubicBezTo>
                    <a:pt x="-1893" y="63500"/>
                    <a:pt x="3187" y="45720"/>
                    <a:pt x="13347" y="33020"/>
                  </a:cubicBezTo>
                  <a:cubicBezTo>
                    <a:pt x="26047" y="17780"/>
                    <a:pt x="55257" y="0"/>
                    <a:pt x="76847" y="0"/>
                  </a:cubicBezTo>
                  <a:cubicBezTo>
                    <a:pt x="98437" y="0"/>
                    <a:pt x="127647" y="15240"/>
                    <a:pt x="140347" y="30480"/>
                  </a:cubicBezTo>
                  <a:cubicBezTo>
                    <a:pt x="151777" y="44450"/>
                    <a:pt x="156857" y="66040"/>
                    <a:pt x="155587" y="82550"/>
                  </a:cubicBezTo>
                  <a:cubicBezTo>
                    <a:pt x="154317" y="100330"/>
                    <a:pt x="144157" y="120650"/>
                    <a:pt x="131457" y="132080"/>
                  </a:cubicBezTo>
                  <a:cubicBezTo>
                    <a:pt x="120027" y="143510"/>
                    <a:pt x="81927" y="152400"/>
                    <a:pt x="81927" y="152400"/>
                  </a:cubicBezTo>
                </a:path>
              </a:pathLst>
            </a:custGeom>
            <a:solidFill>
              <a:srgbClr val="FFFFFF"/>
            </a:solidFill>
            <a:ln cap="sq">
              <a:noFill/>
              <a:prstDash val="solid"/>
              <a:miter/>
            </a:ln>
          </p:spPr>
        </p:sp>
      </p:grpSp>
      <p:grpSp>
        <p:nvGrpSpPr>
          <p:cNvPr name="Group 29" id="29"/>
          <p:cNvGrpSpPr/>
          <p:nvPr/>
        </p:nvGrpSpPr>
        <p:grpSpPr>
          <a:xfrm rot="0">
            <a:off x="1774508" y="966788"/>
            <a:ext cx="184785" cy="189548"/>
            <a:chOff x="0" y="0"/>
            <a:chExt cx="246380" cy="252730"/>
          </a:xfrm>
        </p:grpSpPr>
        <p:sp>
          <p:nvSpPr>
            <p:cNvPr name="Freeform 30" id="30"/>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31" id="31"/>
          <p:cNvGrpSpPr/>
          <p:nvPr/>
        </p:nvGrpSpPr>
        <p:grpSpPr>
          <a:xfrm rot="0">
            <a:off x="1782127" y="980123"/>
            <a:ext cx="184785" cy="189548"/>
            <a:chOff x="0" y="0"/>
            <a:chExt cx="246380" cy="252730"/>
          </a:xfrm>
        </p:grpSpPr>
        <p:sp>
          <p:nvSpPr>
            <p:cNvPr name="Freeform 32" id="32"/>
            <p:cNvSpPr/>
            <p:nvPr/>
          </p:nvSpPr>
          <p:spPr>
            <a:xfrm flipH="false" flipV="false" rot="0">
              <a:off x="47065" y="50749"/>
              <a:ext cx="145975" cy="152154"/>
            </a:xfrm>
            <a:custGeom>
              <a:avLst/>
              <a:gdLst/>
              <a:ahLst/>
              <a:cxnLst/>
              <a:rect r="r" b="b" t="t" l="l"/>
              <a:pathLst>
                <a:path h="152154" w="145975">
                  <a:moveTo>
                    <a:pt x="145975" y="52121"/>
                  </a:moveTo>
                  <a:cubicBezTo>
                    <a:pt x="143435" y="106731"/>
                    <a:pt x="120575" y="134671"/>
                    <a:pt x="105335" y="144831"/>
                  </a:cubicBezTo>
                  <a:cubicBezTo>
                    <a:pt x="93905" y="151181"/>
                    <a:pt x="82475" y="153721"/>
                    <a:pt x="68505" y="151181"/>
                  </a:cubicBezTo>
                  <a:cubicBezTo>
                    <a:pt x="50725" y="147371"/>
                    <a:pt x="18975" y="132131"/>
                    <a:pt x="8815" y="114351"/>
                  </a:cubicBezTo>
                  <a:cubicBezTo>
                    <a:pt x="-2615" y="96571"/>
                    <a:pt x="-1345" y="61011"/>
                    <a:pt x="3735" y="43231"/>
                  </a:cubicBezTo>
                  <a:cubicBezTo>
                    <a:pt x="7545" y="30531"/>
                    <a:pt x="17705" y="21641"/>
                    <a:pt x="26595" y="15291"/>
                  </a:cubicBezTo>
                  <a:cubicBezTo>
                    <a:pt x="35485" y="7671"/>
                    <a:pt x="46915" y="1321"/>
                    <a:pt x="59615" y="51"/>
                  </a:cubicBezTo>
                  <a:cubicBezTo>
                    <a:pt x="78665" y="-1219"/>
                    <a:pt x="126925" y="21641"/>
                    <a:pt x="126925" y="21641"/>
                  </a:cubicBezTo>
                </a:path>
              </a:pathLst>
            </a:custGeom>
            <a:solidFill>
              <a:srgbClr val="FFFFFF"/>
            </a:solidFill>
            <a:ln cap="sq">
              <a:noFill/>
              <a:prstDash val="solid"/>
              <a:miter/>
            </a:ln>
          </p:spPr>
        </p:sp>
      </p:grpSp>
      <p:grpSp>
        <p:nvGrpSpPr>
          <p:cNvPr name="Group 33" id="33"/>
          <p:cNvGrpSpPr/>
          <p:nvPr/>
        </p:nvGrpSpPr>
        <p:grpSpPr>
          <a:xfrm rot="0">
            <a:off x="1775460" y="937260"/>
            <a:ext cx="205740" cy="231458"/>
            <a:chOff x="0" y="0"/>
            <a:chExt cx="274320" cy="308610"/>
          </a:xfrm>
        </p:grpSpPr>
        <p:sp>
          <p:nvSpPr>
            <p:cNvPr name="Freeform 34" id="34"/>
            <p:cNvSpPr/>
            <p:nvPr/>
          </p:nvSpPr>
          <p:spPr>
            <a:xfrm flipH="false" flipV="false" rot="0">
              <a:off x="49827" y="50310"/>
              <a:ext cx="174780" cy="206298"/>
            </a:xfrm>
            <a:custGeom>
              <a:avLst/>
              <a:gdLst/>
              <a:ahLst/>
              <a:cxnLst/>
              <a:rect r="r" b="b" t="t" l="l"/>
              <a:pathLst>
                <a:path h="206298" w="174780">
                  <a:moveTo>
                    <a:pt x="22563" y="62720"/>
                  </a:moveTo>
                  <a:cubicBezTo>
                    <a:pt x="45423" y="51290"/>
                    <a:pt x="41613" y="123680"/>
                    <a:pt x="61933" y="137650"/>
                  </a:cubicBezTo>
                  <a:cubicBezTo>
                    <a:pt x="84793" y="152890"/>
                    <a:pt x="159723" y="114790"/>
                    <a:pt x="168613" y="127490"/>
                  </a:cubicBezTo>
                  <a:cubicBezTo>
                    <a:pt x="176233" y="136380"/>
                    <a:pt x="164803" y="163050"/>
                    <a:pt x="153373" y="175750"/>
                  </a:cubicBezTo>
                  <a:cubicBezTo>
                    <a:pt x="139403" y="190990"/>
                    <a:pt x="107653" y="207500"/>
                    <a:pt x="86063" y="206230"/>
                  </a:cubicBezTo>
                  <a:cubicBezTo>
                    <a:pt x="63203" y="204960"/>
                    <a:pt x="32723" y="187180"/>
                    <a:pt x="21293" y="168130"/>
                  </a:cubicBezTo>
                  <a:cubicBezTo>
                    <a:pt x="11133" y="149080"/>
                    <a:pt x="8593" y="113520"/>
                    <a:pt x="17483" y="94470"/>
                  </a:cubicBezTo>
                  <a:cubicBezTo>
                    <a:pt x="27643" y="74150"/>
                    <a:pt x="55583" y="52560"/>
                    <a:pt x="77173" y="48750"/>
                  </a:cubicBezTo>
                  <a:cubicBezTo>
                    <a:pt x="98763" y="46210"/>
                    <a:pt x="133053" y="57640"/>
                    <a:pt x="147023" y="72880"/>
                  </a:cubicBezTo>
                  <a:cubicBezTo>
                    <a:pt x="162263" y="89390"/>
                    <a:pt x="169883" y="123680"/>
                    <a:pt x="167343" y="144000"/>
                  </a:cubicBezTo>
                  <a:cubicBezTo>
                    <a:pt x="164803" y="161780"/>
                    <a:pt x="154643" y="178290"/>
                    <a:pt x="140673" y="188450"/>
                  </a:cubicBezTo>
                  <a:cubicBezTo>
                    <a:pt x="124163" y="199880"/>
                    <a:pt x="88603" y="207500"/>
                    <a:pt x="68283" y="203690"/>
                  </a:cubicBezTo>
                  <a:cubicBezTo>
                    <a:pt x="51773" y="201150"/>
                    <a:pt x="36533" y="188450"/>
                    <a:pt x="26373" y="175750"/>
                  </a:cubicBezTo>
                  <a:cubicBezTo>
                    <a:pt x="17483" y="163050"/>
                    <a:pt x="11133" y="146540"/>
                    <a:pt x="11133" y="127490"/>
                  </a:cubicBezTo>
                  <a:cubicBezTo>
                    <a:pt x="8593" y="102090"/>
                    <a:pt x="11133" y="57640"/>
                    <a:pt x="28913" y="36050"/>
                  </a:cubicBezTo>
                  <a:cubicBezTo>
                    <a:pt x="45423" y="15730"/>
                    <a:pt x="87333" y="-3320"/>
                    <a:pt x="111463" y="490"/>
                  </a:cubicBezTo>
                  <a:cubicBezTo>
                    <a:pt x="134323" y="4300"/>
                    <a:pt x="164803" y="28430"/>
                    <a:pt x="172423" y="51290"/>
                  </a:cubicBezTo>
                  <a:cubicBezTo>
                    <a:pt x="181313" y="77960"/>
                    <a:pt x="163533" y="135110"/>
                    <a:pt x="144483" y="159240"/>
                  </a:cubicBezTo>
                  <a:cubicBezTo>
                    <a:pt x="130513" y="178290"/>
                    <a:pt x="100033" y="190990"/>
                    <a:pt x="82253" y="193530"/>
                  </a:cubicBezTo>
                  <a:cubicBezTo>
                    <a:pt x="68283" y="196070"/>
                    <a:pt x="56853" y="193530"/>
                    <a:pt x="45423" y="187180"/>
                  </a:cubicBezTo>
                  <a:cubicBezTo>
                    <a:pt x="31453" y="179560"/>
                    <a:pt x="14943" y="163050"/>
                    <a:pt x="7323" y="149080"/>
                  </a:cubicBezTo>
                  <a:cubicBezTo>
                    <a:pt x="973" y="137650"/>
                    <a:pt x="-1567" y="124950"/>
                    <a:pt x="973" y="112250"/>
                  </a:cubicBezTo>
                  <a:cubicBezTo>
                    <a:pt x="2243" y="97010"/>
                    <a:pt x="22563" y="62720"/>
                    <a:pt x="22563" y="62720"/>
                  </a:cubicBezTo>
                </a:path>
              </a:pathLst>
            </a:custGeom>
            <a:solidFill>
              <a:srgbClr val="FFFFFF"/>
            </a:solidFill>
            <a:ln cap="sq">
              <a:noFill/>
              <a:prstDash val="solid"/>
              <a:miter/>
            </a:ln>
          </p:spPr>
        </p:sp>
      </p:grpSp>
      <p:grpSp>
        <p:nvGrpSpPr>
          <p:cNvPr name="Group 35" id="35"/>
          <p:cNvGrpSpPr/>
          <p:nvPr/>
        </p:nvGrpSpPr>
        <p:grpSpPr>
          <a:xfrm rot="0">
            <a:off x="1904048" y="909638"/>
            <a:ext cx="277178" cy="285750"/>
            <a:chOff x="0" y="0"/>
            <a:chExt cx="369570" cy="381000"/>
          </a:xfrm>
        </p:grpSpPr>
        <p:sp>
          <p:nvSpPr>
            <p:cNvPr name="Freeform 36" id="36"/>
            <p:cNvSpPr/>
            <p:nvPr/>
          </p:nvSpPr>
          <p:spPr>
            <a:xfrm flipH="false" flipV="false" rot="0">
              <a:off x="47943" y="50800"/>
              <a:ext cx="271304" cy="283229"/>
            </a:xfrm>
            <a:custGeom>
              <a:avLst/>
              <a:gdLst/>
              <a:ahLst/>
              <a:cxnLst/>
              <a:rect r="r" b="b" t="t" l="l"/>
              <a:pathLst>
                <a:path h="283229" w="271304">
                  <a:moveTo>
                    <a:pt x="73977" y="208280"/>
                  </a:moveTo>
                  <a:cubicBezTo>
                    <a:pt x="60007" y="83820"/>
                    <a:pt x="85407" y="55880"/>
                    <a:pt x="110807" y="48260"/>
                  </a:cubicBezTo>
                  <a:cubicBezTo>
                    <a:pt x="138747" y="40640"/>
                    <a:pt x="189547" y="54610"/>
                    <a:pt x="213677" y="72390"/>
                  </a:cubicBezTo>
                  <a:cubicBezTo>
                    <a:pt x="235267" y="90170"/>
                    <a:pt x="250507" y="120650"/>
                    <a:pt x="253047" y="147320"/>
                  </a:cubicBezTo>
                  <a:cubicBezTo>
                    <a:pt x="256857" y="175260"/>
                    <a:pt x="247967" y="215900"/>
                    <a:pt x="231457" y="238760"/>
                  </a:cubicBezTo>
                  <a:cubicBezTo>
                    <a:pt x="216217" y="259080"/>
                    <a:pt x="188277" y="273050"/>
                    <a:pt x="162877" y="278130"/>
                  </a:cubicBezTo>
                  <a:cubicBezTo>
                    <a:pt x="134937" y="285750"/>
                    <a:pt x="93027" y="285750"/>
                    <a:pt x="67627" y="271780"/>
                  </a:cubicBezTo>
                  <a:cubicBezTo>
                    <a:pt x="40957" y="257810"/>
                    <a:pt x="14287" y="222250"/>
                    <a:pt x="6667" y="194310"/>
                  </a:cubicBezTo>
                  <a:cubicBezTo>
                    <a:pt x="-953" y="168910"/>
                    <a:pt x="1587" y="134620"/>
                    <a:pt x="13017" y="113030"/>
                  </a:cubicBezTo>
                  <a:cubicBezTo>
                    <a:pt x="25717" y="90170"/>
                    <a:pt x="56197" y="72390"/>
                    <a:pt x="81597" y="60960"/>
                  </a:cubicBezTo>
                  <a:cubicBezTo>
                    <a:pt x="104457" y="50800"/>
                    <a:pt x="132397" y="44450"/>
                    <a:pt x="156527" y="45720"/>
                  </a:cubicBezTo>
                  <a:cubicBezTo>
                    <a:pt x="183197" y="48260"/>
                    <a:pt x="214947" y="55880"/>
                    <a:pt x="233997" y="72390"/>
                  </a:cubicBezTo>
                  <a:cubicBezTo>
                    <a:pt x="251777" y="88900"/>
                    <a:pt x="265747" y="121920"/>
                    <a:pt x="269557" y="144780"/>
                  </a:cubicBezTo>
                  <a:cubicBezTo>
                    <a:pt x="272097" y="161290"/>
                    <a:pt x="268287" y="179070"/>
                    <a:pt x="261937" y="193040"/>
                  </a:cubicBezTo>
                  <a:cubicBezTo>
                    <a:pt x="255587" y="205740"/>
                    <a:pt x="247967" y="217170"/>
                    <a:pt x="235267" y="224790"/>
                  </a:cubicBezTo>
                  <a:cubicBezTo>
                    <a:pt x="221297" y="234950"/>
                    <a:pt x="194627" y="242570"/>
                    <a:pt x="178117" y="242570"/>
                  </a:cubicBezTo>
                  <a:cubicBezTo>
                    <a:pt x="162877" y="241300"/>
                    <a:pt x="150177" y="236220"/>
                    <a:pt x="138747" y="228600"/>
                  </a:cubicBezTo>
                  <a:cubicBezTo>
                    <a:pt x="127317" y="222250"/>
                    <a:pt x="117157" y="210820"/>
                    <a:pt x="110807" y="199390"/>
                  </a:cubicBezTo>
                  <a:cubicBezTo>
                    <a:pt x="103187" y="187960"/>
                    <a:pt x="94297" y="165100"/>
                    <a:pt x="99377" y="160020"/>
                  </a:cubicBezTo>
                  <a:cubicBezTo>
                    <a:pt x="104457" y="153670"/>
                    <a:pt x="145097" y="165100"/>
                    <a:pt x="145097" y="167640"/>
                  </a:cubicBezTo>
                  <a:cubicBezTo>
                    <a:pt x="146367" y="172720"/>
                    <a:pt x="89217" y="193040"/>
                    <a:pt x="66357" y="187960"/>
                  </a:cubicBezTo>
                  <a:cubicBezTo>
                    <a:pt x="43497" y="181610"/>
                    <a:pt x="15557" y="152400"/>
                    <a:pt x="5397" y="132080"/>
                  </a:cubicBezTo>
                  <a:cubicBezTo>
                    <a:pt x="-2223" y="115570"/>
                    <a:pt x="-953" y="93980"/>
                    <a:pt x="4127" y="76200"/>
                  </a:cubicBezTo>
                  <a:cubicBezTo>
                    <a:pt x="10477" y="59690"/>
                    <a:pt x="21907" y="40640"/>
                    <a:pt x="37147" y="31750"/>
                  </a:cubicBezTo>
                  <a:cubicBezTo>
                    <a:pt x="57467" y="20320"/>
                    <a:pt x="95567" y="12700"/>
                    <a:pt x="118427" y="21590"/>
                  </a:cubicBezTo>
                  <a:cubicBezTo>
                    <a:pt x="141287" y="29210"/>
                    <a:pt x="166687" y="59690"/>
                    <a:pt x="173037" y="82550"/>
                  </a:cubicBezTo>
                  <a:cubicBezTo>
                    <a:pt x="178117" y="105410"/>
                    <a:pt x="169227" y="143510"/>
                    <a:pt x="152717" y="161290"/>
                  </a:cubicBezTo>
                  <a:cubicBezTo>
                    <a:pt x="136207" y="179070"/>
                    <a:pt x="99377" y="193040"/>
                    <a:pt x="75247" y="189230"/>
                  </a:cubicBezTo>
                  <a:cubicBezTo>
                    <a:pt x="51117" y="185420"/>
                    <a:pt x="20637" y="160020"/>
                    <a:pt x="9207" y="140970"/>
                  </a:cubicBezTo>
                  <a:cubicBezTo>
                    <a:pt x="317" y="124460"/>
                    <a:pt x="-953" y="102870"/>
                    <a:pt x="2857" y="86360"/>
                  </a:cubicBezTo>
                  <a:cubicBezTo>
                    <a:pt x="5397" y="68580"/>
                    <a:pt x="14287" y="50800"/>
                    <a:pt x="30797" y="36830"/>
                  </a:cubicBezTo>
                  <a:cubicBezTo>
                    <a:pt x="51117" y="19050"/>
                    <a:pt x="98107" y="1270"/>
                    <a:pt x="129857" y="0"/>
                  </a:cubicBezTo>
                  <a:cubicBezTo>
                    <a:pt x="155257" y="0"/>
                    <a:pt x="180657" y="10160"/>
                    <a:pt x="202247" y="22860"/>
                  </a:cubicBezTo>
                  <a:cubicBezTo>
                    <a:pt x="223837" y="35560"/>
                    <a:pt x="246697" y="54610"/>
                    <a:pt x="258127" y="77470"/>
                  </a:cubicBezTo>
                  <a:cubicBezTo>
                    <a:pt x="270827" y="104140"/>
                    <a:pt x="274637" y="147320"/>
                    <a:pt x="268287" y="173990"/>
                  </a:cubicBezTo>
                  <a:cubicBezTo>
                    <a:pt x="263207" y="194310"/>
                    <a:pt x="249237" y="213360"/>
                    <a:pt x="235267" y="224790"/>
                  </a:cubicBezTo>
                  <a:cubicBezTo>
                    <a:pt x="225107" y="234950"/>
                    <a:pt x="211137" y="238760"/>
                    <a:pt x="198437" y="241300"/>
                  </a:cubicBezTo>
                  <a:cubicBezTo>
                    <a:pt x="184467" y="243840"/>
                    <a:pt x="170497" y="242570"/>
                    <a:pt x="157797" y="237490"/>
                  </a:cubicBezTo>
                  <a:cubicBezTo>
                    <a:pt x="145097" y="233680"/>
                    <a:pt x="132397" y="226060"/>
                    <a:pt x="122237" y="215900"/>
                  </a:cubicBezTo>
                  <a:cubicBezTo>
                    <a:pt x="113347" y="207010"/>
                    <a:pt x="105727" y="190500"/>
                    <a:pt x="101917" y="180340"/>
                  </a:cubicBezTo>
                  <a:cubicBezTo>
                    <a:pt x="99377" y="172720"/>
                    <a:pt x="95567" y="162560"/>
                    <a:pt x="99377" y="160020"/>
                  </a:cubicBezTo>
                  <a:cubicBezTo>
                    <a:pt x="104457" y="156210"/>
                    <a:pt x="157797" y="196850"/>
                    <a:pt x="160337" y="193040"/>
                  </a:cubicBezTo>
                  <a:cubicBezTo>
                    <a:pt x="162877" y="189230"/>
                    <a:pt x="108267" y="133350"/>
                    <a:pt x="106997" y="134620"/>
                  </a:cubicBezTo>
                  <a:cubicBezTo>
                    <a:pt x="105727" y="134620"/>
                    <a:pt x="138747" y="199390"/>
                    <a:pt x="153987" y="199390"/>
                  </a:cubicBezTo>
                  <a:cubicBezTo>
                    <a:pt x="169227" y="198120"/>
                    <a:pt x="188277" y="114300"/>
                    <a:pt x="199707" y="115570"/>
                  </a:cubicBezTo>
                  <a:cubicBezTo>
                    <a:pt x="208597" y="116840"/>
                    <a:pt x="220027" y="168910"/>
                    <a:pt x="216217" y="189230"/>
                  </a:cubicBezTo>
                  <a:cubicBezTo>
                    <a:pt x="212407" y="207010"/>
                    <a:pt x="200977" y="224790"/>
                    <a:pt x="185737" y="234950"/>
                  </a:cubicBezTo>
                  <a:cubicBezTo>
                    <a:pt x="167957" y="245110"/>
                    <a:pt x="133667" y="250190"/>
                    <a:pt x="114617" y="243840"/>
                  </a:cubicBezTo>
                  <a:cubicBezTo>
                    <a:pt x="98107" y="238760"/>
                    <a:pt x="73977" y="208280"/>
                    <a:pt x="73977" y="208280"/>
                  </a:cubicBezTo>
                </a:path>
              </a:pathLst>
            </a:custGeom>
            <a:solidFill>
              <a:srgbClr val="FFFFFF"/>
            </a:solidFill>
            <a:ln cap="sq">
              <a:noFill/>
              <a:prstDash val="solid"/>
              <a:miter/>
            </a:ln>
          </p:spPr>
        </p:sp>
      </p:grpSp>
      <p:grpSp>
        <p:nvGrpSpPr>
          <p:cNvPr name="Group 37" id="37"/>
          <p:cNvGrpSpPr/>
          <p:nvPr/>
        </p:nvGrpSpPr>
        <p:grpSpPr>
          <a:xfrm rot="0">
            <a:off x="1776412" y="913448"/>
            <a:ext cx="343853" cy="274320"/>
            <a:chOff x="0" y="0"/>
            <a:chExt cx="458470" cy="365760"/>
          </a:xfrm>
        </p:grpSpPr>
        <p:sp>
          <p:nvSpPr>
            <p:cNvPr name="Freeform 38" id="38"/>
            <p:cNvSpPr/>
            <p:nvPr/>
          </p:nvSpPr>
          <p:spPr>
            <a:xfrm flipH="false" flipV="false" rot="0">
              <a:off x="42836" y="50713"/>
              <a:ext cx="368567" cy="264427"/>
            </a:xfrm>
            <a:custGeom>
              <a:avLst/>
              <a:gdLst/>
              <a:ahLst/>
              <a:cxnLst/>
              <a:rect r="r" b="b" t="t" l="l"/>
              <a:pathLst>
                <a:path h="264427" w="368567">
                  <a:moveTo>
                    <a:pt x="281014" y="262977"/>
                  </a:moveTo>
                  <a:cubicBezTo>
                    <a:pt x="142584" y="217257"/>
                    <a:pt x="109564" y="186777"/>
                    <a:pt x="112104" y="166457"/>
                  </a:cubicBezTo>
                  <a:cubicBezTo>
                    <a:pt x="114644" y="144867"/>
                    <a:pt x="179414" y="105497"/>
                    <a:pt x="183224" y="109307"/>
                  </a:cubicBezTo>
                  <a:cubicBezTo>
                    <a:pt x="187034" y="111847"/>
                    <a:pt x="146394" y="179157"/>
                    <a:pt x="138774" y="176617"/>
                  </a:cubicBezTo>
                  <a:cubicBezTo>
                    <a:pt x="132424" y="175347"/>
                    <a:pt x="131154" y="114387"/>
                    <a:pt x="134964" y="113117"/>
                  </a:cubicBezTo>
                  <a:cubicBezTo>
                    <a:pt x="140044" y="111847"/>
                    <a:pt x="169254" y="162647"/>
                    <a:pt x="166714" y="185507"/>
                  </a:cubicBezTo>
                  <a:cubicBezTo>
                    <a:pt x="165444" y="208367"/>
                    <a:pt x="142584" y="240117"/>
                    <a:pt x="124804" y="252817"/>
                  </a:cubicBezTo>
                  <a:cubicBezTo>
                    <a:pt x="109564" y="262977"/>
                    <a:pt x="89244" y="266787"/>
                    <a:pt x="71464" y="262977"/>
                  </a:cubicBezTo>
                  <a:cubicBezTo>
                    <a:pt x="49874" y="257897"/>
                    <a:pt x="18124" y="237577"/>
                    <a:pt x="7964" y="217257"/>
                  </a:cubicBezTo>
                  <a:cubicBezTo>
                    <a:pt x="-3466" y="195667"/>
                    <a:pt x="-2196" y="157567"/>
                    <a:pt x="9234" y="137247"/>
                  </a:cubicBezTo>
                  <a:cubicBezTo>
                    <a:pt x="20664" y="116927"/>
                    <a:pt x="53684" y="99147"/>
                    <a:pt x="75274" y="95337"/>
                  </a:cubicBezTo>
                  <a:cubicBezTo>
                    <a:pt x="93054" y="91527"/>
                    <a:pt x="113374" y="99147"/>
                    <a:pt x="128614" y="108037"/>
                  </a:cubicBezTo>
                  <a:cubicBezTo>
                    <a:pt x="142584" y="116927"/>
                    <a:pt x="156554" y="132167"/>
                    <a:pt x="161634" y="149947"/>
                  </a:cubicBezTo>
                  <a:cubicBezTo>
                    <a:pt x="167984" y="170267"/>
                    <a:pt x="165444" y="209637"/>
                    <a:pt x="151474" y="228687"/>
                  </a:cubicBezTo>
                  <a:cubicBezTo>
                    <a:pt x="137504" y="247737"/>
                    <a:pt x="103214" y="261707"/>
                    <a:pt x="80354" y="262977"/>
                  </a:cubicBezTo>
                  <a:cubicBezTo>
                    <a:pt x="62574" y="264247"/>
                    <a:pt x="42254" y="260437"/>
                    <a:pt x="30824" y="245197"/>
                  </a:cubicBezTo>
                  <a:cubicBezTo>
                    <a:pt x="10504" y="219797"/>
                    <a:pt x="-926" y="134707"/>
                    <a:pt x="9234" y="95337"/>
                  </a:cubicBezTo>
                  <a:cubicBezTo>
                    <a:pt x="16854" y="67397"/>
                    <a:pt x="35904" y="44537"/>
                    <a:pt x="57494" y="29297"/>
                  </a:cubicBezTo>
                  <a:cubicBezTo>
                    <a:pt x="82894" y="11517"/>
                    <a:pt x="124804" y="-1183"/>
                    <a:pt x="155284" y="87"/>
                  </a:cubicBezTo>
                  <a:cubicBezTo>
                    <a:pt x="180684" y="2627"/>
                    <a:pt x="206084" y="16597"/>
                    <a:pt x="225134" y="33107"/>
                  </a:cubicBezTo>
                  <a:cubicBezTo>
                    <a:pt x="245454" y="50887"/>
                    <a:pt x="253074" y="90257"/>
                    <a:pt x="272124" y="104227"/>
                  </a:cubicBezTo>
                  <a:cubicBezTo>
                    <a:pt x="287364" y="114387"/>
                    <a:pt x="308954" y="106767"/>
                    <a:pt x="324194" y="115657"/>
                  </a:cubicBezTo>
                  <a:cubicBezTo>
                    <a:pt x="339434" y="123277"/>
                    <a:pt x="357214" y="137247"/>
                    <a:pt x="363564" y="153757"/>
                  </a:cubicBezTo>
                  <a:cubicBezTo>
                    <a:pt x="371184" y="172807"/>
                    <a:pt x="369914" y="207097"/>
                    <a:pt x="361024" y="226147"/>
                  </a:cubicBezTo>
                  <a:cubicBezTo>
                    <a:pt x="352134" y="241387"/>
                    <a:pt x="333084" y="254087"/>
                    <a:pt x="317844" y="260437"/>
                  </a:cubicBezTo>
                  <a:cubicBezTo>
                    <a:pt x="306414" y="265517"/>
                    <a:pt x="281014" y="262977"/>
                    <a:pt x="281014" y="262977"/>
                  </a:cubicBezTo>
                </a:path>
              </a:pathLst>
            </a:custGeom>
            <a:solidFill>
              <a:srgbClr val="FFFFFF"/>
            </a:solidFill>
            <a:ln cap="sq">
              <a:noFill/>
              <a:prstDash val="solid"/>
              <a:miter/>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701071" y="2947663"/>
            <a:ext cx="1567650" cy="1225617"/>
          </a:xfrm>
          <a:custGeom>
            <a:avLst/>
            <a:gdLst/>
            <a:ahLst/>
            <a:cxnLst/>
            <a:rect r="r" b="b" t="t" l="l"/>
            <a:pathLst>
              <a:path h="1225617" w="1567650">
                <a:moveTo>
                  <a:pt x="0" y="0"/>
                </a:moveTo>
                <a:lnTo>
                  <a:pt x="1567650" y="0"/>
                </a:lnTo>
                <a:lnTo>
                  <a:pt x="1567650" y="1225617"/>
                </a:lnTo>
                <a:lnTo>
                  <a:pt x="0" y="12256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05886" y="3162904"/>
            <a:ext cx="14276229" cy="4621531"/>
          </a:xfrm>
          <a:prstGeom prst="rect">
            <a:avLst/>
          </a:prstGeom>
        </p:spPr>
        <p:txBody>
          <a:bodyPr anchor="t" rtlCol="false" tIns="0" lIns="0" bIns="0" rIns="0">
            <a:spAutoFit/>
          </a:bodyPr>
          <a:lstStyle/>
          <a:p>
            <a:pPr algn="ctr">
              <a:lnSpc>
                <a:spcPts val="9299"/>
              </a:lnSpc>
            </a:pPr>
            <a:r>
              <a:rPr lang="en-US" b="true" sz="6199">
                <a:solidFill>
                  <a:srgbClr val="006241"/>
                </a:solidFill>
                <a:latin typeface="Montserrat Bold"/>
                <a:ea typeface="Montserrat Bold"/>
                <a:cs typeface="Montserrat Bold"/>
                <a:sym typeface="Montserrat Bold"/>
              </a:rPr>
              <a:t>Our current program has a one-size-fits-all approach, regardless of whether you transact once a year or once a day.</a:t>
            </a:r>
          </a:p>
        </p:txBody>
      </p:sp>
      <p:sp>
        <p:nvSpPr>
          <p:cNvPr name="TextBox 4" id="4"/>
          <p:cNvSpPr txBox="true"/>
          <p:nvPr/>
        </p:nvSpPr>
        <p:spPr>
          <a:xfrm rot="0">
            <a:off x="5013424" y="8852535"/>
            <a:ext cx="8261152" cy="745490"/>
          </a:xfrm>
          <a:prstGeom prst="rect">
            <a:avLst/>
          </a:prstGeom>
        </p:spPr>
        <p:txBody>
          <a:bodyPr anchor="t" rtlCol="false" tIns="0" lIns="0" bIns="0" rIns="0">
            <a:spAutoFit/>
          </a:bodyPr>
          <a:lstStyle/>
          <a:p>
            <a:pPr algn="ctr">
              <a:lnSpc>
                <a:spcPts val="3359"/>
              </a:lnSpc>
            </a:pPr>
            <a:r>
              <a:rPr lang="en-US" sz="2400" i="true">
                <a:solidFill>
                  <a:srgbClr val="6B6B5E"/>
                </a:solidFill>
                <a:latin typeface="Inter Italics"/>
                <a:ea typeface="Inter Italics"/>
                <a:cs typeface="Inter Italics"/>
                <a:sym typeface="Inter Italics"/>
              </a:rPr>
              <a:t>Tressie Lieberman · Global Chief Brand Officer, Starbucks,</a:t>
            </a:r>
          </a:p>
          <a:p>
            <a:pPr algn="ctr">
              <a:lnSpc>
                <a:spcPts val="2660"/>
              </a:lnSpc>
              <a:spcBef>
                <a:spcPct val="0"/>
              </a:spcBef>
            </a:pPr>
            <a:r>
              <a:rPr lang="en-US" sz="1900" i="true">
                <a:solidFill>
                  <a:srgbClr val="6B6B5E"/>
                </a:solidFill>
                <a:latin typeface="Inter Italics"/>
                <a:ea typeface="Inter Italics"/>
                <a:cs typeface="Inter Italics"/>
                <a:sym typeface="Inter Italics"/>
              </a:rPr>
              <a:t> StarbucksInvestor Day · 29 January 2026</a:t>
            </a:r>
          </a:p>
        </p:txBody>
      </p:sp>
      <p:sp>
        <p:nvSpPr>
          <p:cNvPr name="TextBox 5" id="5"/>
          <p:cNvSpPr txBox="true"/>
          <p:nvPr/>
        </p:nvSpPr>
        <p:spPr>
          <a:xfrm rot="0">
            <a:off x="947901" y="942975"/>
            <a:ext cx="8312264" cy="811530"/>
          </a:xfrm>
          <a:prstGeom prst="rect">
            <a:avLst/>
          </a:prstGeom>
        </p:spPr>
        <p:txBody>
          <a:bodyPr anchor="t" rtlCol="false" tIns="0" lIns="0" bIns="0" rIns="0">
            <a:spAutoFit/>
          </a:bodyPr>
          <a:lstStyle/>
          <a:p>
            <a:pPr algn="l" marL="0" indent="0" lvl="0">
              <a:lnSpc>
                <a:spcPts val="6719"/>
              </a:lnSpc>
            </a:pPr>
            <a:r>
              <a:rPr lang="en-US" b="true" sz="4800">
                <a:solidFill>
                  <a:srgbClr val="1E3932"/>
                </a:solidFill>
                <a:latin typeface="Montserrat Bold"/>
                <a:ea typeface="Montserrat Bold"/>
                <a:cs typeface="Montserrat Bold"/>
                <a:sym typeface="Montserrat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grpSp>
        <p:nvGrpSpPr>
          <p:cNvPr name="Group 2" id="2"/>
          <p:cNvGrpSpPr/>
          <p:nvPr/>
        </p:nvGrpSpPr>
        <p:grpSpPr>
          <a:xfrm rot="0">
            <a:off x="10018002" y="3971773"/>
            <a:ext cx="7241298" cy="5286527"/>
            <a:chOff x="0" y="0"/>
            <a:chExt cx="2230826" cy="1628620"/>
          </a:xfrm>
        </p:grpSpPr>
        <p:sp>
          <p:nvSpPr>
            <p:cNvPr name="Freeform 3" id="3"/>
            <p:cNvSpPr/>
            <p:nvPr/>
          </p:nvSpPr>
          <p:spPr>
            <a:xfrm flipH="false" flipV="false" rot="0">
              <a:off x="0" y="0"/>
              <a:ext cx="2230826" cy="1628620"/>
            </a:xfrm>
            <a:custGeom>
              <a:avLst/>
              <a:gdLst/>
              <a:ahLst/>
              <a:cxnLst/>
              <a:rect r="r" b="b" t="t" l="l"/>
              <a:pathLst>
                <a:path h="1628620" w="2230826">
                  <a:moveTo>
                    <a:pt x="85531" y="0"/>
                  </a:moveTo>
                  <a:lnTo>
                    <a:pt x="2145295" y="0"/>
                  </a:lnTo>
                  <a:cubicBezTo>
                    <a:pt x="2167979" y="0"/>
                    <a:pt x="2189734" y="9011"/>
                    <a:pt x="2205774" y="25051"/>
                  </a:cubicBezTo>
                  <a:cubicBezTo>
                    <a:pt x="2221815" y="41092"/>
                    <a:pt x="2230826" y="62847"/>
                    <a:pt x="2230826" y="85531"/>
                  </a:cubicBezTo>
                  <a:lnTo>
                    <a:pt x="2230826" y="1543089"/>
                  </a:lnTo>
                  <a:cubicBezTo>
                    <a:pt x="2230826" y="1565773"/>
                    <a:pt x="2221815" y="1587528"/>
                    <a:pt x="2205774" y="1603569"/>
                  </a:cubicBezTo>
                  <a:cubicBezTo>
                    <a:pt x="2189734" y="1619609"/>
                    <a:pt x="2167979" y="1628620"/>
                    <a:pt x="2145295" y="1628620"/>
                  </a:cubicBezTo>
                  <a:lnTo>
                    <a:pt x="85531" y="1628620"/>
                  </a:lnTo>
                  <a:cubicBezTo>
                    <a:pt x="62847" y="1628620"/>
                    <a:pt x="41092" y="1619609"/>
                    <a:pt x="25051" y="1603569"/>
                  </a:cubicBezTo>
                  <a:cubicBezTo>
                    <a:pt x="9011" y="1587528"/>
                    <a:pt x="0" y="1565773"/>
                    <a:pt x="0" y="1543089"/>
                  </a:cubicBezTo>
                  <a:lnTo>
                    <a:pt x="0" y="85531"/>
                  </a:lnTo>
                  <a:cubicBezTo>
                    <a:pt x="0" y="62847"/>
                    <a:pt x="9011" y="41092"/>
                    <a:pt x="25051" y="25051"/>
                  </a:cubicBezTo>
                  <a:cubicBezTo>
                    <a:pt x="41092" y="9011"/>
                    <a:pt x="62847" y="0"/>
                    <a:pt x="85531" y="0"/>
                  </a:cubicBezTo>
                  <a:close/>
                </a:path>
              </a:pathLst>
            </a:custGeom>
            <a:solidFill>
              <a:srgbClr val="006241"/>
            </a:solidFill>
            <a:ln w="28575" cap="rnd">
              <a:solidFill>
                <a:srgbClr val="006241"/>
              </a:solidFill>
              <a:prstDash val="solid"/>
              <a:round/>
            </a:ln>
          </p:spPr>
        </p:sp>
        <p:sp>
          <p:nvSpPr>
            <p:cNvPr name="TextBox 4" id="4"/>
            <p:cNvSpPr txBox="true"/>
            <p:nvPr/>
          </p:nvSpPr>
          <p:spPr>
            <a:xfrm>
              <a:off x="0" y="0"/>
              <a:ext cx="2230826" cy="1628620"/>
            </a:xfrm>
            <a:prstGeom prst="rect">
              <a:avLst/>
            </a:prstGeom>
          </p:spPr>
          <p:txBody>
            <a:bodyPr anchor="ctr" rtlCol="false" tIns="50800" lIns="50800" bIns="50800" rIns="50800"/>
            <a:lstStyle/>
            <a:p>
              <a:pPr algn="ctr">
                <a:lnSpc>
                  <a:spcPts val="3067"/>
                </a:lnSpc>
              </a:pPr>
            </a:p>
          </p:txBody>
        </p:sp>
      </p:grpSp>
      <p:sp>
        <p:nvSpPr>
          <p:cNvPr name="TextBox 5" id="5"/>
          <p:cNvSpPr txBox="true"/>
          <p:nvPr/>
        </p:nvSpPr>
        <p:spPr>
          <a:xfrm rot="0">
            <a:off x="1028700" y="1219200"/>
            <a:ext cx="6373305" cy="539115"/>
          </a:xfrm>
          <a:prstGeom prst="rect">
            <a:avLst/>
          </a:prstGeom>
        </p:spPr>
        <p:txBody>
          <a:bodyPr anchor="t" rtlCol="false" tIns="0" lIns="0" bIns="0" rIns="0">
            <a:spAutoFit/>
          </a:bodyPr>
          <a:lstStyle/>
          <a:p>
            <a:pPr algn="l">
              <a:lnSpc>
                <a:spcPts val="3840"/>
              </a:lnSpc>
            </a:pPr>
            <a:r>
              <a:rPr lang="en-US" sz="4800" b="true">
                <a:solidFill>
                  <a:srgbClr val="1E3932"/>
                </a:solidFill>
                <a:latin typeface="Montserrat Bold"/>
                <a:ea typeface="Montserrat Bold"/>
                <a:cs typeface="Montserrat Bold"/>
                <a:sym typeface="Montserrat Bold"/>
              </a:rPr>
              <a:t>KEY OBJECTIVES</a:t>
            </a:r>
          </a:p>
        </p:txBody>
      </p:sp>
      <p:sp>
        <p:nvSpPr>
          <p:cNvPr name="TextBox 6" id="6"/>
          <p:cNvSpPr txBox="true"/>
          <p:nvPr/>
        </p:nvSpPr>
        <p:spPr>
          <a:xfrm rot="0">
            <a:off x="10617472" y="4782386"/>
            <a:ext cx="4528339" cy="1158933"/>
          </a:xfrm>
          <a:prstGeom prst="rect">
            <a:avLst/>
          </a:prstGeom>
        </p:spPr>
        <p:txBody>
          <a:bodyPr anchor="t" rtlCol="false" tIns="0" lIns="0" bIns="0" rIns="0">
            <a:spAutoFit/>
          </a:bodyPr>
          <a:lstStyle/>
          <a:p>
            <a:pPr algn="l">
              <a:lnSpc>
                <a:spcPts val="9402"/>
              </a:lnSpc>
            </a:pPr>
            <a:r>
              <a:rPr lang="en-US" sz="7232" b="true">
                <a:solidFill>
                  <a:srgbClr val="C8A14B"/>
                </a:solidFill>
                <a:latin typeface="Montserrat Bold"/>
                <a:ea typeface="Montserrat Bold"/>
                <a:cs typeface="Montserrat Bold"/>
                <a:sym typeface="Montserrat Bold"/>
              </a:rPr>
              <a:t>+$50M</a:t>
            </a:r>
          </a:p>
        </p:txBody>
      </p:sp>
      <p:sp>
        <p:nvSpPr>
          <p:cNvPr name="TextBox 7" id="7"/>
          <p:cNvSpPr txBox="true"/>
          <p:nvPr/>
        </p:nvSpPr>
        <p:spPr>
          <a:xfrm rot="0">
            <a:off x="10617472" y="6992552"/>
            <a:ext cx="5388300" cy="1573317"/>
          </a:xfrm>
          <a:prstGeom prst="rect">
            <a:avLst/>
          </a:prstGeom>
        </p:spPr>
        <p:txBody>
          <a:bodyPr anchor="t" rtlCol="false" tIns="0" lIns="0" bIns="0" rIns="0">
            <a:spAutoFit/>
          </a:bodyPr>
          <a:lstStyle/>
          <a:p>
            <a:pPr algn="l">
              <a:lnSpc>
                <a:spcPts val="3194"/>
              </a:lnSpc>
            </a:pPr>
            <a:r>
              <a:rPr lang="en-US" sz="2281">
                <a:solidFill>
                  <a:srgbClr val="F2F0EB"/>
                </a:solidFill>
                <a:latin typeface="Inter"/>
                <a:ea typeface="Inter"/>
                <a:cs typeface="Inter"/>
                <a:sym typeface="Inter"/>
              </a:rPr>
              <a:t>“If half of active rewards members transact one more time each year, it would deliver an extra $50 million in revenue.”</a:t>
            </a:r>
          </a:p>
        </p:txBody>
      </p:sp>
      <p:sp>
        <p:nvSpPr>
          <p:cNvPr name="TextBox 8" id="8"/>
          <p:cNvSpPr txBox="true"/>
          <p:nvPr/>
        </p:nvSpPr>
        <p:spPr>
          <a:xfrm rot="0">
            <a:off x="1028700" y="1996046"/>
            <a:ext cx="16230600" cy="1671320"/>
          </a:xfrm>
          <a:prstGeom prst="rect">
            <a:avLst/>
          </a:prstGeom>
        </p:spPr>
        <p:txBody>
          <a:bodyPr anchor="t" rtlCol="false" tIns="0" lIns="0" bIns="0" rIns="0">
            <a:spAutoFit/>
          </a:bodyPr>
          <a:lstStyle/>
          <a:p>
            <a:pPr algn="l">
              <a:lnSpc>
                <a:spcPts val="4479"/>
              </a:lnSpc>
            </a:pPr>
            <a:r>
              <a:rPr lang="en-US" sz="3199" i="true">
                <a:solidFill>
                  <a:srgbClr val="27251F"/>
                </a:solidFill>
                <a:latin typeface="Inter Italics"/>
                <a:ea typeface="Inter Italics"/>
                <a:cs typeface="Inter Italics"/>
                <a:sym typeface="Inter Italics"/>
              </a:rPr>
              <a:t>Tiers personalise the rewards. The next layer personalises the relationship, so each member, not each tier, gets the offer, the cadence, and the channel calibrated to who they actually are. </a:t>
            </a:r>
          </a:p>
        </p:txBody>
      </p:sp>
      <p:sp>
        <p:nvSpPr>
          <p:cNvPr name="TextBox 9" id="9"/>
          <p:cNvSpPr txBox="true"/>
          <p:nvPr/>
        </p:nvSpPr>
        <p:spPr>
          <a:xfrm rot="0">
            <a:off x="10617472" y="5970722"/>
            <a:ext cx="6050180" cy="644315"/>
          </a:xfrm>
          <a:prstGeom prst="rect">
            <a:avLst/>
          </a:prstGeom>
        </p:spPr>
        <p:txBody>
          <a:bodyPr anchor="t" rtlCol="false" tIns="0" lIns="0" bIns="0" rIns="0">
            <a:spAutoFit/>
          </a:bodyPr>
          <a:lstStyle/>
          <a:p>
            <a:pPr algn="l">
              <a:lnSpc>
                <a:spcPts val="5289"/>
              </a:lnSpc>
            </a:pPr>
            <a:r>
              <a:rPr lang="en-US" sz="4068" b="true">
                <a:solidFill>
                  <a:srgbClr val="C8A14B"/>
                </a:solidFill>
                <a:latin typeface="Montserrat Bold"/>
                <a:ea typeface="Montserrat Bold"/>
                <a:cs typeface="Montserrat Bold"/>
                <a:sym typeface="Montserrat Bold"/>
              </a:rPr>
              <a:t>revenue / per year</a:t>
            </a:r>
          </a:p>
        </p:txBody>
      </p:sp>
      <p:sp>
        <p:nvSpPr>
          <p:cNvPr name="Freeform 10" id="10"/>
          <p:cNvSpPr/>
          <p:nvPr/>
        </p:nvSpPr>
        <p:spPr>
          <a:xfrm flipH="false" flipV="false" rot="0">
            <a:off x="3309925" y="4581373"/>
            <a:ext cx="4092080" cy="4875133"/>
          </a:xfrm>
          <a:custGeom>
            <a:avLst/>
            <a:gdLst/>
            <a:ahLst/>
            <a:cxnLst/>
            <a:rect r="r" b="b" t="t" l="l"/>
            <a:pathLst>
              <a:path h="4875133" w="4092080">
                <a:moveTo>
                  <a:pt x="0" y="0"/>
                </a:moveTo>
                <a:lnTo>
                  <a:pt x="4092080" y="0"/>
                </a:lnTo>
                <a:lnTo>
                  <a:pt x="4092080" y="4875132"/>
                </a:lnTo>
                <a:lnTo>
                  <a:pt x="0" y="4875132"/>
                </a:lnTo>
                <a:lnTo>
                  <a:pt x="0" y="0"/>
                </a:lnTo>
                <a:close/>
              </a:path>
            </a:pathLst>
          </a:custGeom>
          <a:blipFill>
            <a:blip r:embed="rId2"/>
            <a:stretch>
              <a:fillRect l="-22847" t="-10184" r="-25601" b="-1442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6695561" y="2420728"/>
            <a:ext cx="453170" cy="610330"/>
          </a:xfrm>
          <a:custGeom>
            <a:avLst/>
            <a:gdLst/>
            <a:ahLst/>
            <a:cxnLst/>
            <a:rect r="r" b="b" t="t" l="l"/>
            <a:pathLst>
              <a:path h="610330" w="453170">
                <a:moveTo>
                  <a:pt x="0" y="0"/>
                </a:moveTo>
                <a:lnTo>
                  <a:pt x="453170" y="0"/>
                </a:lnTo>
                <a:lnTo>
                  <a:pt x="453170" y="610330"/>
                </a:lnTo>
                <a:lnTo>
                  <a:pt x="0" y="610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95561" y="5143500"/>
            <a:ext cx="453170" cy="567349"/>
          </a:xfrm>
          <a:custGeom>
            <a:avLst/>
            <a:gdLst/>
            <a:ahLst/>
            <a:cxnLst/>
            <a:rect r="r" b="b" t="t" l="l"/>
            <a:pathLst>
              <a:path h="567349" w="453170">
                <a:moveTo>
                  <a:pt x="0" y="0"/>
                </a:moveTo>
                <a:lnTo>
                  <a:pt x="453170" y="0"/>
                </a:lnTo>
                <a:lnTo>
                  <a:pt x="453170" y="567349"/>
                </a:lnTo>
                <a:lnTo>
                  <a:pt x="0" y="567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695561" y="7865224"/>
            <a:ext cx="614942" cy="610330"/>
          </a:xfrm>
          <a:custGeom>
            <a:avLst/>
            <a:gdLst/>
            <a:ahLst/>
            <a:cxnLst/>
            <a:rect r="r" b="b" t="t" l="l"/>
            <a:pathLst>
              <a:path h="610330" w="614942">
                <a:moveTo>
                  <a:pt x="0" y="0"/>
                </a:moveTo>
                <a:lnTo>
                  <a:pt x="614942" y="0"/>
                </a:lnTo>
                <a:lnTo>
                  <a:pt x="614942" y="610331"/>
                </a:lnTo>
                <a:lnTo>
                  <a:pt x="0" y="6103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8700" y="2725893"/>
            <a:ext cx="4862516" cy="6532407"/>
          </a:xfrm>
          <a:custGeom>
            <a:avLst/>
            <a:gdLst/>
            <a:ahLst/>
            <a:cxnLst/>
            <a:rect r="r" b="b" t="t" l="l"/>
            <a:pathLst>
              <a:path h="6532407" w="4862516">
                <a:moveTo>
                  <a:pt x="0" y="0"/>
                </a:moveTo>
                <a:lnTo>
                  <a:pt x="4862516" y="0"/>
                </a:lnTo>
                <a:lnTo>
                  <a:pt x="4862516" y="6532407"/>
                </a:lnTo>
                <a:lnTo>
                  <a:pt x="0" y="6532407"/>
                </a:lnTo>
                <a:lnTo>
                  <a:pt x="0" y="0"/>
                </a:lnTo>
                <a:close/>
              </a:path>
            </a:pathLst>
          </a:custGeom>
          <a:blipFill>
            <a:blip r:embed="rId8"/>
            <a:stretch>
              <a:fillRect l="0" t="-5862" r="0" b="-5862"/>
            </a:stretch>
          </a:blipFill>
        </p:spPr>
      </p:sp>
      <p:sp>
        <p:nvSpPr>
          <p:cNvPr name="TextBox 6" id="6"/>
          <p:cNvSpPr txBox="true"/>
          <p:nvPr/>
        </p:nvSpPr>
        <p:spPr>
          <a:xfrm rot="0">
            <a:off x="1028700" y="942975"/>
            <a:ext cx="15579169" cy="811530"/>
          </a:xfrm>
          <a:prstGeom prst="rect">
            <a:avLst/>
          </a:prstGeom>
        </p:spPr>
        <p:txBody>
          <a:bodyPr anchor="t" rtlCol="false" tIns="0" lIns="0" bIns="0" rIns="0">
            <a:spAutoFit/>
          </a:bodyPr>
          <a:lstStyle/>
          <a:p>
            <a:pPr algn="l" marL="0" indent="0" lvl="0">
              <a:lnSpc>
                <a:spcPts val="6719"/>
              </a:lnSpc>
            </a:pPr>
            <a:r>
              <a:rPr lang="en-US" b="true" sz="4800">
                <a:solidFill>
                  <a:srgbClr val="1E3932"/>
                </a:solidFill>
                <a:latin typeface="Montserrat Bold"/>
                <a:ea typeface="Montserrat Bold"/>
                <a:cs typeface="Montserrat Bold"/>
                <a:sym typeface="Montserrat Bold"/>
              </a:rPr>
              <a:t>THE CURRENT STATE OF STARBUCKS LOYALTY</a:t>
            </a:r>
          </a:p>
        </p:txBody>
      </p:sp>
      <p:sp>
        <p:nvSpPr>
          <p:cNvPr name="TextBox 7" id="7"/>
          <p:cNvSpPr txBox="true"/>
          <p:nvPr/>
        </p:nvSpPr>
        <p:spPr>
          <a:xfrm rot="0">
            <a:off x="7432329" y="2373103"/>
            <a:ext cx="4097635" cy="471805"/>
          </a:xfrm>
          <a:prstGeom prst="rect">
            <a:avLst/>
          </a:prstGeom>
        </p:spPr>
        <p:txBody>
          <a:bodyPr anchor="t" rtlCol="false" tIns="0" lIns="0" bIns="0" rIns="0">
            <a:spAutoFit/>
          </a:bodyPr>
          <a:lstStyle/>
          <a:p>
            <a:pPr algn="l">
              <a:lnSpc>
                <a:spcPts val="3920"/>
              </a:lnSpc>
              <a:spcBef>
                <a:spcPct val="0"/>
              </a:spcBef>
            </a:pPr>
            <a:r>
              <a:rPr lang="en-US" b="true" sz="2800">
                <a:solidFill>
                  <a:srgbClr val="006241"/>
                </a:solidFill>
                <a:latin typeface="Montserrat Bold"/>
                <a:ea typeface="Montserrat Bold"/>
                <a:cs typeface="Montserrat Bold"/>
                <a:sym typeface="Montserrat Bold"/>
              </a:rPr>
              <a:t>Programme Structure</a:t>
            </a:r>
          </a:p>
        </p:txBody>
      </p:sp>
      <p:sp>
        <p:nvSpPr>
          <p:cNvPr name="TextBox 8" id="8"/>
          <p:cNvSpPr txBox="true"/>
          <p:nvPr/>
        </p:nvSpPr>
        <p:spPr>
          <a:xfrm rot="0">
            <a:off x="7432329" y="2983433"/>
            <a:ext cx="9826971" cy="16630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Green / Gold / Reserve </a:t>
            </a:r>
          </a:p>
          <a:p>
            <a:pPr algn="l" marL="518160" indent="-259080" lvl="1">
              <a:lnSpc>
                <a:spcPts val="3359"/>
              </a:lnSpc>
              <a:buFont typeface="Arial"/>
              <a:buChar char="•"/>
            </a:pPr>
            <a:r>
              <a:rPr lang="en-US" sz="2400">
                <a:solidFill>
                  <a:srgbClr val="27251F"/>
                </a:solidFill>
                <a:latin typeface="Inter"/>
                <a:ea typeface="Inter"/>
                <a:cs typeface="Inter"/>
                <a:sym typeface="Inter"/>
              </a:rPr>
              <a:t>Earn rates 1× / 1.2× / 1.7× stars per dollar</a:t>
            </a:r>
          </a:p>
          <a:p>
            <a:pPr algn="l" marL="518160" indent="-259080" lvl="1">
              <a:lnSpc>
                <a:spcPts val="3359"/>
              </a:lnSpc>
              <a:buFont typeface="Arial"/>
              <a:buChar char="•"/>
            </a:pPr>
            <a:r>
              <a:rPr lang="en-US" sz="2400">
                <a:solidFill>
                  <a:srgbClr val="27251F"/>
                </a:solidFill>
                <a:latin typeface="Inter"/>
                <a:ea typeface="Inter"/>
                <a:cs typeface="Inter"/>
                <a:sym typeface="Inter"/>
              </a:rPr>
              <a:t>Deep Brew AI drives in-app recommendations and operational forecasting</a:t>
            </a:r>
          </a:p>
        </p:txBody>
      </p:sp>
      <p:sp>
        <p:nvSpPr>
          <p:cNvPr name="TextBox 9" id="9"/>
          <p:cNvSpPr txBox="true"/>
          <p:nvPr/>
        </p:nvSpPr>
        <p:spPr>
          <a:xfrm rot="0">
            <a:off x="7432329" y="5706859"/>
            <a:ext cx="9826971" cy="16630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5 years of transaction history, member-linked</a:t>
            </a:r>
          </a:p>
          <a:p>
            <a:pPr algn="l" marL="518160" indent="-259080" lvl="1">
              <a:lnSpc>
                <a:spcPts val="3359"/>
              </a:lnSpc>
              <a:buFont typeface="Arial"/>
              <a:buChar char="•"/>
            </a:pPr>
            <a:r>
              <a:rPr lang="en-US" sz="2400">
                <a:solidFill>
                  <a:srgbClr val="27251F"/>
                </a:solidFill>
                <a:latin typeface="Inter"/>
                <a:ea typeface="Inter"/>
                <a:cs typeface="Inter"/>
                <a:sym typeface="Inter"/>
              </a:rPr>
              <a:t>35.5M Rewards 90-day active members (Q1 FY26)</a:t>
            </a:r>
          </a:p>
          <a:p>
            <a:pPr algn="l" marL="518160" indent="-259080" lvl="1">
              <a:lnSpc>
                <a:spcPts val="3359"/>
              </a:lnSpc>
              <a:buFont typeface="Arial"/>
              <a:buChar char="•"/>
            </a:pPr>
            <a:r>
              <a:rPr lang="en-US" sz="2400">
                <a:solidFill>
                  <a:srgbClr val="27251F"/>
                </a:solidFill>
                <a:latin typeface="Inter"/>
                <a:ea typeface="Inter"/>
                <a:cs typeface="Inter"/>
                <a:sym typeface="Inter"/>
              </a:rPr>
              <a:t>10,000-member psychographic survey + 5 years of marketing campaign data</a:t>
            </a:r>
          </a:p>
        </p:txBody>
      </p:sp>
      <p:sp>
        <p:nvSpPr>
          <p:cNvPr name="TextBox 10" id="10"/>
          <p:cNvSpPr txBox="true"/>
          <p:nvPr/>
        </p:nvSpPr>
        <p:spPr>
          <a:xfrm rot="0">
            <a:off x="7432329" y="5092180"/>
            <a:ext cx="2204045" cy="471805"/>
          </a:xfrm>
          <a:prstGeom prst="rect">
            <a:avLst/>
          </a:prstGeom>
        </p:spPr>
        <p:txBody>
          <a:bodyPr anchor="t" rtlCol="false" tIns="0" lIns="0" bIns="0" rIns="0">
            <a:spAutoFit/>
          </a:bodyPr>
          <a:lstStyle/>
          <a:p>
            <a:pPr algn="l">
              <a:lnSpc>
                <a:spcPts val="3920"/>
              </a:lnSpc>
              <a:spcBef>
                <a:spcPct val="0"/>
              </a:spcBef>
            </a:pPr>
            <a:r>
              <a:rPr lang="en-US" b="true" sz="2800">
                <a:solidFill>
                  <a:srgbClr val="006241"/>
                </a:solidFill>
                <a:latin typeface="Montserrat Bold"/>
                <a:ea typeface="Montserrat Bold"/>
                <a:cs typeface="Montserrat Bold"/>
                <a:sym typeface="Montserrat Bold"/>
              </a:rPr>
              <a:t>Data Assets</a:t>
            </a:r>
          </a:p>
        </p:txBody>
      </p:sp>
      <p:sp>
        <p:nvSpPr>
          <p:cNvPr name="TextBox 11" id="11"/>
          <p:cNvSpPr txBox="true"/>
          <p:nvPr/>
        </p:nvSpPr>
        <p:spPr>
          <a:xfrm rot="0">
            <a:off x="7432329" y="8322640"/>
            <a:ext cx="9826971" cy="12439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Broad-reach strategy since Q4 FY24 shift</a:t>
            </a:r>
          </a:p>
          <a:p>
            <a:pPr algn="l" marL="518160" indent="-259080" lvl="1">
              <a:lnSpc>
                <a:spcPts val="3359"/>
              </a:lnSpc>
              <a:buFont typeface="Arial"/>
              <a:buChar char="•"/>
            </a:pPr>
            <a:r>
              <a:rPr lang="en-US" sz="2400">
                <a:solidFill>
                  <a:srgbClr val="27251F"/>
                </a:solidFill>
                <a:latin typeface="Inter"/>
                <a:ea typeface="Inter"/>
                <a:cs typeface="Inter"/>
                <a:sym typeface="Inter"/>
              </a:rPr>
              <a:t>Mix: paid search, paid social, email, in-app push, broad-reach TV</a:t>
            </a:r>
          </a:p>
          <a:p>
            <a:pPr algn="l" marL="518160" indent="-259080" lvl="1">
              <a:lnSpc>
                <a:spcPts val="3359"/>
              </a:lnSpc>
              <a:buFont typeface="Arial"/>
              <a:buChar char="•"/>
            </a:pPr>
            <a:r>
              <a:rPr lang="en-US" sz="2400">
                <a:solidFill>
                  <a:srgbClr val="27251F"/>
                </a:solidFill>
                <a:latin typeface="Inter"/>
                <a:ea typeface="Inter"/>
                <a:cs typeface="Inter"/>
                <a:sym typeface="Inter"/>
              </a:rPr>
              <a:t>Cadence and message largely common across audiences</a:t>
            </a:r>
          </a:p>
        </p:txBody>
      </p:sp>
      <p:sp>
        <p:nvSpPr>
          <p:cNvPr name="TextBox 12" id="12"/>
          <p:cNvSpPr txBox="true"/>
          <p:nvPr/>
        </p:nvSpPr>
        <p:spPr>
          <a:xfrm rot="0">
            <a:off x="7432329" y="7817599"/>
            <a:ext cx="3038674" cy="471805"/>
          </a:xfrm>
          <a:prstGeom prst="rect">
            <a:avLst/>
          </a:prstGeom>
        </p:spPr>
        <p:txBody>
          <a:bodyPr anchor="t" rtlCol="false" tIns="0" lIns="0" bIns="0" rIns="0">
            <a:spAutoFit/>
          </a:bodyPr>
          <a:lstStyle/>
          <a:p>
            <a:pPr algn="l">
              <a:lnSpc>
                <a:spcPts val="3920"/>
              </a:lnSpc>
              <a:spcBef>
                <a:spcPct val="0"/>
              </a:spcBef>
            </a:pPr>
            <a:r>
              <a:rPr lang="en-US" b="true" sz="2800">
                <a:solidFill>
                  <a:srgbClr val="006241"/>
                </a:solidFill>
                <a:latin typeface="Montserrat Bold"/>
                <a:ea typeface="Montserrat Bold"/>
                <a:cs typeface="Montserrat Bold"/>
                <a:sym typeface="Montserrat Bold"/>
              </a:rPr>
              <a:t>Marketing Layer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1483825" y="4036499"/>
            <a:ext cx="1862184" cy="1478359"/>
          </a:xfrm>
          <a:custGeom>
            <a:avLst/>
            <a:gdLst/>
            <a:ahLst/>
            <a:cxnLst/>
            <a:rect r="r" b="b" t="t" l="l"/>
            <a:pathLst>
              <a:path h="1478359" w="1862184">
                <a:moveTo>
                  <a:pt x="0" y="0"/>
                </a:moveTo>
                <a:lnTo>
                  <a:pt x="1862184" y="0"/>
                </a:lnTo>
                <a:lnTo>
                  <a:pt x="1862184" y="1478359"/>
                </a:lnTo>
                <a:lnTo>
                  <a:pt x="0" y="1478359"/>
                </a:lnTo>
                <a:lnTo>
                  <a:pt x="0" y="0"/>
                </a:lnTo>
                <a:close/>
              </a:path>
            </a:pathLst>
          </a:custGeom>
          <a:blipFill>
            <a:blip r:embed="rId2"/>
            <a:stretch>
              <a:fillRect l="0" t="-25962" r="0" b="0"/>
            </a:stretch>
          </a:blipFill>
        </p:spPr>
      </p:sp>
      <p:sp>
        <p:nvSpPr>
          <p:cNvPr name="Freeform 3" id="3"/>
          <p:cNvSpPr/>
          <p:nvPr/>
        </p:nvSpPr>
        <p:spPr>
          <a:xfrm flipH="false" flipV="false" rot="0">
            <a:off x="6009387" y="3972552"/>
            <a:ext cx="1752111" cy="1607235"/>
          </a:xfrm>
          <a:custGeom>
            <a:avLst/>
            <a:gdLst/>
            <a:ahLst/>
            <a:cxnLst/>
            <a:rect r="r" b="b" t="t" l="l"/>
            <a:pathLst>
              <a:path h="1607235" w="1752111">
                <a:moveTo>
                  <a:pt x="0" y="0"/>
                </a:moveTo>
                <a:lnTo>
                  <a:pt x="1752111" y="0"/>
                </a:lnTo>
                <a:lnTo>
                  <a:pt x="1752111" y="1607234"/>
                </a:lnTo>
                <a:lnTo>
                  <a:pt x="0" y="1607234"/>
                </a:lnTo>
                <a:lnTo>
                  <a:pt x="0" y="0"/>
                </a:lnTo>
                <a:close/>
              </a:path>
            </a:pathLst>
          </a:custGeom>
          <a:blipFill>
            <a:blip r:embed="rId3"/>
            <a:stretch>
              <a:fillRect l="0" t="-9731" r="-658" b="0"/>
            </a:stretch>
          </a:blipFill>
        </p:spPr>
      </p:sp>
      <p:sp>
        <p:nvSpPr>
          <p:cNvPr name="Freeform 4" id="4"/>
          <p:cNvSpPr/>
          <p:nvPr/>
        </p:nvSpPr>
        <p:spPr>
          <a:xfrm flipH="false" flipV="false" rot="0">
            <a:off x="10552489" y="3879450"/>
            <a:ext cx="1700337" cy="1700337"/>
          </a:xfrm>
          <a:custGeom>
            <a:avLst/>
            <a:gdLst/>
            <a:ahLst/>
            <a:cxnLst/>
            <a:rect r="r" b="b" t="t" l="l"/>
            <a:pathLst>
              <a:path h="1700337" w="1700337">
                <a:moveTo>
                  <a:pt x="0" y="0"/>
                </a:moveTo>
                <a:lnTo>
                  <a:pt x="1700336" y="0"/>
                </a:lnTo>
                <a:lnTo>
                  <a:pt x="1700336" y="1700336"/>
                </a:lnTo>
                <a:lnTo>
                  <a:pt x="0" y="1700336"/>
                </a:lnTo>
                <a:lnTo>
                  <a:pt x="0" y="0"/>
                </a:lnTo>
                <a:close/>
              </a:path>
            </a:pathLst>
          </a:custGeom>
          <a:blipFill>
            <a:blip r:embed="rId4"/>
            <a:stretch>
              <a:fillRect l="0" t="0" r="0" b="0"/>
            </a:stretch>
          </a:blipFill>
        </p:spPr>
      </p:sp>
      <p:sp>
        <p:nvSpPr>
          <p:cNvPr name="Freeform 5" id="5"/>
          <p:cNvSpPr/>
          <p:nvPr/>
        </p:nvSpPr>
        <p:spPr>
          <a:xfrm flipH="false" flipV="false" rot="0">
            <a:off x="14963273" y="3972552"/>
            <a:ext cx="1774494" cy="1542306"/>
          </a:xfrm>
          <a:custGeom>
            <a:avLst/>
            <a:gdLst/>
            <a:ahLst/>
            <a:cxnLst/>
            <a:rect r="r" b="b" t="t" l="l"/>
            <a:pathLst>
              <a:path h="1542306" w="1774494">
                <a:moveTo>
                  <a:pt x="0" y="0"/>
                </a:moveTo>
                <a:lnTo>
                  <a:pt x="1774494" y="0"/>
                </a:lnTo>
                <a:lnTo>
                  <a:pt x="1774494" y="1542306"/>
                </a:lnTo>
                <a:lnTo>
                  <a:pt x="0" y="1542306"/>
                </a:lnTo>
                <a:lnTo>
                  <a:pt x="0" y="0"/>
                </a:lnTo>
                <a:close/>
              </a:path>
            </a:pathLst>
          </a:custGeom>
          <a:blipFill>
            <a:blip r:embed="rId5"/>
            <a:stretch>
              <a:fillRect l="0" t="-8168" r="0" b="-6886"/>
            </a:stretch>
          </a:blipFill>
        </p:spPr>
      </p:sp>
      <p:grpSp>
        <p:nvGrpSpPr>
          <p:cNvPr name="Group 6" id="6"/>
          <p:cNvGrpSpPr/>
          <p:nvPr/>
        </p:nvGrpSpPr>
        <p:grpSpPr>
          <a:xfrm rot="0">
            <a:off x="9525" y="6172200"/>
            <a:ext cx="18288000" cy="4114800"/>
            <a:chOff x="0" y="0"/>
            <a:chExt cx="4816593" cy="1083733"/>
          </a:xfrm>
        </p:grpSpPr>
        <p:sp>
          <p:nvSpPr>
            <p:cNvPr name="Freeform 7" id="7"/>
            <p:cNvSpPr/>
            <p:nvPr/>
          </p:nvSpPr>
          <p:spPr>
            <a:xfrm flipH="false" flipV="false" rot="0">
              <a:off x="0" y="0"/>
              <a:ext cx="4816592" cy="1083733"/>
            </a:xfrm>
            <a:custGeom>
              <a:avLst/>
              <a:gdLst/>
              <a:ahLst/>
              <a:cxnLst/>
              <a:rect r="r" b="b" t="t" l="l"/>
              <a:pathLst>
                <a:path h="1083733" w="4816592">
                  <a:moveTo>
                    <a:pt x="0" y="0"/>
                  </a:moveTo>
                  <a:lnTo>
                    <a:pt x="4816592" y="0"/>
                  </a:lnTo>
                  <a:lnTo>
                    <a:pt x="4816592" y="1083733"/>
                  </a:lnTo>
                  <a:lnTo>
                    <a:pt x="0" y="1083733"/>
                  </a:lnTo>
                  <a:close/>
                </a:path>
              </a:pathLst>
            </a:custGeom>
            <a:solidFill>
              <a:srgbClr val="006241"/>
            </a:solidFill>
          </p:spPr>
        </p:sp>
        <p:sp>
          <p:nvSpPr>
            <p:cNvPr name="TextBox 8" id="8"/>
            <p:cNvSpPr txBox="true"/>
            <p:nvPr/>
          </p:nvSpPr>
          <p:spPr>
            <a:xfrm>
              <a:off x="0" y="-38100"/>
              <a:ext cx="4816593" cy="1121833"/>
            </a:xfrm>
            <a:prstGeom prst="rect">
              <a:avLst/>
            </a:prstGeom>
          </p:spPr>
          <p:txBody>
            <a:bodyPr anchor="ctr" rtlCol="false" tIns="50800" lIns="50800" bIns="50800" rIns="50800"/>
            <a:lstStyle/>
            <a:p>
              <a:pPr algn="ctr">
                <a:lnSpc>
                  <a:spcPts val="3079"/>
                </a:lnSpc>
              </a:pPr>
            </a:p>
          </p:txBody>
        </p:sp>
      </p:grpSp>
      <p:sp>
        <p:nvSpPr>
          <p:cNvPr name="TextBox 9" id="9"/>
          <p:cNvSpPr txBox="true"/>
          <p:nvPr/>
        </p:nvSpPr>
        <p:spPr>
          <a:xfrm rot="0">
            <a:off x="1028700" y="942975"/>
            <a:ext cx="15579169" cy="811530"/>
          </a:xfrm>
          <a:prstGeom prst="rect">
            <a:avLst/>
          </a:prstGeom>
        </p:spPr>
        <p:txBody>
          <a:bodyPr anchor="t" rtlCol="false" tIns="0" lIns="0" bIns="0" rIns="0">
            <a:spAutoFit/>
          </a:bodyPr>
          <a:lstStyle/>
          <a:p>
            <a:pPr algn="l" marL="0" indent="0" lvl="0">
              <a:lnSpc>
                <a:spcPts val="6719"/>
              </a:lnSpc>
            </a:pPr>
            <a:r>
              <a:rPr lang="en-US" b="true" sz="4800">
                <a:solidFill>
                  <a:srgbClr val="1E3932"/>
                </a:solidFill>
                <a:latin typeface="Montserrat Bold"/>
                <a:ea typeface="Montserrat Bold"/>
                <a:cs typeface="Montserrat Bold"/>
                <a:sym typeface="Montserrat Bold"/>
              </a:rPr>
              <a:t>PROPOSED SOLUTION</a:t>
            </a:r>
          </a:p>
        </p:txBody>
      </p:sp>
      <p:sp>
        <p:nvSpPr>
          <p:cNvPr name="TextBox 10" id="10"/>
          <p:cNvSpPr txBox="true"/>
          <p:nvPr/>
        </p:nvSpPr>
        <p:spPr>
          <a:xfrm rot="0">
            <a:off x="1028700" y="1887385"/>
            <a:ext cx="15579169" cy="646429"/>
          </a:xfrm>
          <a:prstGeom prst="rect">
            <a:avLst/>
          </a:prstGeom>
        </p:spPr>
        <p:txBody>
          <a:bodyPr anchor="t" rtlCol="false" tIns="0" lIns="0" bIns="0" rIns="0">
            <a:spAutoFit/>
          </a:bodyPr>
          <a:lstStyle/>
          <a:p>
            <a:pPr algn="l" marL="0" indent="0" lvl="0">
              <a:lnSpc>
                <a:spcPts val="5320"/>
              </a:lnSpc>
            </a:pPr>
            <a:r>
              <a:rPr lang="en-US" b="true" sz="3800">
                <a:solidFill>
                  <a:srgbClr val="006241"/>
                </a:solidFill>
                <a:latin typeface="Montserrat Bold"/>
                <a:ea typeface="Montserrat Bold"/>
                <a:cs typeface="Montserrat Bold"/>
                <a:sym typeface="Montserrat Bold"/>
              </a:rPr>
              <a:t>MEMBER INTELLIGENCE AT SCALE</a:t>
            </a:r>
          </a:p>
        </p:txBody>
      </p:sp>
      <p:sp>
        <p:nvSpPr>
          <p:cNvPr name="TextBox 11" id="11"/>
          <p:cNvSpPr txBox="true"/>
          <p:nvPr/>
        </p:nvSpPr>
        <p:spPr>
          <a:xfrm rot="0">
            <a:off x="1483825" y="5586584"/>
            <a:ext cx="1760438" cy="481375"/>
          </a:xfrm>
          <a:prstGeom prst="rect">
            <a:avLst/>
          </a:prstGeom>
        </p:spPr>
        <p:txBody>
          <a:bodyPr anchor="t" rtlCol="false" tIns="0" lIns="0" bIns="0" rIns="0">
            <a:spAutoFit/>
          </a:bodyPr>
          <a:lstStyle/>
          <a:p>
            <a:pPr algn="ctr">
              <a:lnSpc>
                <a:spcPts val="3917"/>
              </a:lnSpc>
              <a:spcBef>
                <a:spcPct val="0"/>
              </a:spcBef>
            </a:pPr>
            <a:r>
              <a:rPr lang="en-US" b="true" sz="2798">
                <a:solidFill>
                  <a:srgbClr val="006241"/>
                </a:solidFill>
                <a:latin typeface="Inter Bold"/>
                <a:ea typeface="Inter Bold"/>
                <a:cs typeface="Inter Bold"/>
                <a:sym typeface="Inter Bold"/>
              </a:rPr>
              <a:t>SEGMENT</a:t>
            </a:r>
          </a:p>
        </p:txBody>
      </p:sp>
      <p:sp>
        <p:nvSpPr>
          <p:cNvPr name="TextBox 12" id="12"/>
          <p:cNvSpPr txBox="true"/>
          <p:nvPr/>
        </p:nvSpPr>
        <p:spPr>
          <a:xfrm rot="0">
            <a:off x="6121805" y="5586584"/>
            <a:ext cx="1527274" cy="481375"/>
          </a:xfrm>
          <a:prstGeom prst="rect">
            <a:avLst/>
          </a:prstGeom>
        </p:spPr>
        <p:txBody>
          <a:bodyPr anchor="t" rtlCol="false" tIns="0" lIns="0" bIns="0" rIns="0">
            <a:spAutoFit/>
          </a:bodyPr>
          <a:lstStyle/>
          <a:p>
            <a:pPr algn="ctr">
              <a:lnSpc>
                <a:spcPts val="3917"/>
              </a:lnSpc>
              <a:spcBef>
                <a:spcPct val="0"/>
              </a:spcBef>
            </a:pPr>
            <a:r>
              <a:rPr lang="en-US" b="true" sz="2798">
                <a:solidFill>
                  <a:srgbClr val="006241"/>
                </a:solidFill>
                <a:latin typeface="Inter Bold"/>
                <a:ea typeface="Inter Bold"/>
                <a:cs typeface="Inter Bold"/>
                <a:sym typeface="Inter Bold"/>
              </a:rPr>
              <a:t>PREDICT</a:t>
            </a:r>
          </a:p>
        </p:txBody>
      </p:sp>
      <p:sp>
        <p:nvSpPr>
          <p:cNvPr name="TextBox 13" id="13"/>
          <p:cNvSpPr txBox="true"/>
          <p:nvPr/>
        </p:nvSpPr>
        <p:spPr>
          <a:xfrm rot="0">
            <a:off x="10473473" y="5586584"/>
            <a:ext cx="1858367" cy="481375"/>
          </a:xfrm>
          <a:prstGeom prst="rect">
            <a:avLst/>
          </a:prstGeom>
        </p:spPr>
        <p:txBody>
          <a:bodyPr anchor="t" rtlCol="false" tIns="0" lIns="0" bIns="0" rIns="0">
            <a:spAutoFit/>
          </a:bodyPr>
          <a:lstStyle/>
          <a:p>
            <a:pPr algn="ctr">
              <a:lnSpc>
                <a:spcPts val="3917"/>
              </a:lnSpc>
              <a:spcBef>
                <a:spcPct val="0"/>
              </a:spcBef>
            </a:pPr>
            <a:r>
              <a:rPr lang="en-US" b="true" sz="2798">
                <a:solidFill>
                  <a:srgbClr val="006241"/>
                </a:solidFill>
                <a:latin typeface="Inter Bold"/>
                <a:ea typeface="Inter Bold"/>
                <a:cs typeface="Inter Bold"/>
                <a:sym typeface="Inter Bold"/>
              </a:rPr>
              <a:t>ALLOCATE</a:t>
            </a:r>
          </a:p>
        </p:txBody>
      </p:sp>
      <p:sp>
        <p:nvSpPr>
          <p:cNvPr name="TextBox 14" id="14"/>
          <p:cNvSpPr txBox="true"/>
          <p:nvPr/>
        </p:nvSpPr>
        <p:spPr>
          <a:xfrm rot="0">
            <a:off x="14930721" y="5586584"/>
            <a:ext cx="1987876" cy="481375"/>
          </a:xfrm>
          <a:prstGeom prst="rect">
            <a:avLst/>
          </a:prstGeom>
        </p:spPr>
        <p:txBody>
          <a:bodyPr anchor="t" rtlCol="false" tIns="0" lIns="0" bIns="0" rIns="0">
            <a:spAutoFit/>
          </a:bodyPr>
          <a:lstStyle/>
          <a:p>
            <a:pPr algn="ctr">
              <a:lnSpc>
                <a:spcPts val="3917"/>
              </a:lnSpc>
              <a:spcBef>
                <a:spcPct val="0"/>
              </a:spcBef>
            </a:pPr>
            <a:r>
              <a:rPr lang="en-US" b="true" sz="2798">
                <a:solidFill>
                  <a:srgbClr val="006241"/>
                </a:solidFill>
                <a:latin typeface="Inter Bold"/>
                <a:ea typeface="Inter Bold"/>
                <a:cs typeface="Inter Bold"/>
                <a:sym typeface="Inter Bold"/>
              </a:rPr>
              <a:t>CAMPAIGN</a:t>
            </a:r>
          </a:p>
        </p:txBody>
      </p:sp>
      <p:sp>
        <p:nvSpPr>
          <p:cNvPr name="TextBox 15" id="15"/>
          <p:cNvSpPr txBox="true"/>
          <p:nvPr/>
        </p:nvSpPr>
        <p:spPr>
          <a:xfrm rot="0">
            <a:off x="742116" y="6480131"/>
            <a:ext cx="3345603" cy="1749469"/>
          </a:xfrm>
          <a:prstGeom prst="rect">
            <a:avLst/>
          </a:prstGeom>
        </p:spPr>
        <p:txBody>
          <a:bodyPr anchor="t" rtlCol="false" tIns="0" lIns="0" bIns="0" rIns="0">
            <a:spAutoFit/>
          </a:bodyPr>
          <a:lstStyle/>
          <a:p>
            <a:pPr algn="ctr">
              <a:lnSpc>
                <a:spcPts val="2797"/>
              </a:lnSpc>
              <a:spcBef>
                <a:spcPct val="0"/>
              </a:spcBef>
            </a:pPr>
            <a:r>
              <a:rPr lang="en-US" sz="1998">
                <a:solidFill>
                  <a:srgbClr val="FFFFFF"/>
                </a:solidFill>
                <a:latin typeface="Inter"/>
                <a:ea typeface="Inter"/>
                <a:cs typeface="Inter"/>
                <a:sym typeface="Inter"/>
              </a:rPr>
              <a:t>RFM clustering groups members by behaviour, then validated against the survey to ensure the segments hold.</a:t>
            </a:r>
          </a:p>
        </p:txBody>
      </p:sp>
      <p:sp>
        <p:nvSpPr>
          <p:cNvPr name="TextBox 16" id="16"/>
          <p:cNvSpPr txBox="true"/>
          <p:nvPr/>
        </p:nvSpPr>
        <p:spPr>
          <a:xfrm rot="0">
            <a:off x="5218131" y="6619513"/>
            <a:ext cx="3334622" cy="1470704"/>
          </a:xfrm>
          <a:prstGeom prst="rect">
            <a:avLst/>
          </a:prstGeom>
        </p:spPr>
        <p:txBody>
          <a:bodyPr anchor="t" rtlCol="false" tIns="0" lIns="0" bIns="0" rIns="0">
            <a:spAutoFit/>
          </a:bodyPr>
          <a:lstStyle/>
          <a:p>
            <a:pPr algn="ctr">
              <a:lnSpc>
                <a:spcPts val="2937"/>
              </a:lnSpc>
              <a:spcBef>
                <a:spcPct val="0"/>
              </a:spcBef>
            </a:pPr>
            <a:r>
              <a:rPr lang="en-US" sz="2098">
                <a:solidFill>
                  <a:srgbClr val="FFFFFF"/>
                </a:solidFill>
                <a:latin typeface="Inter"/>
                <a:ea typeface="Inter"/>
                <a:cs typeface="Inter"/>
                <a:sym typeface="Inter"/>
              </a:rPr>
              <a:t>Logistic regression flags members at risk of leaving so retention spend reaches the right people.</a:t>
            </a:r>
          </a:p>
        </p:txBody>
      </p:sp>
      <p:sp>
        <p:nvSpPr>
          <p:cNvPr name="TextBox 17" id="17"/>
          <p:cNvSpPr txBox="true"/>
          <p:nvPr/>
        </p:nvSpPr>
        <p:spPr>
          <a:xfrm rot="0">
            <a:off x="9733854" y="6480131"/>
            <a:ext cx="3337607" cy="1470704"/>
          </a:xfrm>
          <a:prstGeom prst="rect">
            <a:avLst/>
          </a:prstGeom>
        </p:spPr>
        <p:txBody>
          <a:bodyPr anchor="t" rtlCol="false" tIns="0" lIns="0" bIns="0" rIns="0">
            <a:spAutoFit/>
          </a:bodyPr>
          <a:lstStyle/>
          <a:p>
            <a:pPr algn="ctr">
              <a:lnSpc>
                <a:spcPts val="2937"/>
              </a:lnSpc>
              <a:spcBef>
                <a:spcPct val="0"/>
              </a:spcBef>
            </a:pPr>
            <a:r>
              <a:rPr lang="en-US" sz="2098">
                <a:solidFill>
                  <a:srgbClr val="FFFFFF"/>
                </a:solidFill>
                <a:latin typeface="Inter"/>
                <a:ea typeface="Inter"/>
                <a:cs typeface="Inter"/>
                <a:sym typeface="Inter"/>
              </a:rPr>
              <a:t>Multiple regression reveals where every marketing dollar earns most, by channel and by segment.</a:t>
            </a:r>
          </a:p>
        </p:txBody>
      </p:sp>
      <p:sp>
        <p:nvSpPr>
          <p:cNvPr name="TextBox 18" id="18"/>
          <p:cNvSpPr txBox="true"/>
          <p:nvPr/>
        </p:nvSpPr>
        <p:spPr>
          <a:xfrm rot="0">
            <a:off x="14252561" y="6480131"/>
            <a:ext cx="3344196" cy="1842179"/>
          </a:xfrm>
          <a:prstGeom prst="rect">
            <a:avLst/>
          </a:prstGeom>
        </p:spPr>
        <p:txBody>
          <a:bodyPr anchor="t" rtlCol="false" tIns="0" lIns="0" bIns="0" rIns="0">
            <a:spAutoFit/>
          </a:bodyPr>
          <a:lstStyle/>
          <a:p>
            <a:pPr algn="ctr">
              <a:lnSpc>
                <a:spcPts val="2937"/>
              </a:lnSpc>
              <a:spcBef>
                <a:spcPct val="0"/>
              </a:spcBef>
            </a:pPr>
            <a:r>
              <a:rPr lang="en-US" sz="2098">
                <a:solidFill>
                  <a:srgbClr val="FFFFFF"/>
                </a:solidFill>
                <a:latin typeface="Inter"/>
                <a:ea typeface="Inter"/>
                <a:cs typeface="Inter"/>
                <a:sym typeface="Inter"/>
              </a:rPr>
              <a:t>Segment-aware offers, cadence, and budget allocation delivered to inform Autumn 2026 campaign decisions.</a:t>
            </a:r>
          </a:p>
        </p:txBody>
      </p:sp>
      <p:sp>
        <p:nvSpPr>
          <p:cNvPr name="TextBox 19" id="19"/>
          <p:cNvSpPr txBox="true"/>
          <p:nvPr/>
        </p:nvSpPr>
        <p:spPr>
          <a:xfrm rot="0">
            <a:off x="956072" y="9665335"/>
            <a:ext cx="16375856" cy="266700"/>
          </a:xfrm>
          <a:prstGeom prst="rect">
            <a:avLst/>
          </a:prstGeom>
        </p:spPr>
        <p:txBody>
          <a:bodyPr anchor="t" rtlCol="false" tIns="0" lIns="0" bIns="0" rIns="0">
            <a:spAutoFit/>
          </a:bodyPr>
          <a:lstStyle/>
          <a:p>
            <a:pPr algn="ctr">
              <a:lnSpc>
                <a:spcPts val="2157"/>
              </a:lnSpc>
              <a:spcBef>
                <a:spcPct val="0"/>
              </a:spcBef>
            </a:pPr>
            <a:r>
              <a:rPr lang="en-US" sz="1797">
                <a:solidFill>
                  <a:srgbClr val="000000"/>
                </a:solidFill>
                <a:latin typeface="Montserrat"/>
                <a:ea typeface="Montserrat"/>
                <a:cs typeface="Montserrat"/>
                <a:sym typeface="Montserrat"/>
              </a:rPr>
              <a:t>Smith, A., Lukinova, E., Harvey, J., Smith, G., Mansilla, R., Goulding, J. and Nica-Avram, G. Consumer Decision-Making, Analytics and AI. Routledge.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2868921" y="5148713"/>
            <a:ext cx="332098" cy="439072"/>
          </a:xfrm>
          <a:custGeom>
            <a:avLst/>
            <a:gdLst/>
            <a:ahLst/>
            <a:cxnLst/>
            <a:rect r="r" b="b" t="t" l="l"/>
            <a:pathLst>
              <a:path h="439072" w="332098">
                <a:moveTo>
                  <a:pt x="0" y="0"/>
                </a:moveTo>
                <a:lnTo>
                  <a:pt x="332098" y="0"/>
                </a:lnTo>
                <a:lnTo>
                  <a:pt x="332098" y="439071"/>
                </a:lnTo>
                <a:lnTo>
                  <a:pt x="0" y="4390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42975"/>
            <a:ext cx="15579169" cy="811530"/>
          </a:xfrm>
          <a:prstGeom prst="rect">
            <a:avLst/>
          </a:prstGeom>
        </p:spPr>
        <p:txBody>
          <a:bodyPr anchor="t" rtlCol="false" tIns="0" lIns="0" bIns="0" rIns="0">
            <a:spAutoFit/>
          </a:bodyPr>
          <a:lstStyle/>
          <a:p>
            <a:pPr algn="l" marL="0" indent="0" lvl="0">
              <a:lnSpc>
                <a:spcPts val="6719"/>
              </a:lnSpc>
            </a:pPr>
            <a:r>
              <a:rPr lang="en-US" b="true" sz="4800">
                <a:solidFill>
                  <a:srgbClr val="1E3932"/>
                </a:solidFill>
                <a:latin typeface="Montserrat Bold"/>
                <a:ea typeface="Montserrat Bold"/>
                <a:cs typeface="Montserrat Bold"/>
                <a:sym typeface="Montserrat Bold"/>
              </a:rPr>
              <a:t>METHODOLOGY</a:t>
            </a:r>
          </a:p>
        </p:txBody>
      </p:sp>
      <p:sp>
        <p:nvSpPr>
          <p:cNvPr name="TextBox 4" id="4"/>
          <p:cNvSpPr txBox="true"/>
          <p:nvPr/>
        </p:nvSpPr>
        <p:spPr>
          <a:xfrm rot="0">
            <a:off x="1028700" y="2008984"/>
            <a:ext cx="16230600" cy="455295"/>
          </a:xfrm>
          <a:prstGeom prst="rect">
            <a:avLst/>
          </a:prstGeom>
        </p:spPr>
        <p:txBody>
          <a:bodyPr anchor="t" rtlCol="false" tIns="0" lIns="0" bIns="0" rIns="0">
            <a:spAutoFit/>
          </a:bodyPr>
          <a:lstStyle/>
          <a:p>
            <a:pPr algn="l">
              <a:lnSpc>
                <a:spcPts val="3779"/>
              </a:lnSpc>
              <a:spcBef>
                <a:spcPct val="0"/>
              </a:spcBef>
            </a:pPr>
            <a:r>
              <a:rPr lang="en-US" b="true" sz="2700">
                <a:solidFill>
                  <a:srgbClr val="006241"/>
                </a:solidFill>
                <a:latin typeface="Montserrat Bold"/>
                <a:ea typeface="Montserrat Bold"/>
                <a:cs typeface="Montserrat Bold"/>
                <a:sym typeface="Montserrat Bold"/>
              </a:rPr>
              <a:t>THREE TECHNIQUES CHOSEN FOR INTERPRETABILITY, SCALE, AND SEGMENT FIDELITY</a:t>
            </a:r>
          </a:p>
        </p:txBody>
      </p:sp>
      <p:sp>
        <p:nvSpPr>
          <p:cNvPr name="TextBox 5" id="5"/>
          <p:cNvSpPr txBox="true"/>
          <p:nvPr/>
        </p:nvSpPr>
        <p:spPr>
          <a:xfrm rot="0">
            <a:off x="1029314" y="3296182"/>
            <a:ext cx="2574612" cy="471805"/>
          </a:xfrm>
          <a:prstGeom prst="rect">
            <a:avLst/>
          </a:prstGeom>
        </p:spPr>
        <p:txBody>
          <a:bodyPr anchor="t" rtlCol="false" tIns="0" lIns="0" bIns="0" rIns="0">
            <a:spAutoFit/>
          </a:bodyPr>
          <a:lstStyle/>
          <a:p>
            <a:pPr algn="l">
              <a:lnSpc>
                <a:spcPts val="3919"/>
              </a:lnSpc>
              <a:spcBef>
                <a:spcPct val="0"/>
              </a:spcBef>
            </a:pPr>
            <a:r>
              <a:rPr lang="en-US" b="true" sz="2799">
                <a:solidFill>
                  <a:srgbClr val="006241"/>
                </a:solidFill>
                <a:latin typeface="Montserrat Bold"/>
                <a:ea typeface="Montserrat Bold"/>
                <a:cs typeface="Montserrat Bold"/>
                <a:sym typeface="Montserrat Bold"/>
              </a:rPr>
              <a:t>CLUSTERING</a:t>
            </a:r>
          </a:p>
        </p:txBody>
      </p:sp>
      <p:sp>
        <p:nvSpPr>
          <p:cNvPr name="TextBox 6" id="6"/>
          <p:cNvSpPr txBox="true"/>
          <p:nvPr/>
        </p:nvSpPr>
        <p:spPr>
          <a:xfrm rot="0">
            <a:off x="6991760" y="3296182"/>
            <a:ext cx="3338269" cy="471805"/>
          </a:xfrm>
          <a:prstGeom prst="rect">
            <a:avLst/>
          </a:prstGeom>
        </p:spPr>
        <p:txBody>
          <a:bodyPr anchor="t" rtlCol="false" tIns="0" lIns="0" bIns="0" rIns="0">
            <a:spAutoFit/>
          </a:bodyPr>
          <a:lstStyle/>
          <a:p>
            <a:pPr algn="l">
              <a:lnSpc>
                <a:spcPts val="3919"/>
              </a:lnSpc>
              <a:spcBef>
                <a:spcPct val="0"/>
              </a:spcBef>
            </a:pPr>
            <a:r>
              <a:rPr lang="en-US" b="true" sz="2799">
                <a:solidFill>
                  <a:srgbClr val="006241"/>
                </a:solidFill>
                <a:latin typeface="Montserrat Bold"/>
                <a:ea typeface="Montserrat Bold"/>
                <a:cs typeface="Montserrat Bold"/>
                <a:sym typeface="Montserrat Bold"/>
              </a:rPr>
              <a:t>CLASSIFICATION</a:t>
            </a:r>
          </a:p>
        </p:txBody>
      </p:sp>
      <p:sp>
        <p:nvSpPr>
          <p:cNvPr name="TextBox 7" id="7"/>
          <p:cNvSpPr txBox="true"/>
          <p:nvPr/>
        </p:nvSpPr>
        <p:spPr>
          <a:xfrm rot="0">
            <a:off x="12954205" y="3296182"/>
            <a:ext cx="3338269" cy="471805"/>
          </a:xfrm>
          <a:prstGeom prst="rect">
            <a:avLst/>
          </a:prstGeom>
        </p:spPr>
        <p:txBody>
          <a:bodyPr anchor="t" rtlCol="false" tIns="0" lIns="0" bIns="0" rIns="0">
            <a:spAutoFit/>
          </a:bodyPr>
          <a:lstStyle/>
          <a:p>
            <a:pPr algn="l">
              <a:lnSpc>
                <a:spcPts val="3919"/>
              </a:lnSpc>
              <a:spcBef>
                <a:spcPct val="0"/>
              </a:spcBef>
            </a:pPr>
            <a:r>
              <a:rPr lang="en-US" b="true" sz="2799">
                <a:solidFill>
                  <a:srgbClr val="006241"/>
                </a:solidFill>
                <a:latin typeface="Montserrat Bold"/>
                <a:ea typeface="Montserrat Bold"/>
                <a:cs typeface="Montserrat Bold"/>
                <a:sym typeface="Montserrat Bold"/>
              </a:rPr>
              <a:t>REGRESSION</a:t>
            </a:r>
          </a:p>
        </p:txBody>
      </p:sp>
      <p:sp>
        <p:nvSpPr>
          <p:cNvPr name="TextBox 8" id="8"/>
          <p:cNvSpPr txBox="true"/>
          <p:nvPr/>
        </p:nvSpPr>
        <p:spPr>
          <a:xfrm rot="0">
            <a:off x="1029314" y="4025162"/>
            <a:ext cx="4011311" cy="1054100"/>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5 years of RFM features &amp; 10,000-member psychographic survey overlay.</a:t>
            </a:r>
          </a:p>
        </p:txBody>
      </p:sp>
      <p:sp>
        <p:nvSpPr>
          <p:cNvPr name="TextBox 9" id="9"/>
          <p:cNvSpPr txBox="true"/>
          <p:nvPr/>
        </p:nvSpPr>
        <p:spPr>
          <a:xfrm rot="0">
            <a:off x="1028700" y="5609610"/>
            <a:ext cx="4305710" cy="2463800"/>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K-means with silhouette validation on RFM data. Chosen over hierarchical clustering because k-means scales cleanly to 35.5M members and the optimal segment count is selected by silhouette scoring.</a:t>
            </a:r>
          </a:p>
        </p:txBody>
      </p:sp>
      <p:sp>
        <p:nvSpPr>
          <p:cNvPr name="TextBox 10" id="10"/>
          <p:cNvSpPr txBox="true"/>
          <p:nvPr/>
        </p:nvSpPr>
        <p:spPr>
          <a:xfrm rot="0">
            <a:off x="6991760" y="4025162"/>
            <a:ext cx="4305710" cy="1054100"/>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RFM, tier movement, app engagement, mobile order completion, segment membership.</a:t>
            </a:r>
          </a:p>
        </p:txBody>
      </p:sp>
      <p:sp>
        <p:nvSpPr>
          <p:cNvPr name="TextBox 11" id="11"/>
          <p:cNvSpPr txBox="true"/>
          <p:nvPr/>
        </p:nvSpPr>
        <p:spPr>
          <a:xfrm rot="0">
            <a:off x="6991760" y="5609610"/>
            <a:ext cx="4305710" cy="2463800"/>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Logistic regression at member level. Chosen over gradient boosting because GDPR Article 22 requires meaningful information about model logic, and weekly retraining at 35.5M scale rewards stability over marginal accuracy gains.</a:t>
            </a:r>
          </a:p>
        </p:txBody>
      </p:sp>
      <p:sp>
        <p:nvSpPr>
          <p:cNvPr name="TextBox 12" id="12"/>
          <p:cNvSpPr txBox="true"/>
          <p:nvPr/>
        </p:nvSpPr>
        <p:spPr>
          <a:xfrm rot="0">
            <a:off x="12954205" y="4025162"/>
            <a:ext cx="4305710" cy="1054100"/>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5 years of marketing campaign data with channel allocation and spend, transaction outcomes, controls.</a:t>
            </a:r>
          </a:p>
        </p:txBody>
      </p:sp>
      <p:sp>
        <p:nvSpPr>
          <p:cNvPr name="TextBox 13" id="13"/>
          <p:cNvSpPr txBox="true"/>
          <p:nvPr/>
        </p:nvSpPr>
        <p:spPr>
          <a:xfrm rot="0">
            <a:off x="12954205" y="5609610"/>
            <a:ext cx="4305710" cy="2111375"/>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Hierarchical multiple regression with channel and segment interaction terms. Chosen over aggregate marketing mix modelling because aggregates flatten the very gap our work is meant to surface.</a:t>
            </a:r>
          </a:p>
        </p:txBody>
      </p:sp>
      <p:sp>
        <p:nvSpPr>
          <p:cNvPr name="Freeform 14" id="14"/>
          <p:cNvSpPr/>
          <p:nvPr/>
        </p:nvSpPr>
        <p:spPr>
          <a:xfrm flipH="false" flipV="false" rot="0">
            <a:off x="2868921" y="8236574"/>
            <a:ext cx="332098" cy="439072"/>
          </a:xfrm>
          <a:custGeom>
            <a:avLst/>
            <a:gdLst/>
            <a:ahLst/>
            <a:cxnLst/>
            <a:rect r="r" b="b" t="t" l="l"/>
            <a:pathLst>
              <a:path h="439072" w="332098">
                <a:moveTo>
                  <a:pt x="0" y="0"/>
                </a:moveTo>
                <a:lnTo>
                  <a:pt x="332098" y="0"/>
                </a:lnTo>
                <a:lnTo>
                  <a:pt x="332098" y="439072"/>
                </a:lnTo>
                <a:lnTo>
                  <a:pt x="0" y="4390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029314" y="8791185"/>
            <a:ext cx="4305095" cy="701675"/>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Five behavioural segments with tier overlay.</a:t>
            </a:r>
          </a:p>
        </p:txBody>
      </p:sp>
      <p:sp>
        <p:nvSpPr>
          <p:cNvPr name="Freeform 16" id="16"/>
          <p:cNvSpPr/>
          <p:nvPr/>
        </p:nvSpPr>
        <p:spPr>
          <a:xfrm flipH="false" flipV="false" rot="0">
            <a:off x="8652850" y="5148713"/>
            <a:ext cx="332098" cy="439072"/>
          </a:xfrm>
          <a:custGeom>
            <a:avLst/>
            <a:gdLst/>
            <a:ahLst/>
            <a:cxnLst/>
            <a:rect r="r" b="b" t="t" l="l"/>
            <a:pathLst>
              <a:path h="439072" w="332098">
                <a:moveTo>
                  <a:pt x="0" y="0"/>
                </a:moveTo>
                <a:lnTo>
                  <a:pt x="332098" y="0"/>
                </a:lnTo>
                <a:lnTo>
                  <a:pt x="332098" y="439071"/>
                </a:lnTo>
                <a:lnTo>
                  <a:pt x="0" y="4390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8660894" y="8236574"/>
            <a:ext cx="332098" cy="439072"/>
          </a:xfrm>
          <a:custGeom>
            <a:avLst/>
            <a:gdLst/>
            <a:ahLst/>
            <a:cxnLst/>
            <a:rect r="r" b="b" t="t" l="l"/>
            <a:pathLst>
              <a:path h="439072" w="332098">
                <a:moveTo>
                  <a:pt x="0" y="0"/>
                </a:moveTo>
                <a:lnTo>
                  <a:pt x="332098" y="0"/>
                </a:lnTo>
                <a:lnTo>
                  <a:pt x="332098" y="439072"/>
                </a:lnTo>
                <a:lnTo>
                  <a:pt x="0" y="4390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6991760" y="8791185"/>
            <a:ext cx="4305095" cy="701675"/>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Weekly Power BI segment with feature-level explanations per flag.</a:t>
            </a:r>
          </a:p>
        </p:txBody>
      </p:sp>
      <p:sp>
        <p:nvSpPr>
          <p:cNvPr name="Freeform 19" id="19"/>
          <p:cNvSpPr/>
          <p:nvPr/>
        </p:nvSpPr>
        <p:spPr>
          <a:xfrm flipH="false" flipV="false" rot="0">
            <a:off x="14623339" y="5148713"/>
            <a:ext cx="332098" cy="439072"/>
          </a:xfrm>
          <a:custGeom>
            <a:avLst/>
            <a:gdLst/>
            <a:ahLst/>
            <a:cxnLst/>
            <a:rect r="r" b="b" t="t" l="l"/>
            <a:pathLst>
              <a:path h="439072" w="332098">
                <a:moveTo>
                  <a:pt x="0" y="0"/>
                </a:moveTo>
                <a:lnTo>
                  <a:pt x="332098" y="0"/>
                </a:lnTo>
                <a:lnTo>
                  <a:pt x="332098" y="439071"/>
                </a:lnTo>
                <a:lnTo>
                  <a:pt x="0" y="4390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4623339" y="7893992"/>
            <a:ext cx="332098" cy="439072"/>
          </a:xfrm>
          <a:custGeom>
            <a:avLst/>
            <a:gdLst/>
            <a:ahLst/>
            <a:cxnLst/>
            <a:rect r="r" b="b" t="t" l="l"/>
            <a:pathLst>
              <a:path h="439072" w="332098">
                <a:moveTo>
                  <a:pt x="0" y="0"/>
                </a:moveTo>
                <a:lnTo>
                  <a:pt x="332098" y="0"/>
                </a:lnTo>
                <a:lnTo>
                  <a:pt x="332098" y="439072"/>
                </a:lnTo>
                <a:lnTo>
                  <a:pt x="0" y="4390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2954819" y="8438760"/>
            <a:ext cx="4305095" cy="1054100"/>
          </a:xfrm>
          <a:prstGeom prst="rect">
            <a:avLst/>
          </a:prstGeom>
        </p:spPr>
        <p:txBody>
          <a:bodyPr anchor="t" rtlCol="false" tIns="0" lIns="0" bIns="0" rIns="0">
            <a:spAutoFit/>
          </a:bodyPr>
          <a:lstStyle/>
          <a:p>
            <a:pPr algn="l">
              <a:lnSpc>
                <a:spcPts val="2800"/>
              </a:lnSpc>
              <a:spcBef>
                <a:spcPct val="0"/>
              </a:spcBef>
            </a:pPr>
            <a:r>
              <a:rPr lang="en-US" sz="2000">
                <a:solidFill>
                  <a:srgbClr val="27251F"/>
                </a:solidFill>
                <a:latin typeface="Inter"/>
                <a:ea typeface="Inter"/>
                <a:cs typeface="Inter"/>
                <a:sym typeface="Inter"/>
              </a:rPr>
              <a:t>Channel × segment ROI heatmap with sensitivity ranges, refreshed monthly.</a:t>
            </a:r>
          </a:p>
        </p:txBody>
      </p:sp>
      <p:sp>
        <p:nvSpPr>
          <p:cNvPr name="AutoShape 22" id="22"/>
          <p:cNvSpPr/>
          <p:nvPr/>
        </p:nvSpPr>
        <p:spPr>
          <a:xfrm flipH="true">
            <a:off x="5926934" y="4331498"/>
            <a:ext cx="0" cy="4124612"/>
          </a:xfrm>
          <a:prstGeom prst="line">
            <a:avLst/>
          </a:prstGeom>
          <a:ln cap="flat" w="38100">
            <a:solidFill>
              <a:srgbClr val="006241"/>
            </a:solidFill>
            <a:prstDash val="solid"/>
            <a:headEnd type="none" len="sm" w="sm"/>
            <a:tailEnd type="none" len="sm" w="sm"/>
          </a:ln>
        </p:spPr>
      </p:sp>
      <p:sp>
        <p:nvSpPr>
          <p:cNvPr name="AutoShape 23" id="23"/>
          <p:cNvSpPr/>
          <p:nvPr/>
        </p:nvSpPr>
        <p:spPr>
          <a:xfrm flipH="true">
            <a:off x="12125837" y="4331498"/>
            <a:ext cx="0" cy="4124612"/>
          </a:xfrm>
          <a:prstGeom prst="line">
            <a:avLst/>
          </a:prstGeom>
          <a:ln cap="flat" w="38100">
            <a:solidFill>
              <a:srgbClr val="006241"/>
            </a:solidFill>
            <a:prstDash val="solid"/>
            <a:headEnd type="none" len="sm" w="sm"/>
            <a:tailEnd type="none" len="sm" w="sm"/>
          </a:ln>
        </p:spPr>
      </p:sp>
      <p:sp>
        <p:nvSpPr>
          <p:cNvPr name="TextBox 24" id="24"/>
          <p:cNvSpPr txBox="true"/>
          <p:nvPr/>
        </p:nvSpPr>
        <p:spPr>
          <a:xfrm rot="0">
            <a:off x="3173425" y="9759560"/>
            <a:ext cx="11933634" cy="273685"/>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Inter"/>
                <a:ea typeface="Inter"/>
                <a:cs typeface="Inter"/>
                <a:sym typeface="Inter"/>
              </a:rPr>
              <a:t>Wang, T. (2016) 'Why Big Data Needs Thick Data', Ethnography Matters [Blog]. Available at: medium.com/ethnography-matters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12530400" y="2140461"/>
            <a:ext cx="5289480" cy="7220048"/>
          </a:xfrm>
          <a:custGeom>
            <a:avLst/>
            <a:gdLst/>
            <a:ahLst/>
            <a:cxnLst/>
            <a:rect r="r" b="b" t="t" l="l"/>
            <a:pathLst>
              <a:path h="7220048" w="5289480">
                <a:moveTo>
                  <a:pt x="0" y="0"/>
                </a:moveTo>
                <a:lnTo>
                  <a:pt x="5289481" y="0"/>
                </a:lnTo>
                <a:lnTo>
                  <a:pt x="5289481" y="7220048"/>
                </a:lnTo>
                <a:lnTo>
                  <a:pt x="0" y="7220048"/>
                </a:lnTo>
                <a:lnTo>
                  <a:pt x="0" y="0"/>
                </a:lnTo>
                <a:close/>
              </a:path>
            </a:pathLst>
          </a:custGeom>
          <a:blipFill>
            <a:blip r:embed="rId2"/>
            <a:stretch>
              <a:fillRect l="-2549" t="-2513" r="-2549" b="-2513"/>
            </a:stretch>
          </a:blipFill>
        </p:spPr>
      </p:sp>
      <p:sp>
        <p:nvSpPr>
          <p:cNvPr name="TextBox 3" id="3"/>
          <p:cNvSpPr txBox="true"/>
          <p:nvPr/>
        </p:nvSpPr>
        <p:spPr>
          <a:xfrm rot="0">
            <a:off x="1028700" y="676275"/>
            <a:ext cx="4444603"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STP AT SCALE</a:t>
            </a:r>
          </a:p>
        </p:txBody>
      </p:sp>
      <p:sp>
        <p:nvSpPr>
          <p:cNvPr name="TextBox 4" id="4"/>
          <p:cNvSpPr txBox="true"/>
          <p:nvPr/>
        </p:nvSpPr>
        <p:spPr>
          <a:xfrm rot="0">
            <a:off x="1028700" y="1795555"/>
            <a:ext cx="548680" cy="1108075"/>
          </a:xfrm>
          <a:prstGeom prst="rect">
            <a:avLst/>
          </a:prstGeom>
        </p:spPr>
        <p:txBody>
          <a:bodyPr anchor="t" rtlCol="false" tIns="0" lIns="0" bIns="0" rIns="0">
            <a:spAutoFit/>
          </a:bodyPr>
          <a:lstStyle/>
          <a:p>
            <a:pPr algn="l">
              <a:lnSpc>
                <a:spcPts val="8639"/>
              </a:lnSpc>
              <a:spcBef>
                <a:spcPct val="0"/>
              </a:spcBef>
            </a:pPr>
            <a:r>
              <a:rPr lang="en-US" b="true" sz="7199" i="true">
                <a:solidFill>
                  <a:srgbClr val="C8A14B"/>
                </a:solidFill>
                <a:latin typeface="Lora Bold Italics"/>
                <a:ea typeface="Lora Bold Italics"/>
                <a:cs typeface="Lora Bold Italics"/>
                <a:sym typeface="Lora Bold Italics"/>
              </a:rPr>
              <a:t>S</a:t>
            </a:r>
          </a:p>
        </p:txBody>
      </p:sp>
      <p:sp>
        <p:nvSpPr>
          <p:cNvPr name="TextBox 5" id="5"/>
          <p:cNvSpPr txBox="true"/>
          <p:nvPr/>
        </p:nvSpPr>
        <p:spPr>
          <a:xfrm rot="0">
            <a:off x="2206595" y="2109880"/>
            <a:ext cx="2995117" cy="409575"/>
          </a:xfrm>
          <a:prstGeom prst="rect">
            <a:avLst/>
          </a:prstGeom>
        </p:spPr>
        <p:txBody>
          <a:bodyPr anchor="t" rtlCol="false" tIns="0" lIns="0" bIns="0" rIns="0">
            <a:spAutoFit/>
          </a:bodyPr>
          <a:lstStyle/>
          <a:p>
            <a:pPr algn="l">
              <a:lnSpc>
                <a:spcPts val="3359"/>
              </a:lnSpc>
              <a:spcBef>
                <a:spcPct val="0"/>
              </a:spcBef>
            </a:pPr>
            <a:r>
              <a:rPr lang="en-US" b="true" sz="2799">
                <a:solidFill>
                  <a:srgbClr val="006241"/>
                </a:solidFill>
                <a:latin typeface="Montserrat Bold"/>
                <a:ea typeface="Montserrat Bold"/>
                <a:cs typeface="Montserrat Bold"/>
                <a:sym typeface="Montserrat Bold"/>
              </a:rPr>
              <a:t>SEGMENTATION</a:t>
            </a:r>
          </a:p>
        </p:txBody>
      </p:sp>
      <p:sp>
        <p:nvSpPr>
          <p:cNvPr name="TextBox 6" id="6"/>
          <p:cNvSpPr txBox="true"/>
          <p:nvPr/>
        </p:nvSpPr>
        <p:spPr>
          <a:xfrm rot="0">
            <a:off x="2206595" y="2639268"/>
            <a:ext cx="8733532" cy="1758950"/>
          </a:xfrm>
          <a:prstGeom prst="rect">
            <a:avLst/>
          </a:prstGeom>
        </p:spPr>
        <p:txBody>
          <a:bodyPr anchor="t" rtlCol="false" tIns="0" lIns="0" bIns="0" rIns="0">
            <a:spAutoFit/>
          </a:bodyPr>
          <a:lstStyle/>
          <a:p>
            <a:pPr algn="l">
              <a:lnSpc>
                <a:spcPts val="2800"/>
              </a:lnSpc>
            </a:pPr>
            <a:r>
              <a:rPr lang="en-US" b="true" sz="2000">
                <a:solidFill>
                  <a:srgbClr val="006241"/>
                </a:solidFill>
                <a:latin typeface="Inter Bold"/>
                <a:ea typeface="Inter Bold"/>
                <a:cs typeface="Inter Bold"/>
                <a:sym typeface="Inter Bold"/>
              </a:rPr>
              <a:t>Anchor Loyalists</a:t>
            </a:r>
            <a:r>
              <a:rPr lang="en-US" sz="2000">
                <a:solidFill>
                  <a:srgbClr val="27251F"/>
                </a:solidFill>
                <a:latin typeface="Inter"/>
                <a:ea typeface="Inter"/>
                <a:cs typeface="Inter"/>
                <a:sym typeface="Inter"/>
              </a:rPr>
              <a:t> - High frequency, high spend, low promotional response</a:t>
            </a:r>
          </a:p>
          <a:p>
            <a:pPr algn="l">
              <a:lnSpc>
                <a:spcPts val="2800"/>
              </a:lnSpc>
            </a:pPr>
            <a:r>
              <a:rPr lang="en-US" b="true" sz="2000">
                <a:solidFill>
                  <a:srgbClr val="006241"/>
                </a:solidFill>
                <a:latin typeface="Inter Bold"/>
                <a:ea typeface="Inter Bold"/>
                <a:cs typeface="Inter Bold"/>
                <a:sym typeface="Inter Bold"/>
              </a:rPr>
              <a:t>Habitual Routines</a:t>
            </a:r>
            <a:r>
              <a:rPr lang="en-US" sz="2000">
                <a:solidFill>
                  <a:srgbClr val="27251F"/>
                </a:solidFill>
                <a:latin typeface="Inter"/>
                <a:ea typeface="Inter"/>
                <a:cs typeface="Inter"/>
                <a:sym typeface="Inter"/>
              </a:rPr>
              <a:t> - Stable cadence, predictable patterns</a:t>
            </a:r>
          </a:p>
          <a:p>
            <a:pPr algn="l">
              <a:lnSpc>
                <a:spcPts val="2800"/>
              </a:lnSpc>
            </a:pPr>
            <a:r>
              <a:rPr lang="en-US" b="true" sz="2000">
                <a:solidFill>
                  <a:srgbClr val="006241"/>
                </a:solidFill>
                <a:latin typeface="Inter Bold"/>
                <a:ea typeface="Inter Bold"/>
                <a:cs typeface="Inter Bold"/>
                <a:sym typeface="Inter Bold"/>
              </a:rPr>
              <a:t>Value Seekers</a:t>
            </a:r>
            <a:r>
              <a:rPr lang="en-US" sz="2000">
                <a:solidFill>
                  <a:srgbClr val="27251F"/>
                </a:solidFill>
                <a:latin typeface="Inter"/>
                <a:ea typeface="Inter"/>
                <a:cs typeface="Inter"/>
                <a:sym typeface="Inter"/>
              </a:rPr>
              <a:t> - Promotion-driven, frequency follows offers</a:t>
            </a:r>
          </a:p>
          <a:p>
            <a:pPr algn="l">
              <a:lnSpc>
                <a:spcPts val="2800"/>
              </a:lnSpc>
            </a:pPr>
            <a:r>
              <a:rPr lang="en-US" b="true" sz="2000">
                <a:solidFill>
                  <a:srgbClr val="006241"/>
                </a:solidFill>
                <a:latin typeface="Inter Bold"/>
                <a:ea typeface="Inter Bold"/>
                <a:cs typeface="Inter Bold"/>
                <a:sym typeface="Inter Bold"/>
              </a:rPr>
              <a:t>Lapsing Members</a:t>
            </a:r>
            <a:r>
              <a:rPr lang="en-US" sz="2000">
                <a:solidFill>
                  <a:srgbClr val="27251F"/>
                </a:solidFill>
                <a:latin typeface="Inter"/>
                <a:ea typeface="Inter"/>
                <a:cs typeface="Inter"/>
                <a:sym typeface="Inter"/>
              </a:rPr>
              <a:t> - Declining frequency, churn risk window open</a:t>
            </a:r>
          </a:p>
          <a:p>
            <a:pPr algn="l">
              <a:lnSpc>
                <a:spcPts val="2800"/>
              </a:lnSpc>
            </a:pPr>
            <a:r>
              <a:rPr lang="en-US" b="true" sz="2000">
                <a:solidFill>
                  <a:srgbClr val="006241"/>
                </a:solidFill>
                <a:latin typeface="Inter Bold"/>
                <a:ea typeface="Inter Bold"/>
                <a:cs typeface="Inter Bold"/>
                <a:sym typeface="Inter Bold"/>
              </a:rPr>
              <a:t>Occasional Visitors</a:t>
            </a:r>
            <a:r>
              <a:rPr lang="en-US" sz="2000">
                <a:solidFill>
                  <a:srgbClr val="27251F"/>
                </a:solidFill>
                <a:latin typeface="Inter"/>
                <a:ea typeface="Inter"/>
                <a:cs typeface="Inter"/>
                <a:sym typeface="Inter"/>
              </a:rPr>
              <a:t> - Sporadic, low engagement, low cost-to-serve</a:t>
            </a:r>
          </a:p>
        </p:txBody>
      </p:sp>
      <p:sp>
        <p:nvSpPr>
          <p:cNvPr name="TextBox 7" id="7"/>
          <p:cNvSpPr txBox="true"/>
          <p:nvPr/>
        </p:nvSpPr>
        <p:spPr>
          <a:xfrm rot="0">
            <a:off x="1028700" y="4642410"/>
            <a:ext cx="592534" cy="1108075"/>
          </a:xfrm>
          <a:prstGeom prst="rect">
            <a:avLst/>
          </a:prstGeom>
        </p:spPr>
        <p:txBody>
          <a:bodyPr anchor="t" rtlCol="false" tIns="0" lIns="0" bIns="0" rIns="0">
            <a:spAutoFit/>
          </a:bodyPr>
          <a:lstStyle/>
          <a:p>
            <a:pPr algn="l">
              <a:lnSpc>
                <a:spcPts val="8639"/>
              </a:lnSpc>
              <a:spcBef>
                <a:spcPct val="0"/>
              </a:spcBef>
            </a:pPr>
            <a:r>
              <a:rPr lang="en-US" b="true" sz="7199" i="true">
                <a:solidFill>
                  <a:srgbClr val="C8A14B"/>
                </a:solidFill>
                <a:latin typeface="Lora Bold Italics"/>
                <a:ea typeface="Lora Bold Italics"/>
                <a:cs typeface="Lora Bold Italics"/>
                <a:sym typeface="Lora Bold Italics"/>
              </a:rPr>
              <a:t>T</a:t>
            </a:r>
          </a:p>
        </p:txBody>
      </p:sp>
      <p:sp>
        <p:nvSpPr>
          <p:cNvPr name="TextBox 8" id="8"/>
          <p:cNvSpPr txBox="true"/>
          <p:nvPr/>
        </p:nvSpPr>
        <p:spPr>
          <a:xfrm rot="0">
            <a:off x="2206595" y="4956735"/>
            <a:ext cx="2151360" cy="409575"/>
          </a:xfrm>
          <a:prstGeom prst="rect">
            <a:avLst/>
          </a:prstGeom>
        </p:spPr>
        <p:txBody>
          <a:bodyPr anchor="t" rtlCol="false" tIns="0" lIns="0" bIns="0" rIns="0">
            <a:spAutoFit/>
          </a:bodyPr>
          <a:lstStyle/>
          <a:p>
            <a:pPr algn="l">
              <a:lnSpc>
                <a:spcPts val="3359"/>
              </a:lnSpc>
              <a:spcBef>
                <a:spcPct val="0"/>
              </a:spcBef>
            </a:pPr>
            <a:r>
              <a:rPr lang="en-US" b="true" sz="2799">
                <a:solidFill>
                  <a:srgbClr val="006241"/>
                </a:solidFill>
                <a:latin typeface="Montserrat Bold"/>
                <a:ea typeface="Montserrat Bold"/>
                <a:cs typeface="Montserrat Bold"/>
                <a:sym typeface="Montserrat Bold"/>
              </a:rPr>
              <a:t>TARGETING</a:t>
            </a:r>
          </a:p>
        </p:txBody>
      </p:sp>
      <p:sp>
        <p:nvSpPr>
          <p:cNvPr name="TextBox 9" id="9"/>
          <p:cNvSpPr txBox="true"/>
          <p:nvPr/>
        </p:nvSpPr>
        <p:spPr>
          <a:xfrm rot="0">
            <a:off x="2206595" y="5486123"/>
            <a:ext cx="11377962" cy="1406525"/>
          </a:xfrm>
          <a:prstGeom prst="rect">
            <a:avLst/>
          </a:prstGeom>
        </p:spPr>
        <p:txBody>
          <a:bodyPr anchor="t" rtlCol="false" tIns="0" lIns="0" bIns="0" rIns="0">
            <a:spAutoFit/>
          </a:bodyPr>
          <a:lstStyle/>
          <a:p>
            <a:pPr algn="l">
              <a:lnSpc>
                <a:spcPts val="2800"/>
              </a:lnSpc>
            </a:pPr>
            <a:r>
              <a:rPr lang="en-US" sz="2000" b="true">
                <a:solidFill>
                  <a:srgbClr val="006241"/>
                </a:solidFill>
                <a:latin typeface="Inter Bold"/>
                <a:ea typeface="Inter Bold"/>
                <a:cs typeface="Inter Bold"/>
                <a:sym typeface="Inter Bold"/>
              </a:rPr>
              <a:t>Lapsing Members</a:t>
            </a:r>
            <a:r>
              <a:rPr lang="en-US" sz="2000">
                <a:solidFill>
                  <a:srgbClr val="27251F"/>
                </a:solidFill>
                <a:latin typeface="Inter"/>
                <a:ea typeface="Inter"/>
                <a:cs typeface="Inter"/>
                <a:sym typeface="Inter"/>
              </a:rPr>
              <a:t> - Retention focus. Highest-impact 30-day intervention window. </a:t>
            </a:r>
          </a:p>
          <a:p>
            <a:pPr algn="l">
              <a:lnSpc>
                <a:spcPts val="2800"/>
              </a:lnSpc>
            </a:pPr>
            <a:r>
              <a:rPr lang="en-US" sz="2000" b="true">
                <a:solidFill>
                  <a:srgbClr val="006241"/>
                </a:solidFill>
                <a:latin typeface="Inter Bold"/>
                <a:ea typeface="Inter Bold"/>
                <a:cs typeface="Inter Bold"/>
                <a:sym typeface="Inter Bold"/>
              </a:rPr>
              <a:t>Habitual Routines</a:t>
            </a:r>
            <a:r>
              <a:rPr lang="en-US" sz="2000">
                <a:solidFill>
                  <a:srgbClr val="27251F"/>
                </a:solidFill>
                <a:latin typeface="Inter"/>
                <a:ea typeface="Inter"/>
                <a:cs typeface="Inter"/>
                <a:sym typeface="Inter"/>
              </a:rPr>
              <a:t> -  Frequency lift focus. Dormant frequency capacity most easily activated.</a:t>
            </a:r>
          </a:p>
          <a:p>
            <a:pPr algn="l">
              <a:lnSpc>
                <a:spcPts val="2800"/>
              </a:lnSpc>
            </a:pPr>
            <a:r>
              <a:rPr lang="en-US" sz="2000" i="true">
                <a:solidFill>
                  <a:srgbClr val="27251F"/>
                </a:solidFill>
                <a:latin typeface="Inter Italics"/>
                <a:ea typeface="Inter Italics"/>
                <a:cs typeface="Inter Italics"/>
                <a:sym typeface="Inter Italics"/>
              </a:rPr>
              <a:t>Anchor Loyalists already maximised. Value Seekers and Occasional Visitors handled at lower priority.</a:t>
            </a:r>
          </a:p>
        </p:txBody>
      </p:sp>
      <p:sp>
        <p:nvSpPr>
          <p:cNvPr name="TextBox 10" id="10"/>
          <p:cNvSpPr txBox="true"/>
          <p:nvPr/>
        </p:nvSpPr>
        <p:spPr>
          <a:xfrm rot="0">
            <a:off x="1028700" y="7136840"/>
            <a:ext cx="577949" cy="1108075"/>
          </a:xfrm>
          <a:prstGeom prst="rect">
            <a:avLst/>
          </a:prstGeom>
        </p:spPr>
        <p:txBody>
          <a:bodyPr anchor="t" rtlCol="false" tIns="0" lIns="0" bIns="0" rIns="0">
            <a:spAutoFit/>
          </a:bodyPr>
          <a:lstStyle/>
          <a:p>
            <a:pPr algn="l">
              <a:lnSpc>
                <a:spcPts val="8639"/>
              </a:lnSpc>
              <a:spcBef>
                <a:spcPct val="0"/>
              </a:spcBef>
            </a:pPr>
            <a:r>
              <a:rPr lang="en-US" b="true" sz="7199" i="true">
                <a:solidFill>
                  <a:srgbClr val="C8A14B"/>
                </a:solidFill>
                <a:latin typeface="Lora Bold Italics"/>
                <a:ea typeface="Lora Bold Italics"/>
                <a:cs typeface="Lora Bold Italics"/>
                <a:sym typeface="Lora Bold Italics"/>
              </a:rPr>
              <a:t>P</a:t>
            </a:r>
          </a:p>
        </p:txBody>
      </p:sp>
      <p:sp>
        <p:nvSpPr>
          <p:cNvPr name="TextBox 11" id="11"/>
          <p:cNvSpPr txBox="true"/>
          <p:nvPr/>
        </p:nvSpPr>
        <p:spPr>
          <a:xfrm rot="0">
            <a:off x="2206595" y="7451165"/>
            <a:ext cx="2505472" cy="409575"/>
          </a:xfrm>
          <a:prstGeom prst="rect">
            <a:avLst/>
          </a:prstGeom>
        </p:spPr>
        <p:txBody>
          <a:bodyPr anchor="t" rtlCol="false" tIns="0" lIns="0" bIns="0" rIns="0">
            <a:spAutoFit/>
          </a:bodyPr>
          <a:lstStyle/>
          <a:p>
            <a:pPr algn="l">
              <a:lnSpc>
                <a:spcPts val="3359"/>
              </a:lnSpc>
              <a:spcBef>
                <a:spcPct val="0"/>
              </a:spcBef>
            </a:pPr>
            <a:r>
              <a:rPr lang="en-US" b="true" sz="2799">
                <a:solidFill>
                  <a:srgbClr val="006241"/>
                </a:solidFill>
                <a:latin typeface="Montserrat Bold"/>
                <a:ea typeface="Montserrat Bold"/>
                <a:cs typeface="Montserrat Bold"/>
                <a:sym typeface="Montserrat Bold"/>
              </a:rPr>
              <a:t>POSITIONING</a:t>
            </a:r>
          </a:p>
        </p:txBody>
      </p:sp>
      <p:sp>
        <p:nvSpPr>
          <p:cNvPr name="TextBox 12" id="12"/>
          <p:cNvSpPr txBox="true"/>
          <p:nvPr/>
        </p:nvSpPr>
        <p:spPr>
          <a:xfrm rot="0">
            <a:off x="2206595" y="7980553"/>
            <a:ext cx="7498953" cy="1758950"/>
          </a:xfrm>
          <a:prstGeom prst="rect">
            <a:avLst/>
          </a:prstGeom>
        </p:spPr>
        <p:txBody>
          <a:bodyPr anchor="t" rtlCol="false" tIns="0" lIns="0" bIns="0" rIns="0">
            <a:spAutoFit/>
          </a:bodyPr>
          <a:lstStyle/>
          <a:p>
            <a:pPr algn="l">
              <a:lnSpc>
                <a:spcPts val="2800"/>
              </a:lnSpc>
            </a:pPr>
            <a:r>
              <a:rPr lang="en-US" b="true" sz="2000">
                <a:solidFill>
                  <a:srgbClr val="006241"/>
                </a:solidFill>
                <a:latin typeface="Inter Bold"/>
                <a:ea typeface="Inter Bold"/>
                <a:cs typeface="Inter Bold"/>
                <a:sym typeface="Inter Bold"/>
              </a:rPr>
              <a:t>Anchor Loyalists</a:t>
            </a:r>
            <a:r>
              <a:rPr lang="en-US" sz="2000">
                <a:solidFill>
                  <a:srgbClr val="27251F"/>
                </a:solidFill>
                <a:latin typeface="Inter"/>
                <a:ea typeface="Inter"/>
                <a:cs typeface="Inter"/>
                <a:sym typeface="Inter"/>
              </a:rPr>
              <a:t> - Recognise loyalty. Reinforce ritual.</a:t>
            </a:r>
          </a:p>
          <a:p>
            <a:pPr algn="l">
              <a:lnSpc>
                <a:spcPts val="2800"/>
              </a:lnSpc>
            </a:pPr>
            <a:r>
              <a:rPr lang="en-US" b="true" sz="2000">
                <a:solidFill>
                  <a:srgbClr val="006241"/>
                </a:solidFill>
                <a:latin typeface="Inter Bold"/>
                <a:ea typeface="Inter Bold"/>
                <a:cs typeface="Inter Bold"/>
                <a:sym typeface="Inter Bold"/>
              </a:rPr>
              <a:t>Habitual Routines</a:t>
            </a:r>
            <a:r>
              <a:rPr lang="en-US" sz="2000">
                <a:solidFill>
                  <a:srgbClr val="27251F"/>
                </a:solidFill>
                <a:latin typeface="Inter"/>
                <a:ea typeface="Inter"/>
                <a:cs typeface="Inter"/>
                <a:sym typeface="Inter"/>
              </a:rPr>
              <a:t> - Make the routine more valuable. </a:t>
            </a:r>
          </a:p>
          <a:p>
            <a:pPr algn="l">
              <a:lnSpc>
                <a:spcPts val="2800"/>
              </a:lnSpc>
            </a:pPr>
            <a:r>
              <a:rPr lang="en-US" b="true" sz="2000">
                <a:solidFill>
                  <a:srgbClr val="006241"/>
                </a:solidFill>
                <a:latin typeface="Inter Bold"/>
                <a:ea typeface="Inter Bold"/>
                <a:cs typeface="Inter Bold"/>
                <a:sym typeface="Inter Bold"/>
              </a:rPr>
              <a:t>Value Seekers</a:t>
            </a:r>
            <a:r>
              <a:rPr lang="en-US" sz="2000">
                <a:solidFill>
                  <a:srgbClr val="27251F"/>
                </a:solidFill>
                <a:latin typeface="Inter"/>
                <a:ea typeface="Inter"/>
                <a:cs typeface="Inter"/>
                <a:sym typeface="Inter"/>
              </a:rPr>
              <a:t> - Lead with offer relevance. </a:t>
            </a:r>
          </a:p>
          <a:p>
            <a:pPr algn="l">
              <a:lnSpc>
                <a:spcPts val="2800"/>
              </a:lnSpc>
            </a:pPr>
            <a:r>
              <a:rPr lang="en-US" b="true" sz="2000">
                <a:solidFill>
                  <a:srgbClr val="006241"/>
                </a:solidFill>
                <a:latin typeface="Inter Bold"/>
                <a:ea typeface="Inter Bold"/>
                <a:cs typeface="Inter Bold"/>
                <a:sym typeface="Inter Bold"/>
              </a:rPr>
              <a:t>Lapsing Members</a:t>
            </a:r>
            <a:r>
              <a:rPr lang="en-US" sz="2000">
                <a:solidFill>
                  <a:srgbClr val="27251F"/>
                </a:solidFill>
                <a:latin typeface="Inter"/>
                <a:ea typeface="Inter"/>
                <a:cs typeface="Inter"/>
                <a:sym typeface="Inter"/>
              </a:rPr>
              <a:t> - Recognise the gap. Curate a return reason.</a:t>
            </a:r>
          </a:p>
          <a:p>
            <a:pPr algn="l">
              <a:lnSpc>
                <a:spcPts val="2800"/>
              </a:lnSpc>
            </a:pPr>
            <a:r>
              <a:rPr lang="en-US" b="true" sz="2000">
                <a:solidFill>
                  <a:srgbClr val="006241"/>
                </a:solidFill>
                <a:latin typeface="Inter Bold"/>
                <a:ea typeface="Inter Bold"/>
                <a:cs typeface="Inter Bold"/>
                <a:sym typeface="Inter Bold"/>
              </a:rPr>
              <a:t>Occasional Visitors</a:t>
            </a:r>
            <a:r>
              <a:rPr lang="en-US" sz="2000">
                <a:solidFill>
                  <a:srgbClr val="27251F"/>
                </a:solidFill>
                <a:latin typeface="Inter"/>
                <a:ea typeface="Inter"/>
                <a:cs typeface="Inter"/>
                <a:sym typeface="Inter"/>
              </a:rPr>
              <a:t> - Reach efficiently. Paid acquisition only.</a:t>
            </a:r>
          </a:p>
        </p:txBody>
      </p:sp>
      <p:sp>
        <p:nvSpPr>
          <p:cNvPr name="TextBox 13" id="13"/>
          <p:cNvSpPr txBox="true"/>
          <p:nvPr/>
        </p:nvSpPr>
        <p:spPr>
          <a:xfrm rot="0">
            <a:off x="11466259" y="9710928"/>
            <a:ext cx="6353621" cy="280670"/>
          </a:xfrm>
          <a:prstGeom prst="rect">
            <a:avLst/>
          </a:prstGeom>
        </p:spPr>
        <p:txBody>
          <a:bodyPr anchor="t" rtlCol="false" tIns="0" lIns="0" bIns="0" rIns="0">
            <a:spAutoFit/>
          </a:bodyPr>
          <a:lstStyle/>
          <a:p>
            <a:pPr algn="ctr">
              <a:lnSpc>
                <a:spcPts val="2380"/>
              </a:lnSpc>
              <a:spcBef>
                <a:spcPct val="0"/>
              </a:spcBef>
            </a:pPr>
            <a:r>
              <a:rPr lang="en-US" sz="1700">
                <a:solidFill>
                  <a:srgbClr val="000000"/>
                </a:solidFill>
                <a:latin typeface="Inter"/>
                <a:ea typeface="Inter"/>
                <a:cs typeface="Inter"/>
                <a:sym typeface="Inter"/>
              </a:rPr>
              <a:t>Smith, A. (2019) Consumer Behaviour and Analytics. Routledge.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8118629" y="4909897"/>
            <a:ext cx="1908718" cy="1918310"/>
          </a:xfrm>
          <a:custGeom>
            <a:avLst/>
            <a:gdLst/>
            <a:ahLst/>
            <a:cxnLst/>
            <a:rect r="r" b="b" t="t" l="l"/>
            <a:pathLst>
              <a:path h="1918310" w="1908718">
                <a:moveTo>
                  <a:pt x="0" y="0"/>
                </a:moveTo>
                <a:lnTo>
                  <a:pt x="1908718" y="0"/>
                </a:lnTo>
                <a:lnTo>
                  <a:pt x="1908718" y="1918310"/>
                </a:lnTo>
                <a:lnTo>
                  <a:pt x="0" y="1918310"/>
                </a:lnTo>
                <a:lnTo>
                  <a:pt x="0" y="0"/>
                </a:lnTo>
                <a:close/>
              </a:path>
            </a:pathLst>
          </a:custGeom>
          <a:blipFill>
            <a:blip r:embed="rId2"/>
            <a:stretch>
              <a:fillRect l="0" t="0" r="0" b="0"/>
            </a:stretch>
          </a:blipFill>
        </p:spPr>
      </p:sp>
      <p:grpSp>
        <p:nvGrpSpPr>
          <p:cNvPr name="Group 3" id="3"/>
          <p:cNvGrpSpPr/>
          <p:nvPr/>
        </p:nvGrpSpPr>
        <p:grpSpPr>
          <a:xfrm rot="0">
            <a:off x="2679378" y="2526235"/>
            <a:ext cx="4420254" cy="1860190"/>
            <a:chOff x="0" y="0"/>
            <a:chExt cx="1203960" cy="506667"/>
          </a:xfrm>
        </p:grpSpPr>
        <p:sp>
          <p:nvSpPr>
            <p:cNvPr name="Freeform 4" id="4"/>
            <p:cNvSpPr/>
            <p:nvPr/>
          </p:nvSpPr>
          <p:spPr>
            <a:xfrm flipH="false" flipV="false" rot="0">
              <a:off x="0" y="0"/>
              <a:ext cx="1203960" cy="506667"/>
            </a:xfrm>
            <a:custGeom>
              <a:avLst/>
              <a:gdLst/>
              <a:ahLst/>
              <a:cxnLst/>
              <a:rect r="r" b="b" t="t" l="l"/>
              <a:pathLst>
                <a:path h="506667" w="1203960">
                  <a:moveTo>
                    <a:pt x="26272" y="0"/>
                  </a:moveTo>
                  <a:lnTo>
                    <a:pt x="1177688" y="0"/>
                  </a:lnTo>
                  <a:cubicBezTo>
                    <a:pt x="1192198" y="0"/>
                    <a:pt x="1203960" y="11762"/>
                    <a:pt x="1203960" y="26272"/>
                  </a:cubicBezTo>
                  <a:lnTo>
                    <a:pt x="1203960" y="480395"/>
                  </a:lnTo>
                  <a:cubicBezTo>
                    <a:pt x="1203960" y="487362"/>
                    <a:pt x="1201192" y="494045"/>
                    <a:pt x="1196265" y="498972"/>
                  </a:cubicBezTo>
                  <a:cubicBezTo>
                    <a:pt x="1191338" y="503899"/>
                    <a:pt x="1184656" y="506667"/>
                    <a:pt x="1177688" y="506667"/>
                  </a:cubicBezTo>
                  <a:lnTo>
                    <a:pt x="26272" y="506667"/>
                  </a:lnTo>
                  <a:cubicBezTo>
                    <a:pt x="11762" y="506667"/>
                    <a:pt x="0" y="494904"/>
                    <a:pt x="0" y="480395"/>
                  </a:cubicBezTo>
                  <a:lnTo>
                    <a:pt x="0" y="26272"/>
                  </a:lnTo>
                  <a:cubicBezTo>
                    <a:pt x="0" y="11762"/>
                    <a:pt x="11762" y="0"/>
                    <a:pt x="26272" y="0"/>
                  </a:cubicBezTo>
                  <a:close/>
                </a:path>
              </a:pathLst>
            </a:custGeom>
            <a:solidFill>
              <a:srgbClr val="6B6B5E"/>
            </a:solidFill>
            <a:ln cap="sq">
              <a:noFill/>
              <a:prstDash val="solid"/>
              <a:miter/>
            </a:ln>
          </p:spPr>
        </p:sp>
        <p:sp>
          <p:nvSpPr>
            <p:cNvPr name="TextBox 5" id="5"/>
            <p:cNvSpPr txBox="true"/>
            <p:nvPr/>
          </p:nvSpPr>
          <p:spPr>
            <a:xfrm>
              <a:off x="0" y="-38100"/>
              <a:ext cx="1203960" cy="544767"/>
            </a:xfrm>
            <a:prstGeom prst="rect">
              <a:avLst/>
            </a:prstGeom>
          </p:spPr>
          <p:txBody>
            <a:bodyPr anchor="ctr" rtlCol="false" tIns="0" lIns="0" bIns="0" rIns="0"/>
            <a:lstStyle/>
            <a:p>
              <a:pPr algn="ctr">
                <a:lnSpc>
                  <a:spcPts val="1679"/>
                </a:lnSpc>
                <a:spcBef>
                  <a:spcPct val="0"/>
                </a:spcBef>
              </a:pPr>
            </a:p>
          </p:txBody>
        </p:sp>
      </p:grpSp>
      <p:grpSp>
        <p:nvGrpSpPr>
          <p:cNvPr name="Group 6" id="6"/>
          <p:cNvGrpSpPr/>
          <p:nvPr/>
        </p:nvGrpSpPr>
        <p:grpSpPr>
          <a:xfrm rot="0">
            <a:off x="1298048" y="4901407"/>
            <a:ext cx="4420254" cy="1860190"/>
            <a:chOff x="0" y="0"/>
            <a:chExt cx="1203960" cy="506666"/>
          </a:xfrm>
        </p:grpSpPr>
        <p:sp>
          <p:nvSpPr>
            <p:cNvPr name="Freeform 7" id="7"/>
            <p:cNvSpPr/>
            <p:nvPr/>
          </p:nvSpPr>
          <p:spPr>
            <a:xfrm flipH="false" flipV="false" rot="0">
              <a:off x="0" y="0"/>
              <a:ext cx="1203960" cy="506667"/>
            </a:xfrm>
            <a:custGeom>
              <a:avLst/>
              <a:gdLst/>
              <a:ahLst/>
              <a:cxnLst/>
              <a:rect r="r" b="b" t="t" l="l"/>
              <a:pathLst>
                <a:path h="506667" w="1203960">
                  <a:moveTo>
                    <a:pt x="26272" y="0"/>
                  </a:moveTo>
                  <a:lnTo>
                    <a:pt x="1177688" y="0"/>
                  </a:lnTo>
                  <a:cubicBezTo>
                    <a:pt x="1192198" y="0"/>
                    <a:pt x="1203960" y="11762"/>
                    <a:pt x="1203960" y="26272"/>
                  </a:cubicBezTo>
                  <a:lnTo>
                    <a:pt x="1203960" y="480395"/>
                  </a:lnTo>
                  <a:cubicBezTo>
                    <a:pt x="1203960" y="487362"/>
                    <a:pt x="1201192" y="494045"/>
                    <a:pt x="1196265" y="498972"/>
                  </a:cubicBezTo>
                  <a:cubicBezTo>
                    <a:pt x="1191338" y="503899"/>
                    <a:pt x="1184656" y="506667"/>
                    <a:pt x="1177688" y="506667"/>
                  </a:cubicBezTo>
                  <a:lnTo>
                    <a:pt x="26272" y="506667"/>
                  </a:lnTo>
                  <a:cubicBezTo>
                    <a:pt x="11762" y="506667"/>
                    <a:pt x="0" y="494904"/>
                    <a:pt x="0" y="480395"/>
                  </a:cubicBezTo>
                  <a:lnTo>
                    <a:pt x="0" y="26272"/>
                  </a:lnTo>
                  <a:cubicBezTo>
                    <a:pt x="0" y="11762"/>
                    <a:pt x="11762" y="0"/>
                    <a:pt x="26272" y="0"/>
                  </a:cubicBezTo>
                  <a:close/>
                </a:path>
              </a:pathLst>
            </a:custGeom>
            <a:solidFill>
              <a:srgbClr val="6B6B5E"/>
            </a:solidFill>
            <a:ln cap="sq">
              <a:noFill/>
              <a:prstDash val="solid"/>
              <a:miter/>
            </a:ln>
          </p:spPr>
        </p:sp>
        <p:sp>
          <p:nvSpPr>
            <p:cNvPr name="TextBox 8" id="8"/>
            <p:cNvSpPr txBox="true"/>
            <p:nvPr/>
          </p:nvSpPr>
          <p:spPr>
            <a:xfrm>
              <a:off x="0" y="-38100"/>
              <a:ext cx="1203960" cy="544766"/>
            </a:xfrm>
            <a:prstGeom prst="rect">
              <a:avLst/>
            </a:prstGeom>
          </p:spPr>
          <p:txBody>
            <a:bodyPr anchor="ctr" rtlCol="false" tIns="0" lIns="0" bIns="0" rIns="0"/>
            <a:lstStyle/>
            <a:p>
              <a:pPr algn="ctr">
                <a:lnSpc>
                  <a:spcPts val="1679"/>
                </a:lnSpc>
                <a:spcBef>
                  <a:spcPct val="0"/>
                </a:spcBef>
              </a:pPr>
            </a:p>
          </p:txBody>
        </p:sp>
      </p:grpSp>
      <p:grpSp>
        <p:nvGrpSpPr>
          <p:cNvPr name="Group 9" id="9"/>
          <p:cNvGrpSpPr/>
          <p:nvPr/>
        </p:nvGrpSpPr>
        <p:grpSpPr>
          <a:xfrm rot="0">
            <a:off x="2062384" y="7277294"/>
            <a:ext cx="4420254" cy="1861448"/>
            <a:chOff x="0" y="0"/>
            <a:chExt cx="1203960" cy="507009"/>
          </a:xfrm>
        </p:grpSpPr>
        <p:sp>
          <p:nvSpPr>
            <p:cNvPr name="Freeform 10" id="10"/>
            <p:cNvSpPr/>
            <p:nvPr/>
          </p:nvSpPr>
          <p:spPr>
            <a:xfrm flipH="false" flipV="false" rot="0">
              <a:off x="0" y="0"/>
              <a:ext cx="1203960" cy="507009"/>
            </a:xfrm>
            <a:custGeom>
              <a:avLst/>
              <a:gdLst/>
              <a:ahLst/>
              <a:cxnLst/>
              <a:rect r="r" b="b" t="t" l="l"/>
              <a:pathLst>
                <a:path h="507009" w="1203960">
                  <a:moveTo>
                    <a:pt x="26272" y="0"/>
                  </a:moveTo>
                  <a:lnTo>
                    <a:pt x="1177688" y="0"/>
                  </a:lnTo>
                  <a:cubicBezTo>
                    <a:pt x="1192198" y="0"/>
                    <a:pt x="1203960" y="11762"/>
                    <a:pt x="1203960" y="26272"/>
                  </a:cubicBezTo>
                  <a:lnTo>
                    <a:pt x="1203960" y="480737"/>
                  </a:lnTo>
                  <a:cubicBezTo>
                    <a:pt x="1203960" y="487705"/>
                    <a:pt x="1201192" y="494387"/>
                    <a:pt x="1196265" y="499314"/>
                  </a:cubicBezTo>
                  <a:cubicBezTo>
                    <a:pt x="1191338" y="504241"/>
                    <a:pt x="1184656" y="507009"/>
                    <a:pt x="1177688" y="507009"/>
                  </a:cubicBezTo>
                  <a:lnTo>
                    <a:pt x="26272" y="507009"/>
                  </a:lnTo>
                  <a:cubicBezTo>
                    <a:pt x="11762" y="507009"/>
                    <a:pt x="0" y="495247"/>
                    <a:pt x="0" y="480737"/>
                  </a:cubicBezTo>
                  <a:lnTo>
                    <a:pt x="0" y="26272"/>
                  </a:lnTo>
                  <a:cubicBezTo>
                    <a:pt x="0" y="11762"/>
                    <a:pt x="11762" y="0"/>
                    <a:pt x="26272" y="0"/>
                  </a:cubicBezTo>
                  <a:close/>
                </a:path>
              </a:pathLst>
            </a:custGeom>
            <a:solidFill>
              <a:srgbClr val="006241"/>
            </a:solidFill>
            <a:ln cap="sq">
              <a:noFill/>
              <a:prstDash val="solid"/>
              <a:miter/>
            </a:ln>
          </p:spPr>
        </p:sp>
        <p:sp>
          <p:nvSpPr>
            <p:cNvPr name="TextBox 11" id="11"/>
            <p:cNvSpPr txBox="true"/>
            <p:nvPr/>
          </p:nvSpPr>
          <p:spPr>
            <a:xfrm>
              <a:off x="0" y="-38100"/>
              <a:ext cx="1203960" cy="545109"/>
            </a:xfrm>
            <a:prstGeom prst="rect">
              <a:avLst/>
            </a:prstGeom>
          </p:spPr>
          <p:txBody>
            <a:bodyPr anchor="ctr" rtlCol="false" tIns="0" lIns="0" bIns="0" rIns="0"/>
            <a:lstStyle/>
            <a:p>
              <a:pPr algn="ctr">
                <a:lnSpc>
                  <a:spcPts val="1679"/>
                </a:lnSpc>
                <a:spcBef>
                  <a:spcPct val="0"/>
                </a:spcBef>
              </a:pPr>
            </a:p>
          </p:txBody>
        </p:sp>
      </p:grpSp>
      <p:grpSp>
        <p:nvGrpSpPr>
          <p:cNvPr name="Group 12" id="12"/>
          <p:cNvGrpSpPr/>
          <p:nvPr/>
        </p:nvGrpSpPr>
        <p:grpSpPr>
          <a:xfrm rot="0">
            <a:off x="11446216" y="2526235"/>
            <a:ext cx="4420254" cy="1860190"/>
            <a:chOff x="0" y="0"/>
            <a:chExt cx="1203960" cy="506667"/>
          </a:xfrm>
        </p:grpSpPr>
        <p:sp>
          <p:nvSpPr>
            <p:cNvPr name="Freeform 13" id="13"/>
            <p:cNvSpPr/>
            <p:nvPr/>
          </p:nvSpPr>
          <p:spPr>
            <a:xfrm flipH="false" flipV="false" rot="0">
              <a:off x="0" y="0"/>
              <a:ext cx="1203960" cy="506667"/>
            </a:xfrm>
            <a:custGeom>
              <a:avLst/>
              <a:gdLst/>
              <a:ahLst/>
              <a:cxnLst/>
              <a:rect r="r" b="b" t="t" l="l"/>
              <a:pathLst>
                <a:path h="506667" w="1203960">
                  <a:moveTo>
                    <a:pt x="26272" y="0"/>
                  </a:moveTo>
                  <a:lnTo>
                    <a:pt x="1177688" y="0"/>
                  </a:lnTo>
                  <a:cubicBezTo>
                    <a:pt x="1192198" y="0"/>
                    <a:pt x="1203960" y="11762"/>
                    <a:pt x="1203960" y="26272"/>
                  </a:cubicBezTo>
                  <a:lnTo>
                    <a:pt x="1203960" y="480395"/>
                  </a:lnTo>
                  <a:cubicBezTo>
                    <a:pt x="1203960" y="487362"/>
                    <a:pt x="1201192" y="494045"/>
                    <a:pt x="1196265" y="498972"/>
                  </a:cubicBezTo>
                  <a:cubicBezTo>
                    <a:pt x="1191338" y="503899"/>
                    <a:pt x="1184656" y="506667"/>
                    <a:pt x="1177688" y="506667"/>
                  </a:cubicBezTo>
                  <a:lnTo>
                    <a:pt x="26272" y="506667"/>
                  </a:lnTo>
                  <a:cubicBezTo>
                    <a:pt x="11762" y="506667"/>
                    <a:pt x="0" y="494904"/>
                    <a:pt x="0" y="480395"/>
                  </a:cubicBezTo>
                  <a:lnTo>
                    <a:pt x="0" y="26272"/>
                  </a:lnTo>
                  <a:cubicBezTo>
                    <a:pt x="0" y="11762"/>
                    <a:pt x="11762" y="0"/>
                    <a:pt x="26272" y="0"/>
                  </a:cubicBezTo>
                  <a:close/>
                </a:path>
              </a:pathLst>
            </a:custGeom>
            <a:solidFill>
              <a:srgbClr val="6B6B5E"/>
            </a:solidFill>
            <a:ln cap="sq">
              <a:noFill/>
              <a:prstDash val="solid"/>
              <a:miter/>
            </a:ln>
          </p:spPr>
        </p:sp>
        <p:sp>
          <p:nvSpPr>
            <p:cNvPr name="TextBox 14" id="14"/>
            <p:cNvSpPr txBox="true"/>
            <p:nvPr/>
          </p:nvSpPr>
          <p:spPr>
            <a:xfrm>
              <a:off x="0" y="-38100"/>
              <a:ext cx="1203960" cy="544767"/>
            </a:xfrm>
            <a:prstGeom prst="rect">
              <a:avLst/>
            </a:prstGeom>
          </p:spPr>
          <p:txBody>
            <a:bodyPr anchor="ctr" rtlCol="false" tIns="0" lIns="0" bIns="0" rIns="0"/>
            <a:lstStyle/>
            <a:p>
              <a:pPr algn="ctr">
                <a:lnSpc>
                  <a:spcPts val="1679"/>
                </a:lnSpc>
                <a:spcBef>
                  <a:spcPct val="0"/>
                </a:spcBef>
              </a:pPr>
            </a:p>
          </p:txBody>
        </p:sp>
      </p:grpSp>
      <p:grpSp>
        <p:nvGrpSpPr>
          <p:cNvPr name="Group 15" id="15"/>
          <p:cNvGrpSpPr/>
          <p:nvPr/>
        </p:nvGrpSpPr>
        <p:grpSpPr>
          <a:xfrm rot="0">
            <a:off x="12569697" y="4856077"/>
            <a:ext cx="4420254" cy="1860190"/>
            <a:chOff x="0" y="0"/>
            <a:chExt cx="1203960" cy="506667"/>
          </a:xfrm>
        </p:grpSpPr>
        <p:sp>
          <p:nvSpPr>
            <p:cNvPr name="Freeform 16" id="16"/>
            <p:cNvSpPr/>
            <p:nvPr/>
          </p:nvSpPr>
          <p:spPr>
            <a:xfrm flipH="false" flipV="false" rot="0">
              <a:off x="0" y="0"/>
              <a:ext cx="1203960" cy="506667"/>
            </a:xfrm>
            <a:custGeom>
              <a:avLst/>
              <a:gdLst/>
              <a:ahLst/>
              <a:cxnLst/>
              <a:rect r="r" b="b" t="t" l="l"/>
              <a:pathLst>
                <a:path h="506667" w="1203960">
                  <a:moveTo>
                    <a:pt x="26272" y="0"/>
                  </a:moveTo>
                  <a:lnTo>
                    <a:pt x="1177688" y="0"/>
                  </a:lnTo>
                  <a:cubicBezTo>
                    <a:pt x="1192198" y="0"/>
                    <a:pt x="1203960" y="11762"/>
                    <a:pt x="1203960" y="26272"/>
                  </a:cubicBezTo>
                  <a:lnTo>
                    <a:pt x="1203960" y="480395"/>
                  </a:lnTo>
                  <a:cubicBezTo>
                    <a:pt x="1203960" y="487362"/>
                    <a:pt x="1201192" y="494045"/>
                    <a:pt x="1196265" y="498972"/>
                  </a:cubicBezTo>
                  <a:cubicBezTo>
                    <a:pt x="1191338" y="503899"/>
                    <a:pt x="1184656" y="506667"/>
                    <a:pt x="1177688" y="506667"/>
                  </a:cubicBezTo>
                  <a:lnTo>
                    <a:pt x="26272" y="506667"/>
                  </a:lnTo>
                  <a:cubicBezTo>
                    <a:pt x="11762" y="506667"/>
                    <a:pt x="0" y="494904"/>
                    <a:pt x="0" y="480395"/>
                  </a:cubicBezTo>
                  <a:lnTo>
                    <a:pt x="0" y="26272"/>
                  </a:lnTo>
                  <a:cubicBezTo>
                    <a:pt x="0" y="11762"/>
                    <a:pt x="11762" y="0"/>
                    <a:pt x="26272" y="0"/>
                  </a:cubicBezTo>
                  <a:close/>
                </a:path>
              </a:pathLst>
            </a:custGeom>
            <a:solidFill>
              <a:srgbClr val="6B6B5E"/>
            </a:solidFill>
            <a:ln cap="sq">
              <a:noFill/>
              <a:prstDash val="solid"/>
              <a:miter/>
            </a:ln>
          </p:spPr>
        </p:sp>
        <p:sp>
          <p:nvSpPr>
            <p:cNvPr name="TextBox 17" id="17"/>
            <p:cNvSpPr txBox="true"/>
            <p:nvPr/>
          </p:nvSpPr>
          <p:spPr>
            <a:xfrm>
              <a:off x="0" y="-38100"/>
              <a:ext cx="1203960" cy="544767"/>
            </a:xfrm>
            <a:prstGeom prst="rect">
              <a:avLst/>
            </a:prstGeom>
          </p:spPr>
          <p:txBody>
            <a:bodyPr anchor="ctr" rtlCol="false" tIns="0" lIns="0" bIns="0" rIns="0"/>
            <a:lstStyle/>
            <a:p>
              <a:pPr algn="ctr">
                <a:lnSpc>
                  <a:spcPts val="1679"/>
                </a:lnSpc>
                <a:spcBef>
                  <a:spcPct val="0"/>
                </a:spcBef>
              </a:pPr>
            </a:p>
          </p:txBody>
        </p:sp>
      </p:grpSp>
      <p:grpSp>
        <p:nvGrpSpPr>
          <p:cNvPr name="Group 18" id="18"/>
          <p:cNvGrpSpPr/>
          <p:nvPr/>
        </p:nvGrpSpPr>
        <p:grpSpPr>
          <a:xfrm rot="0">
            <a:off x="12321058" y="7277294"/>
            <a:ext cx="4420254" cy="2025950"/>
            <a:chOff x="0" y="0"/>
            <a:chExt cx="1203960" cy="551815"/>
          </a:xfrm>
        </p:grpSpPr>
        <p:sp>
          <p:nvSpPr>
            <p:cNvPr name="Freeform 19" id="19"/>
            <p:cNvSpPr/>
            <p:nvPr/>
          </p:nvSpPr>
          <p:spPr>
            <a:xfrm flipH="false" flipV="false" rot="0">
              <a:off x="0" y="0"/>
              <a:ext cx="1203960" cy="551815"/>
            </a:xfrm>
            <a:custGeom>
              <a:avLst/>
              <a:gdLst/>
              <a:ahLst/>
              <a:cxnLst/>
              <a:rect r="r" b="b" t="t" l="l"/>
              <a:pathLst>
                <a:path h="551815" w="1203960">
                  <a:moveTo>
                    <a:pt x="26272" y="0"/>
                  </a:moveTo>
                  <a:lnTo>
                    <a:pt x="1177688" y="0"/>
                  </a:lnTo>
                  <a:cubicBezTo>
                    <a:pt x="1192198" y="0"/>
                    <a:pt x="1203960" y="11762"/>
                    <a:pt x="1203960" y="26272"/>
                  </a:cubicBezTo>
                  <a:lnTo>
                    <a:pt x="1203960" y="525543"/>
                  </a:lnTo>
                  <a:cubicBezTo>
                    <a:pt x="1203960" y="540053"/>
                    <a:pt x="1192198" y="551815"/>
                    <a:pt x="1177688" y="551815"/>
                  </a:cubicBezTo>
                  <a:lnTo>
                    <a:pt x="26272" y="551815"/>
                  </a:lnTo>
                  <a:cubicBezTo>
                    <a:pt x="19304" y="551815"/>
                    <a:pt x="12622" y="549047"/>
                    <a:pt x="7695" y="544120"/>
                  </a:cubicBezTo>
                  <a:cubicBezTo>
                    <a:pt x="2768" y="539193"/>
                    <a:pt x="0" y="532511"/>
                    <a:pt x="0" y="525543"/>
                  </a:cubicBezTo>
                  <a:lnTo>
                    <a:pt x="0" y="26272"/>
                  </a:lnTo>
                  <a:cubicBezTo>
                    <a:pt x="0" y="11762"/>
                    <a:pt x="11762" y="0"/>
                    <a:pt x="26272" y="0"/>
                  </a:cubicBezTo>
                  <a:close/>
                </a:path>
              </a:pathLst>
            </a:custGeom>
            <a:solidFill>
              <a:srgbClr val="006241"/>
            </a:solidFill>
            <a:ln cap="sq">
              <a:noFill/>
              <a:prstDash val="solid"/>
              <a:miter/>
            </a:ln>
          </p:spPr>
        </p:sp>
        <p:sp>
          <p:nvSpPr>
            <p:cNvPr name="TextBox 20" id="20"/>
            <p:cNvSpPr txBox="true"/>
            <p:nvPr/>
          </p:nvSpPr>
          <p:spPr>
            <a:xfrm>
              <a:off x="0" y="-38100"/>
              <a:ext cx="1203960" cy="589915"/>
            </a:xfrm>
            <a:prstGeom prst="rect">
              <a:avLst/>
            </a:prstGeom>
          </p:spPr>
          <p:txBody>
            <a:bodyPr anchor="ctr" rtlCol="false" tIns="0" lIns="0" bIns="0" rIns="0"/>
            <a:lstStyle/>
            <a:p>
              <a:pPr algn="ctr">
                <a:lnSpc>
                  <a:spcPts val="1679"/>
                </a:lnSpc>
                <a:spcBef>
                  <a:spcPct val="0"/>
                </a:spcBef>
              </a:pPr>
            </a:p>
          </p:txBody>
        </p:sp>
      </p:grpSp>
      <p:grpSp>
        <p:nvGrpSpPr>
          <p:cNvPr name="Group 21" id="21"/>
          <p:cNvGrpSpPr/>
          <p:nvPr/>
        </p:nvGrpSpPr>
        <p:grpSpPr>
          <a:xfrm rot="0">
            <a:off x="7099632" y="7865508"/>
            <a:ext cx="4346584" cy="2025950"/>
            <a:chOff x="0" y="0"/>
            <a:chExt cx="1183894" cy="551815"/>
          </a:xfrm>
        </p:grpSpPr>
        <p:sp>
          <p:nvSpPr>
            <p:cNvPr name="Freeform 22" id="22"/>
            <p:cNvSpPr/>
            <p:nvPr/>
          </p:nvSpPr>
          <p:spPr>
            <a:xfrm flipH="false" flipV="false" rot="0">
              <a:off x="0" y="0"/>
              <a:ext cx="1183894" cy="551815"/>
            </a:xfrm>
            <a:custGeom>
              <a:avLst/>
              <a:gdLst/>
              <a:ahLst/>
              <a:cxnLst/>
              <a:rect r="r" b="b" t="t" l="l"/>
              <a:pathLst>
                <a:path h="551815" w="1183894">
                  <a:moveTo>
                    <a:pt x="26717" y="0"/>
                  </a:moveTo>
                  <a:lnTo>
                    <a:pt x="1157177" y="0"/>
                  </a:lnTo>
                  <a:cubicBezTo>
                    <a:pt x="1171932" y="0"/>
                    <a:pt x="1183894" y="11962"/>
                    <a:pt x="1183894" y="26717"/>
                  </a:cubicBezTo>
                  <a:lnTo>
                    <a:pt x="1183894" y="525098"/>
                  </a:lnTo>
                  <a:cubicBezTo>
                    <a:pt x="1183894" y="539853"/>
                    <a:pt x="1171932" y="551815"/>
                    <a:pt x="1157177" y="551815"/>
                  </a:cubicBezTo>
                  <a:lnTo>
                    <a:pt x="26717" y="551815"/>
                  </a:lnTo>
                  <a:cubicBezTo>
                    <a:pt x="19631" y="551815"/>
                    <a:pt x="12836" y="549000"/>
                    <a:pt x="7825" y="543990"/>
                  </a:cubicBezTo>
                  <a:cubicBezTo>
                    <a:pt x="2815" y="538979"/>
                    <a:pt x="0" y="532184"/>
                    <a:pt x="0" y="525098"/>
                  </a:cubicBezTo>
                  <a:lnTo>
                    <a:pt x="0" y="26717"/>
                  </a:lnTo>
                  <a:cubicBezTo>
                    <a:pt x="0" y="11962"/>
                    <a:pt x="11962" y="0"/>
                    <a:pt x="26717" y="0"/>
                  </a:cubicBezTo>
                  <a:close/>
                </a:path>
              </a:pathLst>
            </a:custGeom>
            <a:solidFill>
              <a:srgbClr val="006241"/>
            </a:solidFill>
            <a:ln cap="sq">
              <a:noFill/>
              <a:prstDash val="solid"/>
              <a:miter/>
            </a:ln>
          </p:spPr>
        </p:sp>
        <p:sp>
          <p:nvSpPr>
            <p:cNvPr name="TextBox 23" id="23"/>
            <p:cNvSpPr txBox="true"/>
            <p:nvPr/>
          </p:nvSpPr>
          <p:spPr>
            <a:xfrm>
              <a:off x="0" y="-38100"/>
              <a:ext cx="1183894" cy="589915"/>
            </a:xfrm>
            <a:prstGeom prst="rect">
              <a:avLst/>
            </a:prstGeom>
          </p:spPr>
          <p:txBody>
            <a:bodyPr anchor="ctr" rtlCol="false" tIns="0" lIns="0" bIns="0" rIns="0"/>
            <a:lstStyle/>
            <a:p>
              <a:pPr algn="ctr">
                <a:lnSpc>
                  <a:spcPts val="1679"/>
                </a:lnSpc>
                <a:spcBef>
                  <a:spcPct val="0"/>
                </a:spcBef>
              </a:pPr>
            </a:p>
          </p:txBody>
        </p:sp>
      </p:grpSp>
      <p:sp>
        <p:nvSpPr>
          <p:cNvPr name="TextBox 24" id="24"/>
          <p:cNvSpPr txBox="true"/>
          <p:nvPr/>
        </p:nvSpPr>
        <p:spPr>
          <a:xfrm rot="0">
            <a:off x="2863555" y="2730094"/>
            <a:ext cx="4051900" cy="311837"/>
          </a:xfrm>
          <a:prstGeom prst="rect">
            <a:avLst/>
          </a:prstGeom>
        </p:spPr>
        <p:txBody>
          <a:bodyPr anchor="t" rtlCol="false" tIns="0" lIns="0" bIns="0" rIns="0">
            <a:spAutoFit/>
          </a:bodyPr>
          <a:lstStyle/>
          <a:p>
            <a:pPr algn="ctr" marL="0" indent="0" lvl="0">
              <a:lnSpc>
                <a:spcPts val="2318"/>
              </a:lnSpc>
              <a:spcBef>
                <a:spcPct val="0"/>
              </a:spcBef>
            </a:pPr>
            <a:r>
              <a:rPr lang="en-US" b="true" sz="2318" strike="noStrike" u="none">
                <a:solidFill>
                  <a:srgbClr val="F2F0EB"/>
                </a:solidFill>
                <a:latin typeface="Montserrat Bold"/>
                <a:ea typeface="Montserrat Bold"/>
                <a:cs typeface="Montserrat Bold"/>
                <a:sym typeface="Montserrat Bold"/>
              </a:rPr>
              <a:t>PRODUCT</a:t>
            </a:r>
          </a:p>
        </p:txBody>
      </p:sp>
      <p:sp>
        <p:nvSpPr>
          <p:cNvPr name="TextBox 25" id="25"/>
          <p:cNvSpPr txBox="true"/>
          <p:nvPr/>
        </p:nvSpPr>
        <p:spPr>
          <a:xfrm rot="0">
            <a:off x="1482226" y="5114475"/>
            <a:ext cx="4051900" cy="311837"/>
          </a:xfrm>
          <a:prstGeom prst="rect">
            <a:avLst/>
          </a:prstGeom>
        </p:spPr>
        <p:txBody>
          <a:bodyPr anchor="t" rtlCol="false" tIns="0" lIns="0" bIns="0" rIns="0">
            <a:spAutoFit/>
          </a:bodyPr>
          <a:lstStyle/>
          <a:p>
            <a:pPr algn="ctr" marL="0" indent="0" lvl="0">
              <a:lnSpc>
                <a:spcPts val="2318"/>
              </a:lnSpc>
              <a:spcBef>
                <a:spcPct val="0"/>
              </a:spcBef>
            </a:pPr>
            <a:r>
              <a:rPr lang="en-US" b="true" sz="2318" strike="noStrike" u="none">
                <a:solidFill>
                  <a:srgbClr val="F2F0EB"/>
                </a:solidFill>
                <a:latin typeface="Montserrat Bold"/>
                <a:ea typeface="Montserrat Bold"/>
                <a:cs typeface="Montserrat Bold"/>
                <a:sym typeface="Montserrat Bold"/>
              </a:rPr>
              <a:t>PRICE</a:t>
            </a:r>
          </a:p>
        </p:txBody>
      </p:sp>
      <p:sp>
        <p:nvSpPr>
          <p:cNvPr name="TextBox 26" id="26"/>
          <p:cNvSpPr txBox="true"/>
          <p:nvPr/>
        </p:nvSpPr>
        <p:spPr>
          <a:xfrm rot="0">
            <a:off x="2246561" y="7483943"/>
            <a:ext cx="4051900" cy="306258"/>
          </a:xfrm>
          <a:prstGeom prst="rect">
            <a:avLst/>
          </a:prstGeom>
        </p:spPr>
        <p:txBody>
          <a:bodyPr anchor="t" rtlCol="false" tIns="0" lIns="0" bIns="0" rIns="0">
            <a:spAutoFit/>
          </a:bodyPr>
          <a:lstStyle/>
          <a:p>
            <a:pPr algn="ctr" marL="0" indent="0" lvl="0">
              <a:lnSpc>
                <a:spcPts val="2318"/>
              </a:lnSpc>
              <a:spcBef>
                <a:spcPct val="0"/>
              </a:spcBef>
            </a:pPr>
            <a:r>
              <a:rPr lang="en-US" b="true" sz="2318">
                <a:solidFill>
                  <a:srgbClr val="C8A14B"/>
                </a:solidFill>
                <a:latin typeface="Montserrat Bold"/>
                <a:ea typeface="Montserrat Bold"/>
                <a:cs typeface="Montserrat Bold"/>
                <a:sym typeface="Montserrat Bold"/>
              </a:rPr>
              <a:t>PROMOTION</a:t>
            </a:r>
          </a:p>
        </p:txBody>
      </p:sp>
      <p:sp>
        <p:nvSpPr>
          <p:cNvPr name="TextBox 27" id="27"/>
          <p:cNvSpPr txBox="true"/>
          <p:nvPr/>
        </p:nvSpPr>
        <p:spPr>
          <a:xfrm rot="0">
            <a:off x="11630393" y="2732884"/>
            <a:ext cx="4051900" cy="306258"/>
          </a:xfrm>
          <a:prstGeom prst="rect">
            <a:avLst/>
          </a:prstGeom>
        </p:spPr>
        <p:txBody>
          <a:bodyPr anchor="t" rtlCol="false" tIns="0" lIns="0" bIns="0" rIns="0">
            <a:spAutoFit/>
          </a:bodyPr>
          <a:lstStyle/>
          <a:p>
            <a:pPr algn="ctr" marL="0" indent="0" lvl="0">
              <a:lnSpc>
                <a:spcPts val="2318"/>
              </a:lnSpc>
              <a:spcBef>
                <a:spcPct val="0"/>
              </a:spcBef>
            </a:pPr>
            <a:r>
              <a:rPr lang="en-US" b="true" sz="2318">
                <a:solidFill>
                  <a:srgbClr val="F2F0EB"/>
                </a:solidFill>
                <a:latin typeface="Montserrat Bold"/>
                <a:ea typeface="Montserrat Bold"/>
                <a:cs typeface="Montserrat Bold"/>
                <a:sym typeface="Montserrat Bold"/>
              </a:rPr>
              <a:t>PLACE</a:t>
            </a:r>
          </a:p>
        </p:txBody>
      </p:sp>
      <p:sp>
        <p:nvSpPr>
          <p:cNvPr name="TextBox 28" id="28"/>
          <p:cNvSpPr txBox="true"/>
          <p:nvPr/>
        </p:nvSpPr>
        <p:spPr>
          <a:xfrm rot="0">
            <a:off x="12753875" y="5074725"/>
            <a:ext cx="4051900" cy="306258"/>
          </a:xfrm>
          <a:prstGeom prst="rect">
            <a:avLst/>
          </a:prstGeom>
        </p:spPr>
        <p:txBody>
          <a:bodyPr anchor="t" rtlCol="false" tIns="0" lIns="0" bIns="0" rIns="0">
            <a:spAutoFit/>
          </a:bodyPr>
          <a:lstStyle/>
          <a:p>
            <a:pPr algn="ctr" marL="0" indent="0" lvl="0">
              <a:lnSpc>
                <a:spcPts val="2318"/>
              </a:lnSpc>
              <a:spcBef>
                <a:spcPct val="0"/>
              </a:spcBef>
            </a:pPr>
            <a:r>
              <a:rPr lang="en-US" b="true" sz="2318">
                <a:solidFill>
                  <a:srgbClr val="F2F0EB"/>
                </a:solidFill>
                <a:latin typeface="Montserrat Bold"/>
                <a:ea typeface="Montserrat Bold"/>
                <a:cs typeface="Montserrat Bold"/>
                <a:sym typeface="Montserrat Bold"/>
              </a:rPr>
              <a:t>PHYSICAL EVIDENCE</a:t>
            </a:r>
          </a:p>
        </p:txBody>
      </p:sp>
      <p:sp>
        <p:nvSpPr>
          <p:cNvPr name="TextBox 29" id="29"/>
          <p:cNvSpPr txBox="true"/>
          <p:nvPr/>
        </p:nvSpPr>
        <p:spPr>
          <a:xfrm rot="0">
            <a:off x="12505235" y="7481153"/>
            <a:ext cx="4051900" cy="311837"/>
          </a:xfrm>
          <a:prstGeom prst="rect">
            <a:avLst/>
          </a:prstGeom>
        </p:spPr>
        <p:txBody>
          <a:bodyPr anchor="t" rtlCol="false" tIns="0" lIns="0" bIns="0" rIns="0">
            <a:spAutoFit/>
          </a:bodyPr>
          <a:lstStyle/>
          <a:p>
            <a:pPr algn="ctr" marL="0" indent="0" lvl="0">
              <a:lnSpc>
                <a:spcPts val="2318"/>
              </a:lnSpc>
              <a:spcBef>
                <a:spcPct val="0"/>
              </a:spcBef>
            </a:pPr>
            <a:r>
              <a:rPr lang="en-US" b="true" sz="2318" strike="noStrike" u="none">
                <a:solidFill>
                  <a:srgbClr val="C8A14B"/>
                </a:solidFill>
                <a:latin typeface="Montserrat Bold"/>
                <a:ea typeface="Montserrat Bold"/>
                <a:cs typeface="Montserrat Bold"/>
                <a:sym typeface="Montserrat Bold"/>
              </a:rPr>
              <a:t>PROCESS</a:t>
            </a:r>
          </a:p>
        </p:txBody>
      </p:sp>
      <p:sp>
        <p:nvSpPr>
          <p:cNvPr name="TextBox 30" id="30"/>
          <p:cNvSpPr txBox="true"/>
          <p:nvPr/>
        </p:nvSpPr>
        <p:spPr>
          <a:xfrm rot="0">
            <a:off x="7118050" y="8072130"/>
            <a:ext cx="4051900" cy="315520"/>
          </a:xfrm>
          <a:prstGeom prst="rect">
            <a:avLst/>
          </a:prstGeom>
        </p:spPr>
        <p:txBody>
          <a:bodyPr anchor="t" rtlCol="false" tIns="0" lIns="0" bIns="0" rIns="0">
            <a:spAutoFit/>
          </a:bodyPr>
          <a:lstStyle/>
          <a:p>
            <a:pPr algn="ctr" marL="0" indent="0" lvl="0">
              <a:lnSpc>
                <a:spcPts val="2320"/>
              </a:lnSpc>
              <a:spcBef>
                <a:spcPct val="0"/>
              </a:spcBef>
            </a:pPr>
            <a:r>
              <a:rPr lang="en-US" b="true" sz="2320">
                <a:solidFill>
                  <a:srgbClr val="C8A14B"/>
                </a:solidFill>
                <a:latin typeface="Montserrat Bold"/>
                <a:ea typeface="Montserrat Bold"/>
                <a:cs typeface="Montserrat Bold"/>
                <a:sym typeface="Montserrat Bold"/>
              </a:rPr>
              <a:t>PEOPLE</a:t>
            </a:r>
          </a:p>
        </p:txBody>
      </p:sp>
      <p:sp>
        <p:nvSpPr>
          <p:cNvPr name="Freeform 31" id="31"/>
          <p:cNvSpPr/>
          <p:nvPr/>
        </p:nvSpPr>
        <p:spPr>
          <a:xfrm flipH="false" flipV="false" rot="0">
            <a:off x="3508176" y="2628838"/>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3"/>
            <a:stretch>
              <a:fillRect l="0" t="0" r="0" b="0"/>
            </a:stretch>
          </a:blipFill>
        </p:spPr>
      </p:sp>
      <p:sp>
        <p:nvSpPr>
          <p:cNvPr name="Freeform 32" id="32"/>
          <p:cNvSpPr/>
          <p:nvPr/>
        </p:nvSpPr>
        <p:spPr>
          <a:xfrm flipH="false" flipV="false" rot="0">
            <a:off x="2333625" y="4970679"/>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4"/>
            <a:stretch>
              <a:fillRect l="0" t="0" r="0" b="0"/>
            </a:stretch>
          </a:blipFill>
        </p:spPr>
      </p:sp>
      <p:sp>
        <p:nvSpPr>
          <p:cNvPr name="Freeform 33" id="33"/>
          <p:cNvSpPr/>
          <p:nvPr/>
        </p:nvSpPr>
        <p:spPr>
          <a:xfrm flipH="false" flipV="false" rot="0">
            <a:off x="2625430" y="7379897"/>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5"/>
            <a:stretch>
              <a:fillRect l="0" t="0" r="0" b="0"/>
            </a:stretch>
          </a:blipFill>
        </p:spPr>
      </p:sp>
      <p:sp>
        <p:nvSpPr>
          <p:cNvPr name="Freeform 34" id="34"/>
          <p:cNvSpPr/>
          <p:nvPr/>
        </p:nvSpPr>
        <p:spPr>
          <a:xfrm flipH="false" flipV="false" rot="0">
            <a:off x="12505235" y="2628838"/>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6"/>
            <a:stretch>
              <a:fillRect l="0" t="0" r="0" b="0"/>
            </a:stretch>
          </a:blipFill>
        </p:spPr>
      </p:sp>
      <p:sp>
        <p:nvSpPr>
          <p:cNvPr name="Freeform 35" id="35"/>
          <p:cNvSpPr/>
          <p:nvPr/>
        </p:nvSpPr>
        <p:spPr>
          <a:xfrm flipH="false" flipV="false" rot="0">
            <a:off x="12608622" y="4953066"/>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7"/>
            <a:stretch>
              <a:fillRect l="0" t="0" r="0" b="0"/>
            </a:stretch>
          </a:blipFill>
        </p:spPr>
      </p:sp>
      <p:sp>
        <p:nvSpPr>
          <p:cNvPr name="Freeform 36" id="36"/>
          <p:cNvSpPr/>
          <p:nvPr/>
        </p:nvSpPr>
        <p:spPr>
          <a:xfrm flipH="false" flipV="false" rot="0">
            <a:off x="13182600" y="7379897"/>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8"/>
            <a:stretch>
              <a:fillRect l="0" t="0" r="0" b="0"/>
            </a:stretch>
          </a:blipFill>
        </p:spPr>
      </p:sp>
      <p:sp>
        <p:nvSpPr>
          <p:cNvPr name="Freeform 37" id="37"/>
          <p:cNvSpPr/>
          <p:nvPr/>
        </p:nvSpPr>
        <p:spPr>
          <a:xfrm flipH="false" flipV="false" rot="0">
            <a:off x="7880504" y="7972715"/>
            <a:ext cx="476250" cy="476250"/>
          </a:xfrm>
          <a:custGeom>
            <a:avLst/>
            <a:gdLst/>
            <a:ahLst/>
            <a:cxnLst/>
            <a:rect r="r" b="b" t="t" l="l"/>
            <a:pathLst>
              <a:path h="476250" w="476250">
                <a:moveTo>
                  <a:pt x="0" y="0"/>
                </a:moveTo>
                <a:lnTo>
                  <a:pt x="476250" y="0"/>
                </a:lnTo>
                <a:lnTo>
                  <a:pt x="476250" y="476250"/>
                </a:lnTo>
                <a:lnTo>
                  <a:pt x="0" y="476250"/>
                </a:lnTo>
                <a:lnTo>
                  <a:pt x="0" y="0"/>
                </a:lnTo>
                <a:close/>
              </a:path>
            </a:pathLst>
          </a:custGeom>
          <a:blipFill>
            <a:blip r:embed="rId9"/>
            <a:stretch>
              <a:fillRect l="0" t="0" r="0" b="0"/>
            </a:stretch>
          </a:blipFill>
        </p:spPr>
      </p:sp>
      <p:grpSp>
        <p:nvGrpSpPr>
          <p:cNvPr name="Group 38" id="38"/>
          <p:cNvGrpSpPr/>
          <p:nvPr/>
        </p:nvGrpSpPr>
        <p:grpSpPr>
          <a:xfrm rot="0">
            <a:off x="1718714" y="7018376"/>
            <a:ext cx="687341" cy="655121"/>
            <a:chOff x="0" y="0"/>
            <a:chExt cx="812800" cy="774700"/>
          </a:xfrm>
        </p:grpSpPr>
        <p:sp>
          <p:nvSpPr>
            <p:cNvPr name="Freeform 39" id="39"/>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C8A14B"/>
            </a:solidFill>
          </p:spPr>
        </p:sp>
        <p:sp>
          <p:nvSpPr>
            <p:cNvPr name="TextBox 40" id="40"/>
            <p:cNvSpPr txBox="true"/>
            <p:nvPr/>
          </p:nvSpPr>
          <p:spPr>
            <a:xfrm>
              <a:off x="228600" y="219075"/>
              <a:ext cx="355600" cy="390525"/>
            </a:xfrm>
            <a:prstGeom prst="rect">
              <a:avLst/>
            </a:prstGeom>
          </p:spPr>
          <p:txBody>
            <a:bodyPr anchor="ctr" rtlCol="false" tIns="50800" lIns="50800" bIns="50800" rIns="50800"/>
            <a:lstStyle/>
            <a:p>
              <a:pPr algn="ctr">
                <a:lnSpc>
                  <a:spcPts val="2800"/>
                </a:lnSpc>
              </a:pPr>
            </a:p>
          </p:txBody>
        </p:sp>
      </p:grpSp>
      <p:sp>
        <p:nvSpPr>
          <p:cNvPr name="TextBox 41" id="41"/>
          <p:cNvSpPr txBox="true"/>
          <p:nvPr/>
        </p:nvSpPr>
        <p:spPr>
          <a:xfrm rot="0">
            <a:off x="1028700" y="676275"/>
            <a:ext cx="6779419"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7 Ps MARKETING MIX</a:t>
            </a:r>
          </a:p>
        </p:txBody>
      </p:sp>
      <p:sp>
        <p:nvSpPr>
          <p:cNvPr name="TextBox 42" id="42"/>
          <p:cNvSpPr txBox="true"/>
          <p:nvPr/>
        </p:nvSpPr>
        <p:spPr>
          <a:xfrm rot="0">
            <a:off x="2863555" y="3142587"/>
            <a:ext cx="4051900" cy="943322"/>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Premium beverages and food. Deep Brew handles in-app product personalisation.</a:t>
            </a:r>
          </a:p>
        </p:txBody>
      </p:sp>
      <p:sp>
        <p:nvSpPr>
          <p:cNvPr name="TextBox 43" id="43"/>
          <p:cNvSpPr txBox="true"/>
          <p:nvPr/>
        </p:nvSpPr>
        <p:spPr>
          <a:xfrm rot="0">
            <a:off x="1617348" y="5683927"/>
            <a:ext cx="3781656" cy="630221"/>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Premium pricing with tier-based earn rates. Owned in-house.</a:t>
            </a:r>
          </a:p>
        </p:txBody>
      </p:sp>
      <p:sp>
        <p:nvSpPr>
          <p:cNvPr name="TextBox 44" id="44"/>
          <p:cNvSpPr txBox="true"/>
          <p:nvPr/>
        </p:nvSpPr>
        <p:spPr>
          <a:xfrm rot="0">
            <a:off x="2246561" y="7901702"/>
            <a:ext cx="4051900" cy="943322"/>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Per-segment cadence, channel mix, and message. The MMM and segmentation outputs land here.</a:t>
            </a:r>
          </a:p>
        </p:txBody>
      </p:sp>
      <p:sp>
        <p:nvSpPr>
          <p:cNvPr name="TextBox 45" id="45"/>
          <p:cNvSpPr txBox="true"/>
          <p:nvPr/>
        </p:nvSpPr>
        <p:spPr>
          <a:xfrm rot="0">
            <a:off x="11789964" y="3142587"/>
            <a:ext cx="3732757" cy="943322"/>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38,000+ stores globally plus mobile-order across app, web, and in-store.</a:t>
            </a:r>
          </a:p>
        </p:txBody>
      </p:sp>
      <p:sp>
        <p:nvSpPr>
          <p:cNvPr name="TextBox 46" id="46"/>
          <p:cNvSpPr txBox="true"/>
          <p:nvPr/>
        </p:nvSpPr>
        <p:spPr>
          <a:xfrm rot="0">
            <a:off x="12878194" y="5527376"/>
            <a:ext cx="3803261" cy="943322"/>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Store ambience, packaging, mobile app interface, Siren brand mark.</a:t>
            </a:r>
          </a:p>
        </p:txBody>
      </p:sp>
      <p:sp>
        <p:nvSpPr>
          <p:cNvPr name="TextBox 47" id="47"/>
          <p:cNvSpPr txBox="true"/>
          <p:nvPr/>
        </p:nvSpPr>
        <p:spPr>
          <a:xfrm rot="0">
            <a:off x="12505235" y="7901702"/>
            <a:ext cx="4051900" cy="1256424"/>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Weekly model refresh, monthly campaign cycle, quarterly review. Analytics embedded into your operating rhythm.</a:t>
            </a:r>
          </a:p>
        </p:txBody>
      </p:sp>
      <p:sp>
        <p:nvSpPr>
          <p:cNvPr name="TextBox 48" id="48"/>
          <p:cNvSpPr txBox="true"/>
          <p:nvPr/>
        </p:nvSpPr>
        <p:spPr>
          <a:xfrm rot="0">
            <a:off x="7302227" y="8471581"/>
            <a:ext cx="3941394" cy="1256424"/>
          </a:xfrm>
          <a:prstGeom prst="rect">
            <a:avLst/>
          </a:prstGeom>
        </p:spPr>
        <p:txBody>
          <a:bodyPr anchor="t" rtlCol="false" tIns="0" lIns="0" bIns="0" rIns="0">
            <a:spAutoFit/>
          </a:bodyPr>
          <a:lstStyle/>
          <a:p>
            <a:pPr algn="ctr" marL="0" indent="0" lvl="0">
              <a:lnSpc>
                <a:spcPts val="2513"/>
              </a:lnSpc>
              <a:spcBef>
                <a:spcPct val="0"/>
              </a:spcBef>
            </a:pPr>
            <a:r>
              <a:rPr lang="en-US" sz="1933">
                <a:solidFill>
                  <a:srgbClr val="FFFFFF"/>
                </a:solidFill>
                <a:latin typeface="Inter"/>
                <a:ea typeface="Inter"/>
                <a:cs typeface="Inter"/>
                <a:sym typeface="Inter"/>
              </a:rPr>
              <a:t>Marketing team trained on live dashboards in week 16. Analytics they own, not analytics they receive.</a:t>
            </a:r>
          </a:p>
        </p:txBody>
      </p:sp>
      <p:sp>
        <p:nvSpPr>
          <p:cNvPr name="TextBox 49" id="49"/>
          <p:cNvSpPr txBox="true"/>
          <p:nvPr/>
        </p:nvSpPr>
        <p:spPr>
          <a:xfrm rot="0">
            <a:off x="1028700" y="1520975"/>
            <a:ext cx="10493078" cy="299029"/>
          </a:xfrm>
          <a:prstGeom prst="rect">
            <a:avLst/>
          </a:prstGeom>
        </p:spPr>
        <p:txBody>
          <a:bodyPr anchor="t" rtlCol="false" tIns="0" lIns="0" bIns="0" rIns="0">
            <a:spAutoFit/>
          </a:bodyPr>
          <a:lstStyle/>
          <a:p>
            <a:pPr algn="l">
              <a:lnSpc>
                <a:spcPts val="2397"/>
              </a:lnSpc>
              <a:spcBef>
                <a:spcPct val="0"/>
              </a:spcBef>
            </a:pPr>
            <a:r>
              <a:rPr lang="en-US" b="true" sz="2397">
                <a:solidFill>
                  <a:srgbClr val="006241"/>
                </a:solidFill>
                <a:latin typeface="Montserrat Bold"/>
                <a:ea typeface="Montserrat Bold"/>
                <a:cs typeface="Montserrat Bold"/>
                <a:sym typeface="Montserrat Bold"/>
              </a:rPr>
              <a:t>THREE Ps WHERE MEMBER INTELLIGENCE SHARPENS DECISIONS</a:t>
            </a:r>
          </a:p>
        </p:txBody>
      </p:sp>
      <p:grpSp>
        <p:nvGrpSpPr>
          <p:cNvPr name="Group 50" id="50"/>
          <p:cNvGrpSpPr/>
          <p:nvPr/>
        </p:nvGrpSpPr>
        <p:grpSpPr>
          <a:xfrm rot="0">
            <a:off x="6837901" y="7602716"/>
            <a:ext cx="687341" cy="655121"/>
            <a:chOff x="0" y="0"/>
            <a:chExt cx="812800" cy="774700"/>
          </a:xfrm>
        </p:grpSpPr>
        <p:sp>
          <p:nvSpPr>
            <p:cNvPr name="Freeform 51" id="51"/>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C8A14B"/>
            </a:solidFill>
          </p:spPr>
        </p:sp>
        <p:sp>
          <p:nvSpPr>
            <p:cNvPr name="TextBox 52" id="52"/>
            <p:cNvSpPr txBox="true"/>
            <p:nvPr/>
          </p:nvSpPr>
          <p:spPr>
            <a:xfrm>
              <a:off x="228600" y="219075"/>
              <a:ext cx="355600" cy="390525"/>
            </a:xfrm>
            <a:prstGeom prst="rect">
              <a:avLst/>
            </a:prstGeom>
          </p:spPr>
          <p:txBody>
            <a:bodyPr anchor="ctr" rtlCol="false" tIns="50800" lIns="50800" bIns="50800" rIns="50800"/>
            <a:lstStyle/>
            <a:p>
              <a:pPr algn="ctr">
                <a:lnSpc>
                  <a:spcPts val="2800"/>
                </a:lnSpc>
              </a:pPr>
            </a:p>
          </p:txBody>
        </p:sp>
      </p:grpSp>
      <p:grpSp>
        <p:nvGrpSpPr>
          <p:cNvPr name="Group 53" id="53"/>
          <p:cNvGrpSpPr/>
          <p:nvPr/>
        </p:nvGrpSpPr>
        <p:grpSpPr>
          <a:xfrm rot="0">
            <a:off x="11977388" y="7018376"/>
            <a:ext cx="687341" cy="655121"/>
            <a:chOff x="0" y="0"/>
            <a:chExt cx="812800" cy="774700"/>
          </a:xfrm>
        </p:grpSpPr>
        <p:sp>
          <p:nvSpPr>
            <p:cNvPr name="Freeform 54" id="54"/>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C8A14B"/>
            </a:solidFill>
          </p:spPr>
        </p:sp>
        <p:sp>
          <p:nvSpPr>
            <p:cNvPr name="TextBox 55" id="55"/>
            <p:cNvSpPr txBox="true"/>
            <p:nvPr/>
          </p:nvSpPr>
          <p:spPr>
            <a:xfrm>
              <a:off x="228600" y="219075"/>
              <a:ext cx="355600" cy="390525"/>
            </a:xfrm>
            <a:prstGeom prst="rect">
              <a:avLst/>
            </a:prstGeom>
          </p:spPr>
          <p:txBody>
            <a:bodyPr anchor="ctr" rtlCol="false" tIns="50800" lIns="50800" bIns="50800" rIns="50800"/>
            <a:lstStyle/>
            <a:p>
              <a:pPr algn="ctr">
                <a:lnSpc>
                  <a:spcPts val="2800"/>
                </a:lnSpc>
              </a:pPr>
            </a:p>
          </p:txBody>
        </p:sp>
      </p:grpSp>
      <p:sp>
        <p:nvSpPr>
          <p:cNvPr name="TextBox 56" id="56"/>
          <p:cNvSpPr txBox="true"/>
          <p:nvPr/>
        </p:nvSpPr>
        <p:spPr>
          <a:xfrm rot="0">
            <a:off x="454242" y="9824541"/>
            <a:ext cx="6727329" cy="291465"/>
          </a:xfrm>
          <a:prstGeom prst="rect">
            <a:avLst/>
          </a:prstGeom>
        </p:spPr>
        <p:txBody>
          <a:bodyPr anchor="t" rtlCol="false" tIns="0" lIns="0" bIns="0" rIns="0">
            <a:spAutoFit/>
          </a:bodyPr>
          <a:lstStyle/>
          <a:p>
            <a:pPr algn="ctr">
              <a:lnSpc>
                <a:spcPts val="2340"/>
              </a:lnSpc>
              <a:spcBef>
                <a:spcPct val="0"/>
              </a:spcBef>
            </a:pPr>
            <a:r>
              <a:rPr lang="en-US" sz="1800">
                <a:solidFill>
                  <a:srgbClr val="000000"/>
                </a:solidFill>
                <a:latin typeface="Inter"/>
                <a:ea typeface="Inter"/>
                <a:cs typeface="Inter"/>
                <a:sym typeface="Inter"/>
              </a:rPr>
              <a:t>Smith, A. (2019) Consumer Behaviour and Analytics. Routledge.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2F0EB"/>
        </a:solidFill>
      </p:bgPr>
    </p:bg>
    <p:spTree>
      <p:nvGrpSpPr>
        <p:cNvPr id="1" name=""/>
        <p:cNvGrpSpPr/>
        <p:nvPr/>
      </p:nvGrpSpPr>
      <p:grpSpPr>
        <a:xfrm>
          <a:off x="0" y="0"/>
          <a:ext cx="0" cy="0"/>
          <a:chOff x="0" y="0"/>
          <a:chExt cx="0" cy="0"/>
        </a:xfrm>
      </p:grpSpPr>
      <p:grpSp>
        <p:nvGrpSpPr>
          <p:cNvPr name="Group 2" id="2"/>
          <p:cNvGrpSpPr/>
          <p:nvPr/>
        </p:nvGrpSpPr>
        <p:grpSpPr>
          <a:xfrm rot="0">
            <a:off x="781182" y="2097685"/>
            <a:ext cx="4046683" cy="1065563"/>
            <a:chOff x="0" y="0"/>
            <a:chExt cx="1065793" cy="280642"/>
          </a:xfrm>
        </p:grpSpPr>
        <p:sp>
          <p:nvSpPr>
            <p:cNvPr name="Freeform 3" id="3"/>
            <p:cNvSpPr/>
            <p:nvPr/>
          </p:nvSpPr>
          <p:spPr>
            <a:xfrm flipH="false" flipV="false" rot="0">
              <a:off x="0" y="0"/>
              <a:ext cx="1065793" cy="280642"/>
            </a:xfrm>
            <a:custGeom>
              <a:avLst/>
              <a:gdLst/>
              <a:ahLst/>
              <a:cxnLst/>
              <a:rect r="r" b="b" t="t" l="l"/>
              <a:pathLst>
                <a:path h="280642" w="1065793">
                  <a:moveTo>
                    <a:pt x="47829" y="0"/>
                  </a:moveTo>
                  <a:lnTo>
                    <a:pt x="1017964" y="0"/>
                  </a:lnTo>
                  <a:cubicBezTo>
                    <a:pt x="1044379" y="0"/>
                    <a:pt x="1065793" y="21414"/>
                    <a:pt x="1065793" y="47829"/>
                  </a:cubicBezTo>
                  <a:lnTo>
                    <a:pt x="1065793" y="232813"/>
                  </a:lnTo>
                  <a:cubicBezTo>
                    <a:pt x="1065793" y="259228"/>
                    <a:pt x="1044379" y="280642"/>
                    <a:pt x="1017964" y="280642"/>
                  </a:cubicBezTo>
                  <a:lnTo>
                    <a:pt x="47829" y="280642"/>
                  </a:lnTo>
                  <a:cubicBezTo>
                    <a:pt x="35144" y="280642"/>
                    <a:pt x="22978" y="275603"/>
                    <a:pt x="14009" y="266633"/>
                  </a:cubicBezTo>
                  <a:cubicBezTo>
                    <a:pt x="5039" y="257664"/>
                    <a:pt x="0" y="245498"/>
                    <a:pt x="0" y="232813"/>
                  </a:cubicBezTo>
                  <a:lnTo>
                    <a:pt x="0" y="47829"/>
                  </a:lnTo>
                  <a:cubicBezTo>
                    <a:pt x="0" y="35144"/>
                    <a:pt x="5039" y="22978"/>
                    <a:pt x="14009" y="14009"/>
                  </a:cubicBezTo>
                  <a:cubicBezTo>
                    <a:pt x="22978" y="5039"/>
                    <a:pt x="35144" y="0"/>
                    <a:pt x="47829" y="0"/>
                  </a:cubicBezTo>
                  <a:close/>
                </a:path>
              </a:pathLst>
            </a:custGeom>
            <a:solidFill>
              <a:srgbClr val="006241"/>
            </a:solidFill>
          </p:spPr>
        </p:sp>
        <p:sp>
          <p:nvSpPr>
            <p:cNvPr name="TextBox 4" id="4"/>
            <p:cNvSpPr txBox="true"/>
            <p:nvPr/>
          </p:nvSpPr>
          <p:spPr>
            <a:xfrm>
              <a:off x="0" y="-28575"/>
              <a:ext cx="1065793" cy="309217"/>
            </a:xfrm>
            <a:prstGeom prst="rect">
              <a:avLst/>
            </a:prstGeom>
          </p:spPr>
          <p:txBody>
            <a:bodyPr anchor="ctr" rtlCol="false" tIns="50800" lIns="50800" bIns="50800" rIns="50800"/>
            <a:lstStyle/>
            <a:p>
              <a:pPr algn="ctr">
                <a:lnSpc>
                  <a:spcPts val="2513"/>
                </a:lnSpc>
              </a:pPr>
            </a:p>
          </p:txBody>
        </p:sp>
      </p:grpSp>
      <p:grpSp>
        <p:nvGrpSpPr>
          <p:cNvPr name="Group 5" id="5"/>
          <p:cNvGrpSpPr/>
          <p:nvPr/>
        </p:nvGrpSpPr>
        <p:grpSpPr>
          <a:xfrm rot="0">
            <a:off x="5074027" y="2097685"/>
            <a:ext cx="4046683" cy="1065563"/>
            <a:chOff x="0" y="0"/>
            <a:chExt cx="1065793" cy="280642"/>
          </a:xfrm>
        </p:grpSpPr>
        <p:sp>
          <p:nvSpPr>
            <p:cNvPr name="Freeform 6" id="6"/>
            <p:cNvSpPr/>
            <p:nvPr/>
          </p:nvSpPr>
          <p:spPr>
            <a:xfrm flipH="false" flipV="false" rot="0">
              <a:off x="0" y="0"/>
              <a:ext cx="1065793" cy="280642"/>
            </a:xfrm>
            <a:custGeom>
              <a:avLst/>
              <a:gdLst/>
              <a:ahLst/>
              <a:cxnLst/>
              <a:rect r="r" b="b" t="t" l="l"/>
              <a:pathLst>
                <a:path h="280642" w="1065793">
                  <a:moveTo>
                    <a:pt x="47829" y="0"/>
                  </a:moveTo>
                  <a:lnTo>
                    <a:pt x="1017964" y="0"/>
                  </a:lnTo>
                  <a:cubicBezTo>
                    <a:pt x="1044379" y="0"/>
                    <a:pt x="1065793" y="21414"/>
                    <a:pt x="1065793" y="47829"/>
                  </a:cubicBezTo>
                  <a:lnTo>
                    <a:pt x="1065793" y="232813"/>
                  </a:lnTo>
                  <a:cubicBezTo>
                    <a:pt x="1065793" y="259228"/>
                    <a:pt x="1044379" y="280642"/>
                    <a:pt x="1017964" y="280642"/>
                  </a:cubicBezTo>
                  <a:lnTo>
                    <a:pt x="47829" y="280642"/>
                  </a:lnTo>
                  <a:cubicBezTo>
                    <a:pt x="35144" y="280642"/>
                    <a:pt x="22978" y="275603"/>
                    <a:pt x="14009" y="266633"/>
                  </a:cubicBezTo>
                  <a:cubicBezTo>
                    <a:pt x="5039" y="257664"/>
                    <a:pt x="0" y="245498"/>
                    <a:pt x="0" y="232813"/>
                  </a:cubicBezTo>
                  <a:lnTo>
                    <a:pt x="0" y="47829"/>
                  </a:lnTo>
                  <a:cubicBezTo>
                    <a:pt x="0" y="35144"/>
                    <a:pt x="5039" y="22978"/>
                    <a:pt x="14009" y="14009"/>
                  </a:cubicBezTo>
                  <a:cubicBezTo>
                    <a:pt x="22978" y="5039"/>
                    <a:pt x="35144" y="0"/>
                    <a:pt x="47829" y="0"/>
                  </a:cubicBezTo>
                  <a:close/>
                </a:path>
              </a:pathLst>
            </a:custGeom>
            <a:solidFill>
              <a:srgbClr val="006241"/>
            </a:solidFill>
          </p:spPr>
        </p:sp>
        <p:sp>
          <p:nvSpPr>
            <p:cNvPr name="TextBox 7" id="7"/>
            <p:cNvSpPr txBox="true"/>
            <p:nvPr/>
          </p:nvSpPr>
          <p:spPr>
            <a:xfrm>
              <a:off x="0" y="-28575"/>
              <a:ext cx="1065793" cy="309217"/>
            </a:xfrm>
            <a:prstGeom prst="rect">
              <a:avLst/>
            </a:prstGeom>
          </p:spPr>
          <p:txBody>
            <a:bodyPr anchor="ctr" rtlCol="false" tIns="50800" lIns="50800" bIns="50800" rIns="50800"/>
            <a:lstStyle/>
            <a:p>
              <a:pPr algn="ctr">
                <a:lnSpc>
                  <a:spcPts val="2513"/>
                </a:lnSpc>
              </a:pPr>
            </a:p>
          </p:txBody>
        </p:sp>
      </p:grpSp>
      <p:grpSp>
        <p:nvGrpSpPr>
          <p:cNvPr name="Group 8" id="8"/>
          <p:cNvGrpSpPr/>
          <p:nvPr/>
        </p:nvGrpSpPr>
        <p:grpSpPr>
          <a:xfrm rot="0">
            <a:off x="9366871" y="2097685"/>
            <a:ext cx="4046683" cy="1065563"/>
            <a:chOff x="0" y="0"/>
            <a:chExt cx="1065793" cy="280642"/>
          </a:xfrm>
        </p:grpSpPr>
        <p:sp>
          <p:nvSpPr>
            <p:cNvPr name="Freeform 9" id="9"/>
            <p:cNvSpPr/>
            <p:nvPr/>
          </p:nvSpPr>
          <p:spPr>
            <a:xfrm flipH="false" flipV="false" rot="0">
              <a:off x="0" y="0"/>
              <a:ext cx="1065793" cy="280642"/>
            </a:xfrm>
            <a:custGeom>
              <a:avLst/>
              <a:gdLst/>
              <a:ahLst/>
              <a:cxnLst/>
              <a:rect r="r" b="b" t="t" l="l"/>
              <a:pathLst>
                <a:path h="280642" w="1065793">
                  <a:moveTo>
                    <a:pt x="47829" y="0"/>
                  </a:moveTo>
                  <a:lnTo>
                    <a:pt x="1017964" y="0"/>
                  </a:lnTo>
                  <a:cubicBezTo>
                    <a:pt x="1044379" y="0"/>
                    <a:pt x="1065793" y="21414"/>
                    <a:pt x="1065793" y="47829"/>
                  </a:cubicBezTo>
                  <a:lnTo>
                    <a:pt x="1065793" y="232813"/>
                  </a:lnTo>
                  <a:cubicBezTo>
                    <a:pt x="1065793" y="259228"/>
                    <a:pt x="1044379" y="280642"/>
                    <a:pt x="1017964" y="280642"/>
                  </a:cubicBezTo>
                  <a:lnTo>
                    <a:pt x="47829" y="280642"/>
                  </a:lnTo>
                  <a:cubicBezTo>
                    <a:pt x="35144" y="280642"/>
                    <a:pt x="22978" y="275603"/>
                    <a:pt x="14009" y="266633"/>
                  </a:cubicBezTo>
                  <a:cubicBezTo>
                    <a:pt x="5039" y="257664"/>
                    <a:pt x="0" y="245498"/>
                    <a:pt x="0" y="232813"/>
                  </a:cubicBezTo>
                  <a:lnTo>
                    <a:pt x="0" y="47829"/>
                  </a:lnTo>
                  <a:cubicBezTo>
                    <a:pt x="0" y="35144"/>
                    <a:pt x="5039" y="22978"/>
                    <a:pt x="14009" y="14009"/>
                  </a:cubicBezTo>
                  <a:cubicBezTo>
                    <a:pt x="22978" y="5039"/>
                    <a:pt x="35144" y="0"/>
                    <a:pt x="47829" y="0"/>
                  </a:cubicBezTo>
                  <a:close/>
                </a:path>
              </a:pathLst>
            </a:custGeom>
            <a:solidFill>
              <a:srgbClr val="006241"/>
            </a:solidFill>
          </p:spPr>
        </p:sp>
        <p:sp>
          <p:nvSpPr>
            <p:cNvPr name="TextBox 10" id="10"/>
            <p:cNvSpPr txBox="true"/>
            <p:nvPr/>
          </p:nvSpPr>
          <p:spPr>
            <a:xfrm>
              <a:off x="0" y="-28575"/>
              <a:ext cx="1065793" cy="309217"/>
            </a:xfrm>
            <a:prstGeom prst="rect">
              <a:avLst/>
            </a:prstGeom>
          </p:spPr>
          <p:txBody>
            <a:bodyPr anchor="ctr" rtlCol="false" tIns="50800" lIns="50800" bIns="50800" rIns="50800"/>
            <a:lstStyle/>
            <a:p>
              <a:pPr algn="ctr">
                <a:lnSpc>
                  <a:spcPts val="2513"/>
                </a:lnSpc>
              </a:pPr>
            </a:p>
          </p:txBody>
        </p:sp>
      </p:grpSp>
      <p:grpSp>
        <p:nvGrpSpPr>
          <p:cNvPr name="Group 11" id="11"/>
          <p:cNvGrpSpPr/>
          <p:nvPr/>
        </p:nvGrpSpPr>
        <p:grpSpPr>
          <a:xfrm rot="0">
            <a:off x="13659716" y="2097685"/>
            <a:ext cx="4046683" cy="1065563"/>
            <a:chOff x="0" y="0"/>
            <a:chExt cx="1065793" cy="280642"/>
          </a:xfrm>
        </p:grpSpPr>
        <p:sp>
          <p:nvSpPr>
            <p:cNvPr name="Freeform 12" id="12"/>
            <p:cNvSpPr/>
            <p:nvPr/>
          </p:nvSpPr>
          <p:spPr>
            <a:xfrm flipH="false" flipV="false" rot="0">
              <a:off x="0" y="0"/>
              <a:ext cx="1065793" cy="280642"/>
            </a:xfrm>
            <a:custGeom>
              <a:avLst/>
              <a:gdLst/>
              <a:ahLst/>
              <a:cxnLst/>
              <a:rect r="r" b="b" t="t" l="l"/>
              <a:pathLst>
                <a:path h="280642" w="1065793">
                  <a:moveTo>
                    <a:pt x="47829" y="0"/>
                  </a:moveTo>
                  <a:lnTo>
                    <a:pt x="1017964" y="0"/>
                  </a:lnTo>
                  <a:cubicBezTo>
                    <a:pt x="1044379" y="0"/>
                    <a:pt x="1065793" y="21414"/>
                    <a:pt x="1065793" y="47829"/>
                  </a:cubicBezTo>
                  <a:lnTo>
                    <a:pt x="1065793" y="232813"/>
                  </a:lnTo>
                  <a:cubicBezTo>
                    <a:pt x="1065793" y="259228"/>
                    <a:pt x="1044379" y="280642"/>
                    <a:pt x="1017964" y="280642"/>
                  </a:cubicBezTo>
                  <a:lnTo>
                    <a:pt x="47829" y="280642"/>
                  </a:lnTo>
                  <a:cubicBezTo>
                    <a:pt x="35144" y="280642"/>
                    <a:pt x="22978" y="275603"/>
                    <a:pt x="14009" y="266633"/>
                  </a:cubicBezTo>
                  <a:cubicBezTo>
                    <a:pt x="5039" y="257664"/>
                    <a:pt x="0" y="245498"/>
                    <a:pt x="0" y="232813"/>
                  </a:cubicBezTo>
                  <a:lnTo>
                    <a:pt x="0" y="47829"/>
                  </a:lnTo>
                  <a:cubicBezTo>
                    <a:pt x="0" y="35144"/>
                    <a:pt x="5039" y="22978"/>
                    <a:pt x="14009" y="14009"/>
                  </a:cubicBezTo>
                  <a:cubicBezTo>
                    <a:pt x="22978" y="5039"/>
                    <a:pt x="35144" y="0"/>
                    <a:pt x="47829" y="0"/>
                  </a:cubicBezTo>
                  <a:close/>
                </a:path>
              </a:pathLst>
            </a:custGeom>
            <a:solidFill>
              <a:srgbClr val="006241"/>
            </a:solidFill>
          </p:spPr>
        </p:sp>
        <p:sp>
          <p:nvSpPr>
            <p:cNvPr name="TextBox 13" id="13"/>
            <p:cNvSpPr txBox="true"/>
            <p:nvPr/>
          </p:nvSpPr>
          <p:spPr>
            <a:xfrm>
              <a:off x="0" y="-28575"/>
              <a:ext cx="1065793" cy="309217"/>
            </a:xfrm>
            <a:prstGeom prst="rect">
              <a:avLst/>
            </a:prstGeom>
          </p:spPr>
          <p:txBody>
            <a:bodyPr anchor="ctr" rtlCol="false" tIns="50800" lIns="50800" bIns="50800" rIns="50800"/>
            <a:lstStyle/>
            <a:p>
              <a:pPr algn="ctr">
                <a:lnSpc>
                  <a:spcPts val="2513"/>
                </a:lnSpc>
              </a:pPr>
            </a:p>
          </p:txBody>
        </p:sp>
      </p:grpSp>
      <p:sp>
        <p:nvSpPr>
          <p:cNvPr name="TextBox 14" id="14"/>
          <p:cNvSpPr txBox="true"/>
          <p:nvPr/>
        </p:nvSpPr>
        <p:spPr>
          <a:xfrm rot="0">
            <a:off x="1028700" y="676275"/>
            <a:ext cx="7786489"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THE RACE FRAMEWORK</a:t>
            </a:r>
          </a:p>
        </p:txBody>
      </p:sp>
      <p:sp>
        <p:nvSpPr>
          <p:cNvPr name="TextBox 15" id="15"/>
          <p:cNvSpPr txBox="true"/>
          <p:nvPr/>
        </p:nvSpPr>
        <p:spPr>
          <a:xfrm rot="0">
            <a:off x="1842548" y="2329476"/>
            <a:ext cx="1923951" cy="573405"/>
          </a:xfrm>
          <a:prstGeom prst="rect">
            <a:avLst/>
          </a:prstGeom>
        </p:spPr>
        <p:txBody>
          <a:bodyPr anchor="t" rtlCol="false" tIns="0" lIns="0" bIns="0" rIns="0">
            <a:spAutoFit/>
          </a:bodyPr>
          <a:lstStyle/>
          <a:p>
            <a:pPr algn="ctr">
              <a:lnSpc>
                <a:spcPts val="4680"/>
              </a:lnSpc>
              <a:spcBef>
                <a:spcPct val="0"/>
              </a:spcBef>
            </a:pPr>
            <a:r>
              <a:rPr lang="en-US" b="true" sz="3600" spc="363">
                <a:solidFill>
                  <a:srgbClr val="C8A14B"/>
                </a:solidFill>
                <a:latin typeface="Montserrat Bold"/>
                <a:ea typeface="Montserrat Bold"/>
                <a:cs typeface="Montserrat Bold"/>
                <a:sym typeface="Montserrat Bold"/>
              </a:rPr>
              <a:t>REACH</a:t>
            </a:r>
          </a:p>
        </p:txBody>
      </p:sp>
      <p:sp>
        <p:nvSpPr>
          <p:cNvPr name="TextBox 16" id="16"/>
          <p:cNvSpPr txBox="true"/>
          <p:nvPr/>
        </p:nvSpPr>
        <p:spPr>
          <a:xfrm rot="0">
            <a:off x="6547994" y="2329476"/>
            <a:ext cx="1098748" cy="573405"/>
          </a:xfrm>
          <a:prstGeom prst="rect">
            <a:avLst/>
          </a:prstGeom>
        </p:spPr>
        <p:txBody>
          <a:bodyPr anchor="t" rtlCol="false" tIns="0" lIns="0" bIns="0" rIns="0">
            <a:spAutoFit/>
          </a:bodyPr>
          <a:lstStyle/>
          <a:p>
            <a:pPr algn="ctr">
              <a:lnSpc>
                <a:spcPts val="4680"/>
              </a:lnSpc>
              <a:spcBef>
                <a:spcPct val="0"/>
              </a:spcBef>
            </a:pPr>
            <a:r>
              <a:rPr lang="en-US" b="true" sz="3600" spc="363">
                <a:solidFill>
                  <a:srgbClr val="C8A14B"/>
                </a:solidFill>
                <a:latin typeface="Montserrat Bold"/>
                <a:ea typeface="Montserrat Bold"/>
                <a:cs typeface="Montserrat Bold"/>
                <a:sym typeface="Montserrat Bold"/>
              </a:rPr>
              <a:t>ACT</a:t>
            </a:r>
          </a:p>
        </p:txBody>
      </p:sp>
      <p:sp>
        <p:nvSpPr>
          <p:cNvPr name="TextBox 17" id="17"/>
          <p:cNvSpPr txBox="true"/>
          <p:nvPr/>
        </p:nvSpPr>
        <p:spPr>
          <a:xfrm rot="0">
            <a:off x="10064082" y="2329476"/>
            <a:ext cx="2660055" cy="573405"/>
          </a:xfrm>
          <a:prstGeom prst="rect">
            <a:avLst/>
          </a:prstGeom>
        </p:spPr>
        <p:txBody>
          <a:bodyPr anchor="t" rtlCol="false" tIns="0" lIns="0" bIns="0" rIns="0">
            <a:spAutoFit/>
          </a:bodyPr>
          <a:lstStyle/>
          <a:p>
            <a:pPr algn="ctr">
              <a:lnSpc>
                <a:spcPts val="4680"/>
              </a:lnSpc>
              <a:spcBef>
                <a:spcPct val="0"/>
              </a:spcBef>
            </a:pPr>
            <a:r>
              <a:rPr lang="en-US" b="true" sz="3600" spc="363">
                <a:solidFill>
                  <a:srgbClr val="C8A14B"/>
                </a:solidFill>
                <a:latin typeface="Montserrat Bold"/>
                <a:ea typeface="Montserrat Bold"/>
                <a:cs typeface="Montserrat Bold"/>
                <a:sym typeface="Montserrat Bold"/>
              </a:rPr>
              <a:t>CONVERT</a:t>
            </a:r>
          </a:p>
        </p:txBody>
      </p:sp>
      <p:sp>
        <p:nvSpPr>
          <p:cNvPr name="TextBox 18" id="18"/>
          <p:cNvSpPr txBox="true"/>
          <p:nvPr/>
        </p:nvSpPr>
        <p:spPr>
          <a:xfrm rot="0">
            <a:off x="14526402" y="2329476"/>
            <a:ext cx="2310705" cy="573405"/>
          </a:xfrm>
          <a:prstGeom prst="rect">
            <a:avLst/>
          </a:prstGeom>
        </p:spPr>
        <p:txBody>
          <a:bodyPr anchor="t" rtlCol="false" tIns="0" lIns="0" bIns="0" rIns="0">
            <a:spAutoFit/>
          </a:bodyPr>
          <a:lstStyle/>
          <a:p>
            <a:pPr algn="ctr">
              <a:lnSpc>
                <a:spcPts val="4680"/>
              </a:lnSpc>
              <a:spcBef>
                <a:spcPct val="0"/>
              </a:spcBef>
            </a:pPr>
            <a:r>
              <a:rPr lang="en-US" b="true" sz="3600" spc="363">
                <a:solidFill>
                  <a:srgbClr val="C8A14B"/>
                </a:solidFill>
                <a:latin typeface="Montserrat Bold"/>
                <a:ea typeface="Montserrat Bold"/>
                <a:cs typeface="Montserrat Bold"/>
                <a:sym typeface="Montserrat Bold"/>
              </a:rPr>
              <a:t>ENGAGE</a:t>
            </a:r>
          </a:p>
        </p:txBody>
      </p:sp>
      <p:sp>
        <p:nvSpPr>
          <p:cNvPr name="TextBox 19" id="19"/>
          <p:cNvSpPr txBox="true"/>
          <p:nvPr/>
        </p:nvSpPr>
        <p:spPr>
          <a:xfrm rot="0">
            <a:off x="1372648" y="3496167"/>
            <a:ext cx="2863751" cy="291465"/>
          </a:xfrm>
          <a:prstGeom prst="rect">
            <a:avLst/>
          </a:prstGeom>
        </p:spPr>
        <p:txBody>
          <a:bodyPr anchor="t" rtlCol="false" tIns="0" lIns="0" bIns="0" rIns="0">
            <a:spAutoFit/>
          </a:bodyPr>
          <a:lstStyle/>
          <a:p>
            <a:pPr algn="ctr">
              <a:lnSpc>
                <a:spcPts val="2340"/>
              </a:lnSpc>
              <a:spcBef>
                <a:spcPct val="0"/>
              </a:spcBef>
            </a:pPr>
            <a:r>
              <a:rPr lang="en-US" sz="1800" i="true">
                <a:solidFill>
                  <a:srgbClr val="6B6B5E"/>
                </a:solidFill>
                <a:latin typeface="Inter Italics"/>
                <a:ea typeface="Inter Italics"/>
                <a:cs typeface="Inter Italics"/>
                <a:sym typeface="Inter Italics"/>
              </a:rPr>
              <a:t>Pre-Acquisition/Awareness</a:t>
            </a:r>
          </a:p>
        </p:txBody>
      </p:sp>
      <p:sp>
        <p:nvSpPr>
          <p:cNvPr name="TextBox 20" id="20"/>
          <p:cNvSpPr txBox="true"/>
          <p:nvPr/>
        </p:nvSpPr>
        <p:spPr>
          <a:xfrm rot="0">
            <a:off x="5653537" y="3496167"/>
            <a:ext cx="2887663" cy="291465"/>
          </a:xfrm>
          <a:prstGeom prst="rect">
            <a:avLst/>
          </a:prstGeom>
        </p:spPr>
        <p:txBody>
          <a:bodyPr anchor="t" rtlCol="false" tIns="0" lIns="0" bIns="0" rIns="0">
            <a:spAutoFit/>
          </a:bodyPr>
          <a:lstStyle/>
          <a:p>
            <a:pPr algn="ctr">
              <a:lnSpc>
                <a:spcPts val="2340"/>
              </a:lnSpc>
              <a:spcBef>
                <a:spcPct val="0"/>
              </a:spcBef>
            </a:pPr>
            <a:r>
              <a:rPr lang="en-US" sz="1800" i="true">
                <a:solidFill>
                  <a:srgbClr val="6B6B5E"/>
                </a:solidFill>
                <a:latin typeface="Inter Italics"/>
                <a:ea typeface="Inter Italics"/>
                <a:cs typeface="Inter Italics"/>
                <a:sym typeface="Inter Italics"/>
              </a:rPr>
              <a:t>Pre-Purchase/Engagement</a:t>
            </a:r>
          </a:p>
        </p:txBody>
      </p:sp>
      <p:sp>
        <p:nvSpPr>
          <p:cNvPr name="TextBox 21" id="21"/>
          <p:cNvSpPr txBox="true"/>
          <p:nvPr/>
        </p:nvSpPr>
        <p:spPr>
          <a:xfrm rot="0">
            <a:off x="10400258" y="3496167"/>
            <a:ext cx="1979910" cy="291465"/>
          </a:xfrm>
          <a:prstGeom prst="rect">
            <a:avLst/>
          </a:prstGeom>
        </p:spPr>
        <p:txBody>
          <a:bodyPr anchor="t" rtlCol="false" tIns="0" lIns="0" bIns="0" rIns="0">
            <a:spAutoFit/>
          </a:bodyPr>
          <a:lstStyle/>
          <a:p>
            <a:pPr algn="ctr">
              <a:lnSpc>
                <a:spcPts val="2340"/>
              </a:lnSpc>
              <a:spcBef>
                <a:spcPct val="0"/>
              </a:spcBef>
            </a:pPr>
            <a:r>
              <a:rPr lang="en-US" sz="1800" i="true">
                <a:solidFill>
                  <a:srgbClr val="6B6B5E"/>
                </a:solidFill>
                <a:latin typeface="Inter Italics"/>
                <a:ea typeface="Inter Italics"/>
                <a:cs typeface="Inter Italics"/>
                <a:sym typeface="Inter Italics"/>
              </a:rPr>
              <a:t>Purchase Decision</a:t>
            </a:r>
          </a:p>
        </p:txBody>
      </p:sp>
      <p:sp>
        <p:nvSpPr>
          <p:cNvPr name="TextBox 22" id="22"/>
          <p:cNvSpPr txBox="true"/>
          <p:nvPr/>
        </p:nvSpPr>
        <p:spPr>
          <a:xfrm rot="0">
            <a:off x="14354654" y="3496167"/>
            <a:ext cx="2654201" cy="291465"/>
          </a:xfrm>
          <a:prstGeom prst="rect">
            <a:avLst/>
          </a:prstGeom>
        </p:spPr>
        <p:txBody>
          <a:bodyPr anchor="t" rtlCol="false" tIns="0" lIns="0" bIns="0" rIns="0">
            <a:spAutoFit/>
          </a:bodyPr>
          <a:lstStyle/>
          <a:p>
            <a:pPr algn="ctr">
              <a:lnSpc>
                <a:spcPts val="2340"/>
              </a:lnSpc>
              <a:spcBef>
                <a:spcPct val="0"/>
              </a:spcBef>
            </a:pPr>
            <a:r>
              <a:rPr lang="en-US" sz="1800" i="true">
                <a:solidFill>
                  <a:srgbClr val="6B6B5E"/>
                </a:solidFill>
                <a:latin typeface="Inter Italics"/>
                <a:ea typeface="Inter Italics"/>
                <a:cs typeface="Inter Italics"/>
                <a:sym typeface="Inter Italics"/>
              </a:rPr>
              <a:t>Post-Purchase/Retention</a:t>
            </a:r>
          </a:p>
        </p:txBody>
      </p:sp>
      <p:grpSp>
        <p:nvGrpSpPr>
          <p:cNvPr name="Group 23" id="23"/>
          <p:cNvGrpSpPr/>
          <p:nvPr/>
        </p:nvGrpSpPr>
        <p:grpSpPr>
          <a:xfrm rot="0">
            <a:off x="581601" y="5831484"/>
            <a:ext cx="17124798" cy="2445666"/>
            <a:chOff x="0" y="0"/>
            <a:chExt cx="4510235" cy="644126"/>
          </a:xfrm>
        </p:grpSpPr>
        <p:sp>
          <p:nvSpPr>
            <p:cNvPr name="Freeform 24" id="24"/>
            <p:cNvSpPr/>
            <p:nvPr/>
          </p:nvSpPr>
          <p:spPr>
            <a:xfrm flipH="false" flipV="false" rot="0">
              <a:off x="0" y="0"/>
              <a:ext cx="4510235" cy="644126"/>
            </a:xfrm>
            <a:custGeom>
              <a:avLst/>
              <a:gdLst/>
              <a:ahLst/>
              <a:cxnLst/>
              <a:rect r="r" b="b" t="t" l="l"/>
              <a:pathLst>
                <a:path h="644126" w="4510235">
                  <a:moveTo>
                    <a:pt x="11302" y="0"/>
                  </a:moveTo>
                  <a:lnTo>
                    <a:pt x="4498933" y="0"/>
                  </a:lnTo>
                  <a:cubicBezTo>
                    <a:pt x="4505175" y="0"/>
                    <a:pt x="4510235" y="5060"/>
                    <a:pt x="4510235" y="11302"/>
                  </a:cubicBezTo>
                  <a:lnTo>
                    <a:pt x="4510235" y="632824"/>
                  </a:lnTo>
                  <a:cubicBezTo>
                    <a:pt x="4510235" y="635821"/>
                    <a:pt x="4509044" y="638696"/>
                    <a:pt x="4506925" y="640816"/>
                  </a:cubicBezTo>
                  <a:cubicBezTo>
                    <a:pt x="4504805" y="642935"/>
                    <a:pt x="4501930" y="644126"/>
                    <a:pt x="4498933" y="644126"/>
                  </a:cubicBezTo>
                  <a:lnTo>
                    <a:pt x="11302" y="644126"/>
                  </a:lnTo>
                  <a:cubicBezTo>
                    <a:pt x="5060" y="644126"/>
                    <a:pt x="0" y="639066"/>
                    <a:pt x="0" y="632824"/>
                  </a:cubicBezTo>
                  <a:lnTo>
                    <a:pt x="0" y="11302"/>
                  </a:lnTo>
                  <a:cubicBezTo>
                    <a:pt x="0" y="5060"/>
                    <a:pt x="5060" y="0"/>
                    <a:pt x="11302" y="0"/>
                  </a:cubicBezTo>
                  <a:close/>
                </a:path>
              </a:pathLst>
            </a:custGeom>
            <a:solidFill>
              <a:srgbClr val="006241"/>
            </a:solidFill>
          </p:spPr>
        </p:sp>
        <p:sp>
          <p:nvSpPr>
            <p:cNvPr name="TextBox 25" id="25"/>
            <p:cNvSpPr txBox="true"/>
            <p:nvPr/>
          </p:nvSpPr>
          <p:spPr>
            <a:xfrm>
              <a:off x="0" y="-28575"/>
              <a:ext cx="4510235" cy="672701"/>
            </a:xfrm>
            <a:prstGeom prst="rect">
              <a:avLst/>
            </a:prstGeom>
          </p:spPr>
          <p:txBody>
            <a:bodyPr anchor="ctr" rtlCol="false" tIns="50800" lIns="50800" bIns="50800" rIns="50800"/>
            <a:lstStyle/>
            <a:p>
              <a:pPr algn="ctr">
                <a:lnSpc>
                  <a:spcPts val="2513"/>
                </a:lnSpc>
              </a:pPr>
            </a:p>
          </p:txBody>
        </p:sp>
      </p:grpSp>
      <p:sp>
        <p:nvSpPr>
          <p:cNvPr name="TextBox 26" id="26"/>
          <p:cNvSpPr txBox="true"/>
          <p:nvPr/>
        </p:nvSpPr>
        <p:spPr>
          <a:xfrm rot="0">
            <a:off x="750993" y="3963314"/>
            <a:ext cx="1243310" cy="379095"/>
          </a:xfrm>
          <a:prstGeom prst="rect">
            <a:avLst/>
          </a:prstGeom>
        </p:spPr>
        <p:txBody>
          <a:bodyPr anchor="t" rtlCol="false" tIns="0" lIns="0" bIns="0" rIns="0">
            <a:spAutoFit/>
          </a:bodyPr>
          <a:lstStyle/>
          <a:p>
            <a:pPr algn="l">
              <a:lnSpc>
                <a:spcPts val="3120"/>
              </a:lnSpc>
              <a:spcBef>
                <a:spcPct val="0"/>
              </a:spcBef>
            </a:pPr>
            <a:r>
              <a:rPr lang="en-US" sz="2400" spc="108">
                <a:solidFill>
                  <a:srgbClr val="6B6B5E"/>
                </a:solidFill>
                <a:latin typeface="Montserrat"/>
                <a:ea typeface="Montserrat"/>
                <a:cs typeface="Montserrat"/>
                <a:sym typeface="Montserrat"/>
              </a:rPr>
              <a:t>SIGNAL</a:t>
            </a:r>
          </a:p>
        </p:txBody>
      </p:sp>
      <p:sp>
        <p:nvSpPr>
          <p:cNvPr name="TextBox 27" id="27"/>
          <p:cNvSpPr txBox="true"/>
          <p:nvPr/>
        </p:nvSpPr>
        <p:spPr>
          <a:xfrm rot="0">
            <a:off x="1030554" y="4666259"/>
            <a:ext cx="3455217" cy="9747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MMM identifies which paid channels reach Occasional Visitors most efficiently</a:t>
            </a:r>
          </a:p>
        </p:txBody>
      </p:sp>
      <p:sp>
        <p:nvSpPr>
          <p:cNvPr name="TextBox 28" id="28"/>
          <p:cNvSpPr txBox="true"/>
          <p:nvPr/>
        </p:nvSpPr>
        <p:spPr>
          <a:xfrm rot="0">
            <a:off x="5323398" y="4666259"/>
            <a:ext cx="3455217" cy="9747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Churn model flags Lapsing Members hitting 30 days no-visit</a:t>
            </a:r>
          </a:p>
        </p:txBody>
      </p:sp>
      <p:sp>
        <p:nvSpPr>
          <p:cNvPr name="TextBox 29" id="29"/>
          <p:cNvSpPr txBox="true"/>
          <p:nvPr/>
        </p:nvSpPr>
        <p:spPr>
          <a:xfrm rot="0">
            <a:off x="9620139" y="4666259"/>
            <a:ext cx="3455217" cy="9747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Behavioural rules detect Value Seekers responding to offer cues</a:t>
            </a:r>
          </a:p>
        </p:txBody>
      </p:sp>
      <p:sp>
        <p:nvSpPr>
          <p:cNvPr name="TextBox 30" id="30"/>
          <p:cNvSpPr txBox="true"/>
          <p:nvPr/>
        </p:nvSpPr>
        <p:spPr>
          <a:xfrm rot="0">
            <a:off x="13907785" y="4666259"/>
            <a:ext cx="3455217" cy="9747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Segmentation distinguishes Anchor Loyalists from Habitual Routines</a:t>
            </a:r>
          </a:p>
        </p:txBody>
      </p:sp>
      <p:sp>
        <p:nvSpPr>
          <p:cNvPr name="TextBox 31" id="31"/>
          <p:cNvSpPr txBox="true"/>
          <p:nvPr/>
        </p:nvSpPr>
        <p:spPr>
          <a:xfrm rot="0">
            <a:off x="797355" y="6126759"/>
            <a:ext cx="1284784" cy="379095"/>
          </a:xfrm>
          <a:prstGeom prst="rect">
            <a:avLst/>
          </a:prstGeom>
        </p:spPr>
        <p:txBody>
          <a:bodyPr anchor="t" rtlCol="false" tIns="0" lIns="0" bIns="0" rIns="0">
            <a:spAutoFit/>
          </a:bodyPr>
          <a:lstStyle/>
          <a:p>
            <a:pPr algn="l">
              <a:lnSpc>
                <a:spcPts val="3120"/>
              </a:lnSpc>
              <a:spcBef>
                <a:spcPct val="0"/>
              </a:spcBef>
            </a:pPr>
            <a:r>
              <a:rPr lang="en-US" sz="2400" spc="108">
                <a:solidFill>
                  <a:srgbClr val="F2F0EB"/>
                </a:solidFill>
                <a:latin typeface="Montserrat"/>
                <a:ea typeface="Montserrat"/>
                <a:cs typeface="Montserrat"/>
                <a:sym typeface="Montserrat"/>
              </a:rPr>
              <a:t>ACTION</a:t>
            </a:r>
          </a:p>
        </p:txBody>
      </p:sp>
      <p:sp>
        <p:nvSpPr>
          <p:cNvPr name="TextBox 32" id="32"/>
          <p:cNvSpPr txBox="true"/>
          <p:nvPr/>
        </p:nvSpPr>
        <p:spPr>
          <a:xfrm rot="0">
            <a:off x="1076915" y="6667779"/>
            <a:ext cx="3455217" cy="1298575"/>
          </a:xfrm>
          <a:prstGeom prst="rect">
            <a:avLst/>
          </a:prstGeom>
        </p:spPr>
        <p:txBody>
          <a:bodyPr anchor="t" rtlCol="false" tIns="0" lIns="0" bIns="0" rIns="0">
            <a:spAutoFit/>
          </a:bodyPr>
          <a:lstStyle/>
          <a:p>
            <a:pPr algn="ctr">
              <a:lnSpc>
                <a:spcPts val="2600"/>
              </a:lnSpc>
              <a:spcBef>
                <a:spcPct val="0"/>
              </a:spcBef>
            </a:pPr>
            <a:r>
              <a:rPr lang="en-US" sz="2000">
                <a:solidFill>
                  <a:srgbClr val="F2F0EB"/>
                </a:solidFill>
                <a:latin typeface="Inter"/>
                <a:ea typeface="Inter"/>
                <a:cs typeface="Inter"/>
                <a:sym typeface="Inter"/>
              </a:rPr>
              <a:t>Reactivation budget allocated to those channels and not to the broader media mix</a:t>
            </a:r>
          </a:p>
        </p:txBody>
      </p:sp>
      <p:sp>
        <p:nvSpPr>
          <p:cNvPr name="TextBox 33" id="33"/>
          <p:cNvSpPr txBox="true"/>
          <p:nvPr/>
        </p:nvSpPr>
        <p:spPr>
          <a:xfrm rot="0">
            <a:off x="5441265" y="6829704"/>
            <a:ext cx="3455217" cy="974725"/>
          </a:xfrm>
          <a:prstGeom prst="rect">
            <a:avLst/>
          </a:prstGeom>
        </p:spPr>
        <p:txBody>
          <a:bodyPr anchor="t" rtlCol="false" tIns="0" lIns="0" bIns="0" rIns="0">
            <a:spAutoFit/>
          </a:bodyPr>
          <a:lstStyle/>
          <a:p>
            <a:pPr algn="ctr">
              <a:lnSpc>
                <a:spcPts val="2600"/>
              </a:lnSpc>
              <a:spcBef>
                <a:spcPct val="0"/>
              </a:spcBef>
            </a:pPr>
            <a:r>
              <a:rPr lang="en-US" sz="2000">
                <a:solidFill>
                  <a:srgbClr val="F2F0EB"/>
                </a:solidFill>
                <a:latin typeface="Inter"/>
                <a:ea typeface="Inter"/>
                <a:cs typeface="Inter"/>
                <a:sym typeface="Inter"/>
              </a:rPr>
              <a:t>Personalised win-back deploys  before behaviour locks in as lapse</a:t>
            </a:r>
          </a:p>
        </p:txBody>
      </p:sp>
      <p:sp>
        <p:nvSpPr>
          <p:cNvPr name="TextBox 34" id="34"/>
          <p:cNvSpPr txBox="true"/>
          <p:nvPr/>
        </p:nvSpPr>
        <p:spPr>
          <a:xfrm rot="0">
            <a:off x="9666501" y="6829704"/>
            <a:ext cx="3455217" cy="974725"/>
          </a:xfrm>
          <a:prstGeom prst="rect">
            <a:avLst/>
          </a:prstGeom>
        </p:spPr>
        <p:txBody>
          <a:bodyPr anchor="t" rtlCol="false" tIns="0" lIns="0" bIns="0" rIns="0">
            <a:spAutoFit/>
          </a:bodyPr>
          <a:lstStyle/>
          <a:p>
            <a:pPr algn="ctr">
              <a:lnSpc>
                <a:spcPts val="2600"/>
              </a:lnSpc>
              <a:spcBef>
                <a:spcPct val="0"/>
              </a:spcBef>
            </a:pPr>
            <a:r>
              <a:rPr lang="en-US" sz="2000">
                <a:solidFill>
                  <a:srgbClr val="F2F0EB"/>
                </a:solidFill>
                <a:latin typeface="Inter"/>
                <a:ea typeface="Inter"/>
                <a:cs typeface="Inter"/>
                <a:sym typeface="Inter"/>
              </a:rPr>
              <a:t>Trigger-based offer fires, calibrated to their typical basket value</a:t>
            </a:r>
          </a:p>
        </p:txBody>
      </p:sp>
      <p:sp>
        <p:nvSpPr>
          <p:cNvPr name="TextBox 35" id="35"/>
          <p:cNvSpPr txBox="true"/>
          <p:nvPr/>
        </p:nvSpPr>
        <p:spPr>
          <a:xfrm rot="0">
            <a:off x="13954146" y="6667779"/>
            <a:ext cx="3455217" cy="974725"/>
          </a:xfrm>
          <a:prstGeom prst="rect">
            <a:avLst/>
          </a:prstGeom>
        </p:spPr>
        <p:txBody>
          <a:bodyPr anchor="t" rtlCol="false" tIns="0" lIns="0" bIns="0" rIns="0">
            <a:spAutoFit/>
          </a:bodyPr>
          <a:lstStyle/>
          <a:p>
            <a:pPr algn="ctr">
              <a:lnSpc>
                <a:spcPts val="2600"/>
              </a:lnSpc>
              <a:spcBef>
                <a:spcPct val="0"/>
              </a:spcBef>
            </a:pPr>
            <a:r>
              <a:rPr lang="en-US" sz="2000">
                <a:solidFill>
                  <a:srgbClr val="F2F0EB"/>
                </a:solidFill>
                <a:latin typeface="Inter"/>
                <a:ea typeface="Inter"/>
                <a:cs typeface="Inter"/>
                <a:sym typeface="Inter"/>
              </a:rPr>
              <a:t>Anchors get exclusive previews; Habituals get cadence-controlled email</a:t>
            </a:r>
          </a:p>
        </p:txBody>
      </p:sp>
      <p:sp>
        <p:nvSpPr>
          <p:cNvPr name="TextBox 36" id="36"/>
          <p:cNvSpPr txBox="true"/>
          <p:nvPr/>
        </p:nvSpPr>
        <p:spPr>
          <a:xfrm rot="0">
            <a:off x="750993" y="8610525"/>
            <a:ext cx="1639590" cy="379095"/>
          </a:xfrm>
          <a:prstGeom prst="rect">
            <a:avLst/>
          </a:prstGeom>
        </p:spPr>
        <p:txBody>
          <a:bodyPr anchor="t" rtlCol="false" tIns="0" lIns="0" bIns="0" rIns="0">
            <a:spAutoFit/>
          </a:bodyPr>
          <a:lstStyle/>
          <a:p>
            <a:pPr algn="l">
              <a:lnSpc>
                <a:spcPts val="3120"/>
              </a:lnSpc>
              <a:spcBef>
                <a:spcPct val="0"/>
              </a:spcBef>
            </a:pPr>
            <a:r>
              <a:rPr lang="en-US" sz="2400" spc="108">
                <a:solidFill>
                  <a:srgbClr val="6B6B5E"/>
                </a:solidFill>
                <a:latin typeface="Montserrat"/>
                <a:ea typeface="Montserrat"/>
                <a:cs typeface="Montserrat"/>
                <a:sym typeface="Montserrat"/>
              </a:rPr>
              <a:t>SEGMENT</a:t>
            </a:r>
          </a:p>
        </p:txBody>
      </p:sp>
      <p:sp>
        <p:nvSpPr>
          <p:cNvPr name="TextBox 37" id="37"/>
          <p:cNvSpPr txBox="true"/>
          <p:nvPr/>
        </p:nvSpPr>
        <p:spPr>
          <a:xfrm rot="0">
            <a:off x="1076915" y="9151545"/>
            <a:ext cx="3455217" cy="3270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Occasional Visitors</a:t>
            </a:r>
          </a:p>
        </p:txBody>
      </p:sp>
      <p:sp>
        <p:nvSpPr>
          <p:cNvPr name="TextBox 38" id="38"/>
          <p:cNvSpPr txBox="true"/>
          <p:nvPr/>
        </p:nvSpPr>
        <p:spPr>
          <a:xfrm rot="0">
            <a:off x="5441265" y="9151545"/>
            <a:ext cx="3455217" cy="3270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Lapsing Members</a:t>
            </a:r>
          </a:p>
        </p:txBody>
      </p:sp>
      <p:sp>
        <p:nvSpPr>
          <p:cNvPr name="TextBox 39" id="39"/>
          <p:cNvSpPr txBox="true"/>
          <p:nvPr/>
        </p:nvSpPr>
        <p:spPr>
          <a:xfrm rot="0">
            <a:off x="9620139" y="9151545"/>
            <a:ext cx="3455217" cy="32702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Value Seekers</a:t>
            </a:r>
          </a:p>
        </p:txBody>
      </p:sp>
      <p:sp>
        <p:nvSpPr>
          <p:cNvPr name="TextBox 40" id="40"/>
          <p:cNvSpPr txBox="true"/>
          <p:nvPr/>
        </p:nvSpPr>
        <p:spPr>
          <a:xfrm rot="0">
            <a:off x="13955449" y="9151545"/>
            <a:ext cx="3455217" cy="650875"/>
          </a:xfrm>
          <a:prstGeom prst="rect">
            <a:avLst/>
          </a:prstGeom>
        </p:spPr>
        <p:txBody>
          <a:bodyPr anchor="t" rtlCol="false" tIns="0" lIns="0" bIns="0" rIns="0">
            <a:spAutoFit/>
          </a:bodyPr>
          <a:lstStyle/>
          <a:p>
            <a:pPr algn="ctr">
              <a:lnSpc>
                <a:spcPts val="2600"/>
              </a:lnSpc>
              <a:spcBef>
                <a:spcPct val="0"/>
              </a:spcBef>
            </a:pPr>
            <a:r>
              <a:rPr lang="en-US" b="true" sz="2000">
                <a:solidFill>
                  <a:srgbClr val="006241"/>
                </a:solidFill>
                <a:latin typeface="Inter Bold"/>
                <a:ea typeface="Inter Bold"/>
                <a:cs typeface="Inter Bold"/>
                <a:sym typeface="Inter Bold"/>
              </a:rPr>
              <a:t>Anchor Loyalists + Habitual Routines</a:t>
            </a:r>
          </a:p>
        </p:txBody>
      </p:sp>
      <p:sp>
        <p:nvSpPr>
          <p:cNvPr name="TextBox 41" id="41"/>
          <p:cNvSpPr txBox="true"/>
          <p:nvPr/>
        </p:nvSpPr>
        <p:spPr>
          <a:xfrm rot="0">
            <a:off x="2648198" y="9630970"/>
            <a:ext cx="12333982"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Inter"/>
                <a:ea typeface="Inter"/>
                <a:cs typeface="Inter"/>
                <a:sym typeface="Inter"/>
              </a:rPr>
              <a:t>Chaffey, D. and Ellis-Chadwick, F. (2022) Digital Marketing: Strategy, Implementation and Practice. 7th edn. Pearson.</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2F0EB"/>
        </a:solidFill>
      </p:bgPr>
    </p:bg>
    <p:spTree>
      <p:nvGrpSpPr>
        <p:cNvPr id="1" name=""/>
        <p:cNvGrpSpPr/>
        <p:nvPr/>
      </p:nvGrpSpPr>
      <p:grpSpPr>
        <a:xfrm>
          <a:off x="0" y="0"/>
          <a:ext cx="0" cy="0"/>
          <a:chOff x="0" y="0"/>
          <a:chExt cx="0" cy="0"/>
        </a:xfrm>
      </p:grpSpPr>
      <p:grpSp>
        <p:nvGrpSpPr>
          <p:cNvPr name="Group 2" id="2"/>
          <p:cNvGrpSpPr/>
          <p:nvPr/>
        </p:nvGrpSpPr>
        <p:grpSpPr>
          <a:xfrm rot="0">
            <a:off x="1028700" y="2574955"/>
            <a:ext cx="5319934" cy="6683345"/>
            <a:chOff x="0" y="0"/>
            <a:chExt cx="1401135" cy="1760223"/>
          </a:xfrm>
        </p:grpSpPr>
        <p:sp>
          <p:nvSpPr>
            <p:cNvPr name="Freeform 3" id="3"/>
            <p:cNvSpPr/>
            <p:nvPr/>
          </p:nvSpPr>
          <p:spPr>
            <a:xfrm flipH="false" flipV="false" rot="0">
              <a:off x="0" y="0"/>
              <a:ext cx="1401135" cy="1760223"/>
            </a:xfrm>
            <a:custGeom>
              <a:avLst/>
              <a:gdLst/>
              <a:ahLst/>
              <a:cxnLst/>
              <a:rect r="r" b="b" t="t" l="l"/>
              <a:pathLst>
                <a:path h="1760223" w="1401135">
                  <a:moveTo>
                    <a:pt x="72763" y="0"/>
                  </a:moveTo>
                  <a:lnTo>
                    <a:pt x="1328372" y="0"/>
                  </a:lnTo>
                  <a:cubicBezTo>
                    <a:pt x="1368558" y="0"/>
                    <a:pt x="1401135" y="32577"/>
                    <a:pt x="1401135" y="72763"/>
                  </a:cubicBezTo>
                  <a:lnTo>
                    <a:pt x="1401135" y="1687459"/>
                  </a:lnTo>
                  <a:cubicBezTo>
                    <a:pt x="1401135" y="1727645"/>
                    <a:pt x="1368558" y="1760223"/>
                    <a:pt x="1328372" y="1760223"/>
                  </a:cubicBezTo>
                  <a:lnTo>
                    <a:pt x="72763" y="1760223"/>
                  </a:lnTo>
                  <a:cubicBezTo>
                    <a:pt x="32577" y="1760223"/>
                    <a:pt x="0" y="1727645"/>
                    <a:pt x="0" y="1687459"/>
                  </a:cubicBezTo>
                  <a:lnTo>
                    <a:pt x="0" y="72763"/>
                  </a:lnTo>
                  <a:cubicBezTo>
                    <a:pt x="0" y="32577"/>
                    <a:pt x="32577" y="0"/>
                    <a:pt x="72763" y="0"/>
                  </a:cubicBezTo>
                  <a:close/>
                </a:path>
              </a:pathLst>
            </a:custGeom>
            <a:ln w="47625" cap="rnd">
              <a:solidFill>
                <a:srgbClr val="006241"/>
              </a:solidFill>
              <a:prstDash val="solid"/>
              <a:round/>
            </a:ln>
          </p:spPr>
        </p:sp>
        <p:sp>
          <p:nvSpPr>
            <p:cNvPr name="TextBox 4" id="4"/>
            <p:cNvSpPr txBox="true"/>
            <p:nvPr/>
          </p:nvSpPr>
          <p:spPr>
            <a:xfrm>
              <a:off x="0" y="-28575"/>
              <a:ext cx="1401135" cy="1788798"/>
            </a:xfrm>
            <a:prstGeom prst="rect">
              <a:avLst/>
            </a:prstGeom>
          </p:spPr>
          <p:txBody>
            <a:bodyPr anchor="ctr" rtlCol="false" tIns="50800" lIns="50800" bIns="50800" rIns="50800"/>
            <a:lstStyle/>
            <a:p>
              <a:pPr algn="ctr">
                <a:lnSpc>
                  <a:spcPts val="2513"/>
                </a:lnSpc>
              </a:pPr>
            </a:p>
          </p:txBody>
        </p:sp>
      </p:grpSp>
      <p:grpSp>
        <p:nvGrpSpPr>
          <p:cNvPr name="Group 5" id="5"/>
          <p:cNvGrpSpPr/>
          <p:nvPr/>
        </p:nvGrpSpPr>
        <p:grpSpPr>
          <a:xfrm rot="0">
            <a:off x="6619433" y="2574955"/>
            <a:ext cx="5319934" cy="6683345"/>
            <a:chOff x="0" y="0"/>
            <a:chExt cx="1401135" cy="1760223"/>
          </a:xfrm>
        </p:grpSpPr>
        <p:sp>
          <p:nvSpPr>
            <p:cNvPr name="Freeform 6" id="6"/>
            <p:cNvSpPr/>
            <p:nvPr/>
          </p:nvSpPr>
          <p:spPr>
            <a:xfrm flipH="false" flipV="false" rot="0">
              <a:off x="0" y="0"/>
              <a:ext cx="1401135" cy="1760223"/>
            </a:xfrm>
            <a:custGeom>
              <a:avLst/>
              <a:gdLst/>
              <a:ahLst/>
              <a:cxnLst/>
              <a:rect r="r" b="b" t="t" l="l"/>
              <a:pathLst>
                <a:path h="1760223" w="1401135">
                  <a:moveTo>
                    <a:pt x="72763" y="0"/>
                  </a:moveTo>
                  <a:lnTo>
                    <a:pt x="1328372" y="0"/>
                  </a:lnTo>
                  <a:cubicBezTo>
                    <a:pt x="1368558" y="0"/>
                    <a:pt x="1401135" y="32577"/>
                    <a:pt x="1401135" y="72763"/>
                  </a:cubicBezTo>
                  <a:lnTo>
                    <a:pt x="1401135" y="1687459"/>
                  </a:lnTo>
                  <a:cubicBezTo>
                    <a:pt x="1401135" y="1727645"/>
                    <a:pt x="1368558" y="1760223"/>
                    <a:pt x="1328372" y="1760223"/>
                  </a:cubicBezTo>
                  <a:lnTo>
                    <a:pt x="72763" y="1760223"/>
                  </a:lnTo>
                  <a:cubicBezTo>
                    <a:pt x="32577" y="1760223"/>
                    <a:pt x="0" y="1727645"/>
                    <a:pt x="0" y="1687459"/>
                  </a:cubicBezTo>
                  <a:lnTo>
                    <a:pt x="0" y="72763"/>
                  </a:lnTo>
                  <a:cubicBezTo>
                    <a:pt x="0" y="32577"/>
                    <a:pt x="32577" y="0"/>
                    <a:pt x="72763" y="0"/>
                  </a:cubicBezTo>
                  <a:close/>
                </a:path>
              </a:pathLst>
            </a:custGeom>
            <a:ln w="47625" cap="rnd">
              <a:solidFill>
                <a:srgbClr val="006241"/>
              </a:solidFill>
              <a:prstDash val="solid"/>
              <a:round/>
            </a:ln>
          </p:spPr>
        </p:sp>
        <p:sp>
          <p:nvSpPr>
            <p:cNvPr name="TextBox 7" id="7"/>
            <p:cNvSpPr txBox="true"/>
            <p:nvPr/>
          </p:nvSpPr>
          <p:spPr>
            <a:xfrm>
              <a:off x="0" y="-28575"/>
              <a:ext cx="1401135" cy="1788798"/>
            </a:xfrm>
            <a:prstGeom prst="rect">
              <a:avLst/>
            </a:prstGeom>
          </p:spPr>
          <p:txBody>
            <a:bodyPr anchor="ctr" rtlCol="false" tIns="50800" lIns="50800" bIns="50800" rIns="50800"/>
            <a:lstStyle/>
            <a:p>
              <a:pPr algn="ctr">
                <a:lnSpc>
                  <a:spcPts val="2513"/>
                </a:lnSpc>
              </a:pPr>
            </a:p>
          </p:txBody>
        </p:sp>
      </p:grpSp>
      <p:grpSp>
        <p:nvGrpSpPr>
          <p:cNvPr name="Group 8" id="8"/>
          <p:cNvGrpSpPr/>
          <p:nvPr/>
        </p:nvGrpSpPr>
        <p:grpSpPr>
          <a:xfrm rot="0">
            <a:off x="12206066" y="2574955"/>
            <a:ext cx="5319934" cy="6683345"/>
            <a:chOff x="0" y="0"/>
            <a:chExt cx="1401135" cy="1760223"/>
          </a:xfrm>
        </p:grpSpPr>
        <p:sp>
          <p:nvSpPr>
            <p:cNvPr name="Freeform 9" id="9"/>
            <p:cNvSpPr/>
            <p:nvPr/>
          </p:nvSpPr>
          <p:spPr>
            <a:xfrm flipH="false" flipV="false" rot="0">
              <a:off x="0" y="0"/>
              <a:ext cx="1401135" cy="1760223"/>
            </a:xfrm>
            <a:custGeom>
              <a:avLst/>
              <a:gdLst/>
              <a:ahLst/>
              <a:cxnLst/>
              <a:rect r="r" b="b" t="t" l="l"/>
              <a:pathLst>
                <a:path h="1760223" w="1401135">
                  <a:moveTo>
                    <a:pt x="72763" y="0"/>
                  </a:moveTo>
                  <a:lnTo>
                    <a:pt x="1328372" y="0"/>
                  </a:lnTo>
                  <a:cubicBezTo>
                    <a:pt x="1368558" y="0"/>
                    <a:pt x="1401135" y="32577"/>
                    <a:pt x="1401135" y="72763"/>
                  </a:cubicBezTo>
                  <a:lnTo>
                    <a:pt x="1401135" y="1687459"/>
                  </a:lnTo>
                  <a:cubicBezTo>
                    <a:pt x="1401135" y="1727645"/>
                    <a:pt x="1368558" y="1760223"/>
                    <a:pt x="1328372" y="1760223"/>
                  </a:cubicBezTo>
                  <a:lnTo>
                    <a:pt x="72763" y="1760223"/>
                  </a:lnTo>
                  <a:cubicBezTo>
                    <a:pt x="32577" y="1760223"/>
                    <a:pt x="0" y="1727645"/>
                    <a:pt x="0" y="1687459"/>
                  </a:cubicBezTo>
                  <a:lnTo>
                    <a:pt x="0" y="72763"/>
                  </a:lnTo>
                  <a:cubicBezTo>
                    <a:pt x="0" y="32577"/>
                    <a:pt x="32577" y="0"/>
                    <a:pt x="72763" y="0"/>
                  </a:cubicBezTo>
                  <a:close/>
                </a:path>
              </a:pathLst>
            </a:custGeom>
            <a:ln w="47625" cap="rnd">
              <a:solidFill>
                <a:srgbClr val="006241"/>
              </a:solidFill>
              <a:prstDash val="solid"/>
              <a:round/>
            </a:ln>
          </p:spPr>
        </p:sp>
        <p:sp>
          <p:nvSpPr>
            <p:cNvPr name="TextBox 10" id="10"/>
            <p:cNvSpPr txBox="true"/>
            <p:nvPr/>
          </p:nvSpPr>
          <p:spPr>
            <a:xfrm>
              <a:off x="0" y="-28575"/>
              <a:ext cx="1401135" cy="1788798"/>
            </a:xfrm>
            <a:prstGeom prst="rect">
              <a:avLst/>
            </a:prstGeom>
          </p:spPr>
          <p:txBody>
            <a:bodyPr anchor="ctr" rtlCol="false" tIns="50800" lIns="50800" bIns="50800" rIns="50800"/>
            <a:lstStyle/>
            <a:p>
              <a:pPr algn="ctr">
                <a:lnSpc>
                  <a:spcPts val="2513"/>
                </a:lnSpc>
              </a:pPr>
            </a:p>
          </p:txBody>
        </p:sp>
      </p:grpSp>
      <p:grpSp>
        <p:nvGrpSpPr>
          <p:cNvPr name="Group 11" id="11"/>
          <p:cNvGrpSpPr/>
          <p:nvPr/>
        </p:nvGrpSpPr>
        <p:grpSpPr>
          <a:xfrm rot="0">
            <a:off x="1028700" y="2574955"/>
            <a:ext cx="5324033" cy="1167723"/>
            <a:chOff x="0" y="0"/>
            <a:chExt cx="1402214" cy="307549"/>
          </a:xfrm>
        </p:grpSpPr>
        <p:sp>
          <p:nvSpPr>
            <p:cNvPr name="Freeform 12" id="12"/>
            <p:cNvSpPr/>
            <p:nvPr/>
          </p:nvSpPr>
          <p:spPr>
            <a:xfrm flipH="false" flipV="false" rot="0">
              <a:off x="0" y="0"/>
              <a:ext cx="1402214" cy="307549"/>
            </a:xfrm>
            <a:custGeom>
              <a:avLst/>
              <a:gdLst/>
              <a:ahLst/>
              <a:cxnLst/>
              <a:rect r="r" b="b" t="t" l="l"/>
              <a:pathLst>
                <a:path h="307549" w="1402214">
                  <a:moveTo>
                    <a:pt x="72707" y="0"/>
                  </a:moveTo>
                  <a:lnTo>
                    <a:pt x="1329507" y="0"/>
                  </a:lnTo>
                  <a:cubicBezTo>
                    <a:pt x="1348790" y="0"/>
                    <a:pt x="1367284" y="7660"/>
                    <a:pt x="1380919" y="21295"/>
                  </a:cubicBezTo>
                  <a:cubicBezTo>
                    <a:pt x="1394554" y="34931"/>
                    <a:pt x="1402214" y="53424"/>
                    <a:pt x="1402214" y="72707"/>
                  </a:cubicBezTo>
                  <a:lnTo>
                    <a:pt x="1402214" y="234841"/>
                  </a:lnTo>
                  <a:cubicBezTo>
                    <a:pt x="1402214" y="274996"/>
                    <a:pt x="1369662" y="307549"/>
                    <a:pt x="1329507" y="307549"/>
                  </a:cubicBezTo>
                  <a:lnTo>
                    <a:pt x="72707" y="307549"/>
                  </a:lnTo>
                  <a:cubicBezTo>
                    <a:pt x="32552" y="307549"/>
                    <a:pt x="0" y="274996"/>
                    <a:pt x="0" y="234841"/>
                  </a:cubicBezTo>
                  <a:lnTo>
                    <a:pt x="0" y="72707"/>
                  </a:lnTo>
                  <a:cubicBezTo>
                    <a:pt x="0" y="32552"/>
                    <a:pt x="32552" y="0"/>
                    <a:pt x="72707" y="0"/>
                  </a:cubicBezTo>
                  <a:close/>
                </a:path>
              </a:pathLst>
            </a:custGeom>
            <a:solidFill>
              <a:srgbClr val="006241"/>
            </a:solidFill>
          </p:spPr>
        </p:sp>
        <p:sp>
          <p:nvSpPr>
            <p:cNvPr name="TextBox 13" id="13"/>
            <p:cNvSpPr txBox="true"/>
            <p:nvPr/>
          </p:nvSpPr>
          <p:spPr>
            <a:xfrm>
              <a:off x="0" y="-28575"/>
              <a:ext cx="1402214" cy="336124"/>
            </a:xfrm>
            <a:prstGeom prst="rect">
              <a:avLst/>
            </a:prstGeom>
          </p:spPr>
          <p:txBody>
            <a:bodyPr anchor="ctr" rtlCol="false" tIns="50800" lIns="50800" bIns="50800" rIns="50800"/>
            <a:lstStyle/>
            <a:p>
              <a:pPr algn="ctr">
                <a:lnSpc>
                  <a:spcPts val="2513"/>
                </a:lnSpc>
              </a:pPr>
            </a:p>
          </p:txBody>
        </p:sp>
      </p:grpSp>
      <p:sp>
        <p:nvSpPr>
          <p:cNvPr name="TextBox 14" id="14"/>
          <p:cNvSpPr txBox="true"/>
          <p:nvPr/>
        </p:nvSpPr>
        <p:spPr>
          <a:xfrm rot="0">
            <a:off x="1028700" y="1038225"/>
            <a:ext cx="6488609"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MONITORING &amp; KPIs</a:t>
            </a:r>
          </a:p>
        </p:txBody>
      </p:sp>
      <p:sp>
        <p:nvSpPr>
          <p:cNvPr name="TextBox 15" id="15"/>
          <p:cNvSpPr txBox="true"/>
          <p:nvPr/>
        </p:nvSpPr>
        <p:spPr>
          <a:xfrm rot="0">
            <a:off x="1216673" y="2700346"/>
            <a:ext cx="4943988" cy="897890"/>
          </a:xfrm>
          <a:prstGeom prst="rect">
            <a:avLst/>
          </a:prstGeom>
        </p:spPr>
        <p:txBody>
          <a:bodyPr anchor="t" rtlCol="false" tIns="0" lIns="0" bIns="0" rIns="0">
            <a:spAutoFit/>
          </a:bodyPr>
          <a:lstStyle/>
          <a:p>
            <a:pPr algn="ctr">
              <a:lnSpc>
                <a:spcPts val="3639"/>
              </a:lnSpc>
              <a:spcBef>
                <a:spcPct val="0"/>
              </a:spcBef>
            </a:pPr>
            <a:r>
              <a:rPr lang="en-US" b="true" sz="2799">
                <a:solidFill>
                  <a:srgbClr val="C8A14B"/>
                </a:solidFill>
                <a:latin typeface="Montserrat Bold"/>
                <a:ea typeface="Montserrat Bold"/>
                <a:cs typeface="Montserrat Bold"/>
                <a:sym typeface="Montserrat Bold"/>
              </a:rPr>
              <a:t>PRE-ENGAGEMENT BASELINE</a:t>
            </a:r>
          </a:p>
        </p:txBody>
      </p:sp>
      <p:sp>
        <p:nvSpPr>
          <p:cNvPr name="TextBox 16" id="16"/>
          <p:cNvSpPr txBox="true"/>
          <p:nvPr/>
        </p:nvSpPr>
        <p:spPr>
          <a:xfrm rot="0">
            <a:off x="1275395" y="4514203"/>
            <a:ext cx="4830643" cy="37585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Per-tier churn rate (Green / Gold / Reserve) </a:t>
            </a:r>
          </a:p>
          <a:p>
            <a:pPr algn="l" marL="518160" indent="-259080" lvl="1">
              <a:lnSpc>
                <a:spcPts val="3359"/>
              </a:lnSpc>
              <a:buFont typeface="Arial"/>
              <a:buChar char="•"/>
            </a:pPr>
            <a:r>
              <a:rPr lang="en-US" sz="2400">
                <a:solidFill>
                  <a:srgbClr val="27251F"/>
                </a:solidFill>
                <a:latin typeface="Inter"/>
                <a:ea typeface="Inter"/>
                <a:cs typeface="Inter"/>
                <a:sym typeface="Inter"/>
              </a:rPr>
              <a:t>Per-channel marketing ROI at current allocation </a:t>
            </a:r>
          </a:p>
          <a:p>
            <a:pPr algn="l" marL="518160" indent="-259080" lvl="1">
              <a:lnSpc>
                <a:spcPts val="3359"/>
              </a:lnSpc>
              <a:buFont typeface="Arial"/>
              <a:buChar char="•"/>
            </a:pPr>
            <a:r>
              <a:rPr lang="en-US" sz="2400">
                <a:solidFill>
                  <a:srgbClr val="27251F"/>
                </a:solidFill>
                <a:latin typeface="Inter"/>
                <a:ea typeface="Inter"/>
                <a:cs typeface="Inter"/>
                <a:sym typeface="Inter"/>
              </a:rPr>
              <a:t>Per-segment engagement rate (cadence opt-out, offer redemption) </a:t>
            </a:r>
          </a:p>
          <a:p>
            <a:pPr algn="l" marL="518160" indent="-259080" lvl="1">
              <a:lnSpc>
                <a:spcPts val="3359"/>
              </a:lnSpc>
              <a:buFont typeface="Arial"/>
              <a:buChar char="•"/>
            </a:pPr>
            <a:r>
              <a:rPr lang="en-US" sz="2400">
                <a:solidFill>
                  <a:srgbClr val="27251F"/>
                </a:solidFill>
                <a:latin typeface="Inter"/>
                <a:ea typeface="Inter"/>
                <a:cs typeface="Inter"/>
                <a:sym typeface="Inter"/>
              </a:rPr>
              <a:t>Revenue per active member, current run rate</a:t>
            </a:r>
          </a:p>
        </p:txBody>
      </p:sp>
      <p:grpSp>
        <p:nvGrpSpPr>
          <p:cNvPr name="Group 17" id="17"/>
          <p:cNvGrpSpPr/>
          <p:nvPr/>
        </p:nvGrpSpPr>
        <p:grpSpPr>
          <a:xfrm rot="0">
            <a:off x="6615334" y="2574955"/>
            <a:ext cx="5324033" cy="1167723"/>
            <a:chOff x="0" y="0"/>
            <a:chExt cx="1402214" cy="307549"/>
          </a:xfrm>
        </p:grpSpPr>
        <p:sp>
          <p:nvSpPr>
            <p:cNvPr name="Freeform 18" id="18"/>
            <p:cNvSpPr/>
            <p:nvPr/>
          </p:nvSpPr>
          <p:spPr>
            <a:xfrm flipH="false" flipV="false" rot="0">
              <a:off x="0" y="0"/>
              <a:ext cx="1402214" cy="307549"/>
            </a:xfrm>
            <a:custGeom>
              <a:avLst/>
              <a:gdLst/>
              <a:ahLst/>
              <a:cxnLst/>
              <a:rect r="r" b="b" t="t" l="l"/>
              <a:pathLst>
                <a:path h="307549" w="1402214">
                  <a:moveTo>
                    <a:pt x="72707" y="0"/>
                  </a:moveTo>
                  <a:lnTo>
                    <a:pt x="1329507" y="0"/>
                  </a:lnTo>
                  <a:cubicBezTo>
                    <a:pt x="1348790" y="0"/>
                    <a:pt x="1367284" y="7660"/>
                    <a:pt x="1380919" y="21295"/>
                  </a:cubicBezTo>
                  <a:cubicBezTo>
                    <a:pt x="1394554" y="34931"/>
                    <a:pt x="1402214" y="53424"/>
                    <a:pt x="1402214" y="72707"/>
                  </a:cubicBezTo>
                  <a:lnTo>
                    <a:pt x="1402214" y="234841"/>
                  </a:lnTo>
                  <a:cubicBezTo>
                    <a:pt x="1402214" y="274996"/>
                    <a:pt x="1369662" y="307549"/>
                    <a:pt x="1329507" y="307549"/>
                  </a:cubicBezTo>
                  <a:lnTo>
                    <a:pt x="72707" y="307549"/>
                  </a:lnTo>
                  <a:cubicBezTo>
                    <a:pt x="32552" y="307549"/>
                    <a:pt x="0" y="274996"/>
                    <a:pt x="0" y="234841"/>
                  </a:cubicBezTo>
                  <a:lnTo>
                    <a:pt x="0" y="72707"/>
                  </a:lnTo>
                  <a:cubicBezTo>
                    <a:pt x="0" y="32552"/>
                    <a:pt x="32552" y="0"/>
                    <a:pt x="72707" y="0"/>
                  </a:cubicBezTo>
                  <a:close/>
                </a:path>
              </a:pathLst>
            </a:custGeom>
            <a:solidFill>
              <a:srgbClr val="006241"/>
            </a:solidFill>
          </p:spPr>
        </p:sp>
        <p:sp>
          <p:nvSpPr>
            <p:cNvPr name="TextBox 19" id="19"/>
            <p:cNvSpPr txBox="true"/>
            <p:nvPr/>
          </p:nvSpPr>
          <p:spPr>
            <a:xfrm>
              <a:off x="0" y="-28575"/>
              <a:ext cx="1402214" cy="336124"/>
            </a:xfrm>
            <a:prstGeom prst="rect">
              <a:avLst/>
            </a:prstGeom>
          </p:spPr>
          <p:txBody>
            <a:bodyPr anchor="ctr" rtlCol="false" tIns="50800" lIns="50800" bIns="50800" rIns="50800"/>
            <a:lstStyle/>
            <a:p>
              <a:pPr algn="ctr">
                <a:lnSpc>
                  <a:spcPts val="2513"/>
                </a:lnSpc>
              </a:pPr>
            </a:p>
          </p:txBody>
        </p:sp>
      </p:grpSp>
      <p:sp>
        <p:nvSpPr>
          <p:cNvPr name="TextBox 20" id="20"/>
          <p:cNvSpPr txBox="true"/>
          <p:nvPr/>
        </p:nvSpPr>
        <p:spPr>
          <a:xfrm rot="0">
            <a:off x="6807405" y="2700346"/>
            <a:ext cx="4887315" cy="897890"/>
          </a:xfrm>
          <a:prstGeom prst="rect">
            <a:avLst/>
          </a:prstGeom>
        </p:spPr>
        <p:txBody>
          <a:bodyPr anchor="t" rtlCol="false" tIns="0" lIns="0" bIns="0" rIns="0">
            <a:spAutoFit/>
          </a:bodyPr>
          <a:lstStyle/>
          <a:p>
            <a:pPr algn="ctr">
              <a:lnSpc>
                <a:spcPts val="3639"/>
              </a:lnSpc>
              <a:spcBef>
                <a:spcPct val="0"/>
              </a:spcBef>
            </a:pPr>
            <a:r>
              <a:rPr lang="en-US" b="true" sz="2799">
                <a:solidFill>
                  <a:srgbClr val="C8A14B"/>
                </a:solidFill>
                <a:latin typeface="Montserrat Bold"/>
                <a:ea typeface="Montserrat Bold"/>
                <a:cs typeface="Montserrat Bold"/>
                <a:sym typeface="Montserrat Bold"/>
              </a:rPr>
              <a:t>IN-FLIGHT MEASUREMENT</a:t>
            </a:r>
          </a:p>
        </p:txBody>
      </p:sp>
      <p:grpSp>
        <p:nvGrpSpPr>
          <p:cNvPr name="Group 21" id="21"/>
          <p:cNvGrpSpPr/>
          <p:nvPr/>
        </p:nvGrpSpPr>
        <p:grpSpPr>
          <a:xfrm rot="0">
            <a:off x="12206066" y="2574955"/>
            <a:ext cx="5324033" cy="1167723"/>
            <a:chOff x="0" y="0"/>
            <a:chExt cx="1402214" cy="307549"/>
          </a:xfrm>
        </p:grpSpPr>
        <p:sp>
          <p:nvSpPr>
            <p:cNvPr name="Freeform 22" id="22"/>
            <p:cNvSpPr/>
            <p:nvPr/>
          </p:nvSpPr>
          <p:spPr>
            <a:xfrm flipH="false" flipV="false" rot="0">
              <a:off x="0" y="0"/>
              <a:ext cx="1402214" cy="307549"/>
            </a:xfrm>
            <a:custGeom>
              <a:avLst/>
              <a:gdLst/>
              <a:ahLst/>
              <a:cxnLst/>
              <a:rect r="r" b="b" t="t" l="l"/>
              <a:pathLst>
                <a:path h="307549" w="1402214">
                  <a:moveTo>
                    <a:pt x="72707" y="0"/>
                  </a:moveTo>
                  <a:lnTo>
                    <a:pt x="1329507" y="0"/>
                  </a:lnTo>
                  <a:cubicBezTo>
                    <a:pt x="1348790" y="0"/>
                    <a:pt x="1367284" y="7660"/>
                    <a:pt x="1380919" y="21295"/>
                  </a:cubicBezTo>
                  <a:cubicBezTo>
                    <a:pt x="1394554" y="34931"/>
                    <a:pt x="1402214" y="53424"/>
                    <a:pt x="1402214" y="72707"/>
                  </a:cubicBezTo>
                  <a:lnTo>
                    <a:pt x="1402214" y="234841"/>
                  </a:lnTo>
                  <a:cubicBezTo>
                    <a:pt x="1402214" y="274996"/>
                    <a:pt x="1369662" y="307549"/>
                    <a:pt x="1329507" y="307549"/>
                  </a:cubicBezTo>
                  <a:lnTo>
                    <a:pt x="72707" y="307549"/>
                  </a:lnTo>
                  <a:cubicBezTo>
                    <a:pt x="32552" y="307549"/>
                    <a:pt x="0" y="274996"/>
                    <a:pt x="0" y="234841"/>
                  </a:cubicBezTo>
                  <a:lnTo>
                    <a:pt x="0" y="72707"/>
                  </a:lnTo>
                  <a:cubicBezTo>
                    <a:pt x="0" y="32552"/>
                    <a:pt x="32552" y="0"/>
                    <a:pt x="72707" y="0"/>
                  </a:cubicBezTo>
                  <a:close/>
                </a:path>
              </a:pathLst>
            </a:custGeom>
            <a:solidFill>
              <a:srgbClr val="006241"/>
            </a:solidFill>
          </p:spPr>
        </p:sp>
        <p:sp>
          <p:nvSpPr>
            <p:cNvPr name="TextBox 23" id="23"/>
            <p:cNvSpPr txBox="true"/>
            <p:nvPr/>
          </p:nvSpPr>
          <p:spPr>
            <a:xfrm>
              <a:off x="0" y="-28575"/>
              <a:ext cx="1402214" cy="336124"/>
            </a:xfrm>
            <a:prstGeom prst="rect">
              <a:avLst/>
            </a:prstGeom>
          </p:spPr>
          <p:txBody>
            <a:bodyPr anchor="ctr" rtlCol="false" tIns="50800" lIns="50800" bIns="50800" rIns="50800"/>
            <a:lstStyle/>
            <a:p>
              <a:pPr algn="ctr">
                <a:lnSpc>
                  <a:spcPts val="2513"/>
                </a:lnSpc>
              </a:pPr>
            </a:p>
          </p:txBody>
        </p:sp>
      </p:grpSp>
      <p:sp>
        <p:nvSpPr>
          <p:cNvPr name="TextBox 24" id="24"/>
          <p:cNvSpPr txBox="true"/>
          <p:nvPr/>
        </p:nvSpPr>
        <p:spPr>
          <a:xfrm rot="0">
            <a:off x="6835742" y="4514203"/>
            <a:ext cx="4830643" cy="37585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Segment response rate to win-back messaging (week 6)</a:t>
            </a:r>
          </a:p>
          <a:p>
            <a:pPr algn="l" marL="518160" indent="-259080" lvl="1">
              <a:lnSpc>
                <a:spcPts val="3359"/>
              </a:lnSpc>
              <a:buFont typeface="Arial"/>
              <a:buChar char="•"/>
            </a:pPr>
            <a:r>
              <a:rPr lang="en-US" sz="2400">
                <a:solidFill>
                  <a:srgbClr val="27251F"/>
                </a:solidFill>
                <a:latin typeface="Inter"/>
                <a:ea typeface="Inter"/>
                <a:cs typeface="Inter"/>
                <a:sym typeface="Inter"/>
              </a:rPr>
              <a:t>Offer redemption lift across segment cohorts (week 8)</a:t>
            </a:r>
          </a:p>
          <a:p>
            <a:pPr algn="l" marL="518160" indent="-259080" lvl="1">
              <a:lnSpc>
                <a:spcPts val="3359"/>
              </a:lnSpc>
              <a:buFont typeface="Arial"/>
              <a:buChar char="•"/>
            </a:pPr>
            <a:r>
              <a:rPr lang="en-US" sz="2400">
                <a:solidFill>
                  <a:srgbClr val="27251F"/>
                </a:solidFill>
                <a:latin typeface="Inter"/>
                <a:ea typeface="Inter"/>
                <a:cs typeface="Inter"/>
                <a:sym typeface="Inter"/>
              </a:rPr>
              <a:t>Churn flag accuracy: actual lapse vs predicted (week 10)</a:t>
            </a:r>
          </a:p>
          <a:p>
            <a:pPr algn="l" marL="518160" indent="-259080" lvl="1">
              <a:lnSpc>
                <a:spcPts val="3359"/>
              </a:lnSpc>
              <a:buFont typeface="Arial"/>
              <a:buChar char="•"/>
            </a:pPr>
            <a:r>
              <a:rPr lang="en-US" sz="2400">
                <a:solidFill>
                  <a:srgbClr val="27251F"/>
                </a:solidFill>
                <a:latin typeface="Inter"/>
                <a:ea typeface="Inter"/>
                <a:cs typeface="Inter"/>
                <a:sym typeface="Inter"/>
              </a:rPr>
              <a:t>Per-segment campaign response monitored live (week 12)</a:t>
            </a:r>
          </a:p>
        </p:txBody>
      </p:sp>
      <p:sp>
        <p:nvSpPr>
          <p:cNvPr name="TextBox 25" id="25"/>
          <p:cNvSpPr txBox="true"/>
          <p:nvPr/>
        </p:nvSpPr>
        <p:spPr>
          <a:xfrm rot="0">
            <a:off x="12453716" y="4514203"/>
            <a:ext cx="4830643" cy="37585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Incremental visit lift per segment vs baseline</a:t>
            </a:r>
          </a:p>
          <a:p>
            <a:pPr algn="l" marL="518160" indent="-259080" lvl="1">
              <a:lnSpc>
                <a:spcPts val="3359"/>
              </a:lnSpc>
              <a:buFont typeface="Arial"/>
              <a:buChar char="•"/>
            </a:pPr>
            <a:r>
              <a:rPr lang="en-US" sz="2400">
                <a:solidFill>
                  <a:srgbClr val="27251F"/>
                </a:solidFill>
                <a:latin typeface="Inter"/>
                <a:ea typeface="Inter"/>
                <a:cs typeface="Inter"/>
                <a:sym typeface="Inter"/>
              </a:rPr>
              <a:t>Retention rate of churn-flagged lapsing members vs control </a:t>
            </a:r>
          </a:p>
          <a:p>
            <a:pPr algn="l" marL="518160" indent="-259080" lvl="1">
              <a:lnSpc>
                <a:spcPts val="3359"/>
              </a:lnSpc>
              <a:buFont typeface="Arial"/>
              <a:buChar char="•"/>
            </a:pPr>
            <a:r>
              <a:rPr lang="en-US" sz="2400">
                <a:solidFill>
                  <a:srgbClr val="27251F"/>
                </a:solidFill>
                <a:latin typeface="Inter"/>
                <a:ea typeface="Inter"/>
                <a:cs typeface="Inter"/>
                <a:sym typeface="Inter"/>
              </a:rPr>
              <a:t>Cost per re-acquisition vs current baseline </a:t>
            </a:r>
          </a:p>
          <a:p>
            <a:pPr algn="l" marL="518160" indent="-259080" lvl="1">
              <a:lnSpc>
                <a:spcPts val="3359"/>
              </a:lnSpc>
              <a:buFont typeface="Arial"/>
              <a:buChar char="•"/>
            </a:pPr>
            <a:r>
              <a:rPr lang="en-US" sz="2400">
                <a:solidFill>
                  <a:srgbClr val="27251F"/>
                </a:solidFill>
                <a:latin typeface="Inter"/>
                <a:ea typeface="Inter"/>
                <a:cs typeface="Inter"/>
                <a:sym typeface="Inter"/>
              </a:rPr>
              <a:t>Channel ROI shift after segment-aware allocation</a:t>
            </a:r>
          </a:p>
        </p:txBody>
      </p:sp>
      <p:sp>
        <p:nvSpPr>
          <p:cNvPr name="TextBox 26" id="26"/>
          <p:cNvSpPr txBox="true"/>
          <p:nvPr/>
        </p:nvSpPr>
        <p:spPr>
          <a:xfrm rot="0">
            <a:off x="12637394" y="2700346"/>
            <a:ext cx="4463287" cy="897890"/>
          </a:xfrm>
          <a:prstGeom prst="rect">
            <a:avLst/>
          </a:prstGeom>
        </p:spPr>
        <p:txBody>
          <a:bodyPr anchor="t" rtlCol="false" tIns="0" lIns="0" bIns="0" rIns="0">
            <a:spAutoFit/>
          </a:bodyPr>
          <a:lstStyle/>
          <a:p>
            <a:pPr algn="ctr">
              <a:lnSpc>
                <a:spcPts val="3639"/>
              </a:lnSpc>
              <a:spcBef>
                <a:spcPct val="0"/>
              </a:spcBef>
            </a:pPr>
            <a:r>
              <a:rPr lang="en-US" b="true" sz="2799">
                <a:solidFill>
                  <a:srgbClr val="C8A14B"/>
                </a:solidFill>
                <a:latin typeface="Montserrat Bold"/>
                <a:ea typeface="Montserrat Bold"/>
                <a:cs typeface="Montserrat Bold"/>
                <a:sym typeface="Montserrat Bold"/>
              </a:rPr>
              <a:t>POST-LAUNCH VALIDATION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2F0EB"/>
        </a:solidFill>
      </p:bgPr>
    </p:bg>
    <p:spTree>
      <p:nvGrpSpPr>
        <p:cNvPr id="1" name=""/>
        <p:cNvGrpSpPr/>
        <p:nvPr/>
      </p:nvGrpSpPr>
      <p:grpSpPr>
        <a:xfrm>
          <a:off x="0" y="0"/>
          <a:ext cx="0" cy="0"/>
          <a:chOff x="0" y="0"/>
          <a:chExt cx="0" cy="0"/>
        </a:xfrm>
      </p:grpSpPr>
      <p:sp>
        <p:nvSpPr>
          <p:cNvPr name="TextBox 2" id="2"/>
          <p:cNvSpPr txBox="true"/>
          <p:nvPr/>
        </p:nvSpPr>
        <p:spPr>
          <a:xfrm rot="0">
            <a:off x="1028700" y="676275"/>
            <a:ext cx="3952677"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DATA TYPES</a:t>
            </a:r>
          </a:p>
        </p:txBody>
      </p:sp>
      <p:grpSp>
        <p:nvGrpSpPr>
          <p:cNvPr name="Group 3" id="3"/>
          <p:cNvGrpSpPr/>
          <p:nvPr/>
        </p:nvGrpSpPr>
        <p:grpSpPr>
          <a:xfrm rot="0">
            <a:off x="1028700" y="1714500"/>
            <a:ext cx="7981950" cy="3638550"/>
            <a:chOff x="0" y="0"/>
            <a:chExt cx="2101914" cy="958151"/>
          </a:xfrm>
        </p:grpSpPr>
        <p:sp>
          <p:nvSpPr>
            <p:cNvPr name="Freeform 4" id="4"/>
            <p:cNvSpPr/>
            <p:nvPr/>
          </p:nvSpPr>
          <p:spPr>
            <a:xfrm flipH="false" flipV="false" rot="0">
              <a:off x="0" y="0"/>
              <a:ext cx="2101914" cy="958151"/>
            </a:xfrm>
            <a:custGeom>
              <a:avLst/>
              <a:gdLst/>
              <a:ahLst/>
              <a:cxnLst/>
              <a:rect r="r" b="b" t="t" l="l"/>
              <a:pathLst>
                <a:path h="958151" w="2101914">
                  <a:moveTo>
                    <a:pt x="36857" y="0"/>
                  </a:moveTo>
                  <a:lnTo>
                    <a:pt x="2065056" y="0"/>
                  </a:lnTo>
                  <a:cubicBezTo>
                    <a:pt x="2085412" y="0"/>
                    <a:pt x="2101914" y="16502"/>
                    <a:pt x="2101914" y="36857"/>
                  </a:cubicBezTo>
                  <a:lnTo>
                    <a:pt x="2101914" y="921294"/>
                  </a:lnTo>
                  <a:cubicBezTo>
                    <a:pt x="2101914" y="941650"/>
                    <a:pt x="2085412" y="958151"/>
                    <a:pt x="2065056" y="958151"/>
                  </a:cubicBezTo>
                  <a:lnTo>
                    <a:pt x="36857" y="958151"/>
                  </a:lnTo>
                  <a:cubicBezTo>
                    <a:pt x="27082" y="958151"/>
                    <a:pt x="17707" y="954268"/>
                    <a:pt x="10795" y="947356"/>
                  </a:cubicBezTo>
                  <a:cubicBezTo>
                    <a:pt x="3883" y="940444"/>
                    <a:pt x="0" y="931069"/>
                    <a:pt x="0" y="921294"/>
                  </a:cubicBezTo>
                  <a:lnTo>
                    <a:pt x="0" y="36857"/>
                  </a:lnTo>
                  <a:cubicBezTo>
                    <a:pt x="0" y="27082"/>
                    <a:pt x="3883" y="17707"/>
                    <a:pt x="10795" y="10795"/>
                  </a:cubicBezTo>
                  <a:cubicBezTo>
                    <a:pt x="17707" y="3883"/>
                    <a:pt x="27082" y="0"/>
                    <a:pt x="36857" y="0"/>
                  </a:cubicBezTo>
                  <a:close/>
                </a:path>
              </a:pathLst>
            </a:custGeom>
            <a:solidFill>
              <a:srgbClr val="F2F0EB"/>
            </a:solidFill>
            <a:ln w="47625" cap="rnd">
              <a:solidFill>
                <a:srgbClr val="006241"/>
              </a:solidFill>
              <a:prstDash val="solid"/>
              <a:round/>
            </a:ln>
          </p:spPr>
        </p:sp>
        <p:sp>
          <p:nvSpPr>
            <p:cNvPr name="TextBox 5" id="5"/>
            <p:cNvSpPr txBox="true"/>
            <p:nvPr/>
          </p:nvSpPr>
          <p:spPr>
            <a:xfrm>
              <a:off x="0" y="-38100"/>
              <a:ext cx="2101914" cy="996252"/>
            </a:xfrm>
            <a:prstGeom prst="rect">
              <a:avLst/>
            </a:prstGeom>
          </p:spPr>
          <p:txBody>
            <a:bodyPr anchor="ctr" rtlCol="false" tIns="0" lIns="0" bIns="0" rIns="0"/>
            <a:lstStyle/>
            <a:p>
              <a:pPr algn="ctr">
                <a:lnSpc>
                  <a:spcPts val="1679"/>
                </a:lnSpc>
                <a:spcBef>
                  <a:spcPct val="0"/>
                </a:spcBef>
              </a:pPr>
            </a:p>
          </p:txBody>
        </p:sp>
      </p:grpSp>
      <p:grpSp>
        <p:nvGrpSpPr>
          <p:cNvPr name="Group 6" id="6"/>
          <p:cNvGrpSpPr/>
          <p:nvPr/>
        </p:nvGrpSpPr>
        <p:grpSpPr>
          <a:xfrm rot="0">
            <a:off x="1028700" y="1714500"/>
            <a:ext cx="7981950" cy="666750"/>
            <a:chOff x="0" y="0"/>
            <a:chExt cx="2101914" cy="175578"/>
          </a:xfrm>
        </p:grpSpPr>
        <p:sp>
          <p:nvSpPr>
            <p:cNvPr name="Freeform 7" id="7"/>
            <p:cNvSpPr/>
            <p:nvPr/>
          </p:nvSpPr>
          <p:spPr>
            <a:xfrm flipH="false" flipV="false" rot="0">
              <a:off x="0" y="0"/>
              <a:ext cx="2101914" cy="175577"/>
            </a:xfrm>
            <a:custGeom>
              <a:avLst/>
              <a:gdLst/>
              <a:ahLst/>
              <a:cxnLst/>
              <a:rect r="r" b="b" t="t" l="l"/>
              <a:pathLst>
                <a:path h="175577" w="2101914">
                  <a:moveTo>
                    <a:pt x="6789" y="0"/>
                  </a:moveTo>
                  <a:lnTo>
                    <a:pt x="2095124" y="0"/>
                  </a:lnTo>
                  <a:cubicBezTo>
                    <a:pt x="2098874" y="0"/>
                    <a:pt x="2101914" y="3040"/>
                    <a:pt x="2101914" y="6789"/>
                  </a:cubicBezTo>
                  <a:lnTo>
                    <a:pt x="2101914" y="168788"/>
                  </a:lnTo>
                  <a:cubicBezTo>
                    <a:pt x="2101914" y="172538"/>
                    <a:pt x="2098874" y="175577"/>
                    <a:pt x="2095124" y="175577"/>
                  </a:cubicBezTo>
                  <a:lnTo>
                    <a:pt x="6789" y="175577"/>
                  </a:lnTo>
                  <a:cubicBezTo>
                    <a:pt x="3040" y="175577"/>
                    <a:pt x="0" y="172538"/>
                    <a:pt x="0" y="168788"/>
                  </a:cubicBezTo>
                  <a:lnTo>
                    <a:pt x="0" y="6789"/>
                  </a:lnTo>
                  <a:cubicBezTo>
                    <a:pt x="0" y="3040"/>
                    <a:pt x="3040" y="0"/>
                    <a:pt x="6789" y="0"/>
                  </a:cubicBezTo>
                  <a:close/>
                </a:path>
              </a:pathLst>
            </a:custGeom>
            <a:solidFill>
              <a:srgbClr val="006241"/>
            </a:solidFill>
            <a:ln cap="sq">
              <a:noFill/>
              <a:prstDash val="solid"/>
              <a:miter/>
            </a:ln>
          </p:spPr>
        </p:sp>
        <p:sp>
          <p:nvSpPr>
            <p:cNvPr name="TextBox 8" id="8"/>
            <p:cNvSpPr txBox="true"/>
            <p:nvPr/>
          </p:nvSpPr>
          <p:spPr>
            <a:xfrm>
              <a:off x="0" y="-38100"/>
              <a:ext cx="2101914" cy="213678"/>
            </a:xfrm>
            <a:prstGeom prst="rect">
              <a:avLst/>
            </a:prstGeom>
          </p:spPr>
          <p:txBody>
            <a:bodyPr anchor="ctr" rtlCol="false" tIns="0" lIns="0" bIns="0" rIns="0"/>
            <a:lstStyle/>
            <a:p>
              <a:pPr algn="ctr">
                <a:lnSpc>
                  <a:spcPts val="1679"/>
                </a:lnSpc>
                <a:spcBef>
                  <a:spcPct val="0"/>
                </a:spcBef>
              </a:pPr>
            </a:p>
          </p:txBody>
        </p:sp>
      </p:grpSp>
      <p:sp>
        <p:nvSpPr>
          <p:cNvPr name="TextBox 9" id="9"/>
          <p:cNvSpPr txBox="true"/>
          <p:nvPr/>
        </p:nvSpPr>
        <p:spPr>
          <a:xfrm rot="0">
            <a:off x="1219200" y="1809750"/>
            <a:ext cx="7600950" cy="523875"/>
          </a:xfrm>
          <a:prstGeom prst="rect">
            <a:avLst/>
          </a:prstGeom>
        </p:spPr>
        <p:txBody>
          <a:bodyPr anchor="t" rtlCol="false" tIns="0" lIns="0" bIns="0" rIns="0">
            <a:spAutoFit/>
          </a:bodyPr>
          <a:lstStyle/>
          <a:p>
            <a:pPr algn="ctr">
              <a:lnSpc>
                <a:spcPts val="4197"/>
              </a:lnSpc>
            </a:pPr>
            <a:r>
              <a:rPr lang="en-US" b="true" sz="3497" u="none">
                <a:solidFill>
                  <a:srgbClr val="C8A14B"/>
                </a:solidFill>
                <a:latin typeface="Montserrat Bold"/>
                <a:ea typeface="Montserrat Bold"/>
                <a:cs typeface="Montserrat Bold"/>
                <a:sym typeface="Montserrat Bold"/>
              </a:rPr>
              <a:t>VOLUNTEERED &amp; DECLARED</a:t>
            </a:r>
          </a:p>
        </p:txBody>
      </p:sp>
      <p:sp>
        <p:nvSpPr>
          <p:cNvPr name="TextBox 10" id="10"/>
          <p:cNvSpPr txBox="true"/>
          <p:nvPr/>
        </p:nvSpPr>
        <p:spPr>
          <a:xfrm rot="0">
            <a:off x="1464845" y="2764473"/>
            <a:ext cx="7109659" cy="1934845"/>
          </a:xfrm>
          <a:prstGeom prst="rect">
            <a:avLst/>
          </a:prstGeom>
        </p:spPr>
        <p:txBody>
          <a:bodyPr anchor="t" rtlCol="false" tIns="0" lIns="0" bIns="0" rIns="0">
            <a:spAutoFit/>
          </a:bodyPr>
          <a:lstStyle/>
          <a:p>
            <a:pPr algn="l">
              <a:lnSpc>
                <a:spcPts val="3079"/>
              </a:lnSpc>
            </a:pPr>
            <a:r>
              <a:rPr lang="en-US" b="true" sz="2199" u="none">
                <a:solidFill>
                  <a:srgbClr val="27251F"/>
                </a:solidFill>
                <a:latin typeface="Inter Bold"/>
                <a:ea typeface="Inter Bold"/>
                <a:cs typeface="Inter Bold"/>
                <a:sym typeface="Inter Bold"/>
              </a:rPr>
              <a:t>What members chose to share</a:t>
            </a:r>
          </a:p>
          <a:p>
            <a:pPr algn="l">
              <a:lnSpc>
                <a:spcPts val="3079"/>
              </a:lnSpc>
            </a:pPr>
            <a:r>
              <a:rPr lang="en-US" sz="2199" u="none">
                <a:solidFill>
                  <a:srgbClr val="27251F"/>
                </a:solidFill>
                <a:latin typeface="Inter"/>
                <a:ea typeface="Inter"/>
                <a:cs typeface="Inter"/>
                <a:sym typeface="Inter"/>
              </a:rPr>
              <a:t>• Member sign-up data (name, postcode, date of birth, communication preferences, date joined Rewards)</a:t>
            </a:r>
          </a:p>
          <a:p>
            <a:pPr algn="l">
              <a:lnSpc>
                <a:spcPts val="3079"/>
              </a:lnSpc>
            </a:pPr>
            <a:r>
              <a:rPr lang="en-US" sz="2199" u="none">
                <a:solidFill>
                  <a:srgbClr val="27251F"/>
                </a:solidFill>
                <a:latin typeface="Inter"/>
                <a:ea typeface="Inter"/>
                <a:cs typeface="Inter"/>
                <a:sym typeface="Inter"/>
              </a:rPr>
              <a:t>• 10,000-member psychographic survey</a:t>
            </a:r>
          </a:p>
          <a:p>
            <a:pPr algn="l">
              <a:lnSpc>
                <a:spcPts val="3079"/>
              </a:lnSpc>
            </a:pPr>
            <a:r>
              <a:rPr lang="en-US" sz="2199" u="none">
                <a:solidFill>
                  <a:srgbClr val="27251F"/>
                </a:solidFill>
                <a:latin typeface="Inter"/>
                <a:ea typeface="Inter"/>
                <a:cs typeface="Inter"/>
                <a:sym typeface="Inter"/>
              </a:rPr>
              <a:t>• Marketing consent records (per CNIL precedent)</a:t>
            </a:r>
          </a:p>
        </p:txBody>
      </p:sp>
      <p:grpSp>
        <p:nvGrpSpPr>
          <p:cNvPr name="Group 11" id="11"/>
          <p:cNvGrpSpPr/>
          <p:nvPr/>
        </p:nvGrpSpPr>
        <p:grpSpPr>
          <a:xfrm rot="0">
            <a:off x="9277350" y="1714500"/>
            <a:ext cx="7981950" cy="3638550"/>
            <a:chOff x="0" y="0"/>
            <a:chExt cx="2101914" cy="958151"/>
          </a:xfrm>
        </p:grpSpPr>
        <p:sp>
          <p:nvSpPr>
            <p:cNvPr name="Freeform 12" id="12"/>
            <p:cNvSpPr/>
            <p:nvPr/>
          </p:nvSpPr>
          <p:spPr>
            <a:xfrm flipH="false" flipV="false" rot="0">
              <a:off x="0" y="0"/>
              <a:ext cx="2101914" cy="958151"/>
            </a:xfrm>
            <a:custGeom>
              <a:avLst/>
              <a:gdLst/>
              <a:ahLst/>
              <a:cxnLst/>
              <a:rect r="r" b="b" t="t" l="l"/>
              <a:pathLst>
                <a:path h="958151" w="2101914">
                  <a:moveTo>
                    <a:pt x="36857" y="0"/>
                  </a:moveTo>
                  <a:lnTo>
                    <a:pt x="2065056" y="0"/>
                  </a:lnTo>
                  <a:cubicBezTo>
                    <a:pt x="2085412" y="0"/>
                    <a:pt x="2101914" y="16502"/>
                    <a:pt x="2101914" y="36857"/>
                  </a:cubicBezTo>
                  <a:lnTo>
                    <a:pt x="2101914" y="921294"/>
                  </a:lnTo>
                  <a:cubicBezTo>
                    <a:pt x="2101914" y="941650"/>
                    <a:pt x="2085412" y="958151"/>
                    <a:pt x="2065056" y="958151"/>
                  </a:cubicBezTo>
                  <a:lnTo>
                    <a:pt x="36857" y="958151"/>
                  </a:lnTo>
                  <a:cubicBezTo>
                    <a:pt x="27082" y="958151"/>
                    <a:pt x="17707" y="954268"/>
                    <a:pt x="10795" y="947356"/>
                  </a:cubicBezTo>
                  <a:cubicBezTo>
                    <a:pt x="3883" y="940444"/>
                    <a:pt x="0" y="931069"/>
                    <a:pt x="0" y="921294"/>
                  </a:cubicBezTo>
                  <a:lnTo>
                    <a:pt x="0" y="36857"/>
                  </a:lnTo>
                  <a:cubicBezTo>
                    <a:pt x="0" y="27082"/>
                    <a:pt x="3883" y="17707"/>
                    <a:pt x="10795" y="10795"/>
                  </a:cubicBezTo>
                  <a:cubicBezTo>
                    <a:pt x="17707" y="3883"/>
                    <a:pt x="27082" y="0"/>
                    <a:pt x="36857" y="0"/>
                  </a:cubicBezTo>
                  <a:close/>
                </a:path>
              </a:pathLst>
            </a:custGeom>
            <a:solidFill>
              <a:srgbClr val="F2F0EB"/>
            </a:solidFill>
            <a:ln w="47625" cap="rnd">
              <a:solidFill>
                <a:srgbClr val="006241"/>
              </a:solidFill>
              <a:prstDash val="solid"/>
              <a:round/>
            </a:ln>
          </p:spPr>
        </p:sp>
        <p:sp>
          <p:nvSpPr>
            <p:cNvPr name="TextBox 13" id="13"/>
            <p:cNvSpPr txBox="true"/>
            <p:nvPr/>
          </p:nvSpPr>
          <p:spPr>
            <a:xfrm>
              <a:off x="0" y="-38100"/>
              <a:ext cx="2101914" cy="996252"/>
            </a:xfrm>
            <a:prstGeom prst="rect">
              <a:avLst/>
            </a:prstGeom>
          </p:spPr>
          <p:txBody>
            <a:bodyPr anchor="ctr" rtlCol="false" tIns="0" lIns="0" bIns="0" rIns="0"/>
            <a:lstStyle/>
            <a:p>
              <a:pPr algn="ctr">
                <a:lnSpc>
                  <a:spcPts val="1679"/>
                </a:lnSpc>
                <a:spcBef>
                  <a:spcPct val="0"/>
                </a:spcBef>
              </a:pPr>
            </a:p>
          </p:txBody>
        </p:sp>
      </p:grpSp>
      <p:grpSp>
        <p:nvGrpSpPr>
          <p:cNvPr name="Group 14" id="14"/>
          <p:cNvGrpSpPr/>
          <p:nvPr/>
        </p:nvGrpSpPr>
        <p:grpSpPr>
          <a:xfrm rot="0">
            <a:off x="9277350" y="1714500"/>
            <a:ext cx="7981950" cy="666750"/>
            <a:chOff x="0" y="0"/>
            <a:chExt cx="2101914" cy="175578"/>
          </a:xfrm>
        </p:grpSpPr>
        <p:sp>
          <p:nvSpPr>
            <p:cNvPr name="Freeform 15" id="15"/>
            <p:cNvSpPr/>
            <p:nvPr/>
          </p:nvSpPr>
          <p:spPr>
            <a:xfrm flipH="false" flipV="false" rot="0">
              <a:off x="0" y="0"/>
              <a:ext cx="2101914" cy="175577"/>
            </a:xfrm>
            <a:custGeom>
              <a:avLst/>
              <a:gdLst/>
              <a:ahLst/>
              <a:cxnLst/>
              <a:rect r="r" b="b" t="t" l="l"/>
              <a:pathLst>
                <a:path h="175577" w="2101914">
                  <a:moveTo>
                    <a:pt x="6789" y="0"/>
                  </a:moveTo>
                  <a:lnTo>
                    <a:pt x="2095124" y="0"/>
                  </a:lnTo>
                  <a:cubicBezTo>
                    <a:pt x="2098874" y="0"/>
                    <a:pt x="2101914" y="3040"/>
                    <a:pt x="2101914" y="6789"/>
                  </a:cubicBezTo>
                  <a:lnTo>
                    <a:pt x="2101914" y="168788"/>
                  </a:lnTo>
                  <a:cubicBezTo>
                    <a:pt x="2101914" y="172538"/>
                    <a:pt x="2098874" y="175577"/>
                    <a:pt x="2095124" y="175577"/>
                  </a:cubicBezTo>
                  <a:lnTo>
                    <a:pt x="6789" y="175577"/>
                  </a:lnTo>
                  <a:cubicBezTo>
                    <a:pt x="3040" y="175577"/>
                    <a:pt x="0" y="172538"/>
                    <a:pt x="0" y="168788"/>
                  </a:cubicBezTo>
                  <a:lnTo>
                    <a:pt x="0" y="6789"/>
                  </a:lnTo>
                  <a:cubicBezTo>
                    <a:pt x="0" y="3040"/>
                    <a:pt x="3040" y="0"/>
                    <a:pt x="6789" y="0"/>
                  </a:cubicBezTo>
                  <a:close/>
                </a:path>
              </a:pathLst>
            </a:custGeom>
            <a:solidFill>
              <a:srgbClr val="006241"/>
            </a:solidFill>
            <a:ln cap="sq">
              <a:noFill/>
              <a:prstDash val="solid"/>
              <a:miter/>
            </a:ln>
          </p:spPr>
        </p:sp>
        <p:sp>
          <p:nvSpPr>
            <p:cNvPr name="TextBox 16" id="16"/>
            <p:cNvSpPr txBox="true"/>
            <p:nvPr/>
          </p:nvSpPr>
          <p:spPr>
            <a:xfrm>
              <a:off x="0" y="-38100"/>
              <a:ext cx="2101914" cy="213678"/>
            </a:xfrm>
            <a:prstGeom prst="rect">
              <a:avLst/>
            </a:prstGeom>
          </p:spPr>
          <p:txBody>
            <a:bodyPr anchor="ctr" rtlCol="false" tIns="0" lIns="0" bIns="0" rIns="0"/>
            <a:lstStyle/>
            <a:p>
              <a:pPr algn="ctr">
                <a:lnSpc>
                  <a:spcPts val="1679"/>
                </a:lnSpc>
                <a:spcBef>
                  <a:spcPct val="0"/>
                </a:spcBef>
              </a:pPr>
            </a:p>
          </p:txBody>
        </p:sp>
      </p:grpSp>
      <p:sp>
        <p:nvSpPr>
          <p:cNvPr name="TextBox 17" id="17"/>
          <p:cNvSpPr txBox="true"/>
          <p:nvPr/>
        </p:nvSpPr>
        <p:spPr>
          <a:xfrm rot="0">
            <a:off x="9467850" y="1809750"/>
            <a:ext cx="7600950" cy="523875"/>
          </a:xfrm>
          <a:prstGeom prst="rect">
            <a:avLst/>
          </a:prstGeom>
        </p:spPr>
        <p:txBody>
          <a:bodyPr anchor="t" rtlCol="false" tIns="0" lIns="0" bIns="0" rIns="0">
            <a:spAutoFit/>
          </a:bodyPr>
          <a:lstStyle/>
          <a:p>
            <a:pPr algn="ctr">
              <a:lnSpc>
                <a:spcPts val="4197"/>
              </a:lnSpc>
            </a:pPr>
            <a:r>
              <a:rPr lang="en-US" b="true" sz="3497" u="none">
                <a:solidFill>
                  <a:srgbClr val="C8A14B"/>
                </a:solidFill>
                <a:latin typeface="Montserrat Bold"/>
                <a:ea typeface="Montserrat Bold"/>
                <a:cs typeface="Montserrat Bold"/>
                <a:sym typeface="Montserrat Bold"/>
              </a:rPr>
              <a:t>OBSERVED</a:t>
            </a:r>
          </a:p>
        </p:txBody>
      </p:sp>
      <p:sp>
        <p:nvSpPr>
          <p:cNvPr name="TextBox 18" id="18"/>
          <p:cNvSpPr txBox="true"/>
          <p:nvPr/>
        </p:nvSpPr>
        <p:spPr>
          <a:xfrm rot="0">
            <a:off x="9610725" y="2764473"/>
            <a:ext cx="7458075" cy="1934845"/>
          </a:xfrm>
          <a:prstGeom prst="rect">
            <a:avLst/>
          </a:prstGeom>
        </p:spPr>
        <p:txBody>
          <a:bodyPr anchor="t" rtlCol="false" tIns="0" lIns="0" bIns="0" rIns="0">
            <a:spAutoFit/>
          </a:bodyPr>
          <a:lstStyle/>
          <a:p>
            <a:pPr algn="l">
              <a:lnSpc>
                <a:spcPts val="3079"/>
              </a:lnSpc>
            </a:pPr>
            <a:r>
              <a:rPr lang="en-US" b="true" sz="2199" u="none">
                <a:solidFill>
                  <a:srgbClr val="27251F"/>
                </a:solidFill>
                <a:latin typeface="Inter Bold"/>
                <a:ea typeface="Inter Bold"/>
                <a:cs typeface="Inter Bold"/>
                <a:sym typeface="Inter Bold"/>
              </a:rPr>
              <a:t>What members actually do.</a:t>
            </a:r>
          </a:p>
          <a:p>
            <a:pPr algn="l">
              <a:lnSpc>
                <a:spcPts val="3079"/>
              </a:lnSpc>
            </a:pPr>
            <a:r>
              <a:rPr lang="en-US" sz="2199" u="none">
                <a:solidFill>
                  <a:srgbClr val="27251F"/>
                </a:solidFill>
                <a:latin typeface="Inter"/>
                <a:ea typeface="Inter"/>
                <a:cs typeface="Inter"/>
                <a:sym typeface="Inter"/>
              </a:rPr>
              <a:t>• 5 years of transaction data (member-linked)</a:t>
            </a:r>
          </a:p>
          <a:p>
            <a:pPr algn="l">
              <a:lnSpc>
                <a:spcPts val="3079"/>
              </a:lnSpc>
            </a:pPr>
            <a:r>
              <a:rPr lang="en-US" sz="2199" u="none">
                <a:solidFill>
                  <a:srgbClr val="27251F"/>
                </a:solidFill>
                <a:latin typeface="Inter"/>
                <a:ea typeface="Inter"/>
                <a:cs typeface="Inter"/>
                <a:sym typeface="Inter"/>
              </a:rPr>
              <a:t>• App engagement signals (push opens, offer redemptions, cadence response)</a:t>
            </a:r>
          </a:p>
          <a:p>
            <a:pPr algn="l">
              <a:lnSpc>
                <a:spcPts val="3079"/>
              </a:lnSpc>
            </a:pPr>
            <a:r>
              <a:rPr lang="en-US" sz="2199" u="none">
                <a:solidFill>
                  <a:srgbClr val="27251F"/>
                </a:solidFill>
                <a:latin typeface="Inter"/>
                <a:ea typeface="Inter"/>
                <a:cs typeface="Inter"/>
                <a:sym typeface="Inter"/>
              </a:rPr>
              <a:t>• Mobile order incompletion data </a:t>
            </a:r>
          </a:p>
        </p:txBody>
      </p:sp>
      <p:grpSp>
        <p:nvGrpSpPr>
          <p:cNvPr name="Group 19" id="19"/>
          <p:cNvGrpSpPr/>
          <p:nvPr/>
        </p:nvGrpSpPr>
        <p:grpSpPr>
          <a:xfrm rot="0">
            <a:off x="1028700" y="5619750"/>
            <a:ext cx="7981950" cy="3638550"/>
            <a:chOff x="0" y="0"/>
            <a:chExt cx="2101914" cy="958151"/>
          </a:xfrm>
        </p:grpSpPr>
        <p:sp>
          <p:nvSpPr>
            <p:cNvPr name="Freeform 20" id="20"/>
            <p:cNvSpPr/>
            <p:nvPr/>
          </p:nvSpPr>
          <p:spPr>
            <a:xfrm flipH="false" flipV="false" rot="0">
              <a:off x="0" y="0"/>
              <a:ext cx="2101914" cy="958151"/>
            </a:xfrm>
            <a:custGeom>
              <a:avLst/>
              <a:gdLst/>
              <a:ahLst/>
              <a:cxnLst/>
              <a:rect r="r" b="b" t="t" l="l"/>
              <a:pathLst>
                <a:path h="958151" w="2101914">
                  <a:moveTo>
                    <a:pt x="36857" y="0"/>
                  </a:moveTo>
                  <a:lnTo>
                    <a:pt x="2065056" y="0"/>
                  </a:lnTo>
                  <a:cubicBezTo>
                    <a:pt x="2085412" y="0"/>
                    <a:pt x="2101914" y="16502"/>
                    <a:pt x="2101914" y="36857"/>
                  </a:cubicBezTo>
                  <a:lnTo>
                    <a:pt x="2101914" y="921294"/>
                  </a:lnTo>
                  <a:cubicBezTo>
                    <a:pt x="2101914" y="941650"/>
                    <a:pt x="2085412" y="958151"/>
                    <a:pt x="2065056" y="958151"/>
                  </a:cubicBezTo>
                  <a:lnTo>
                    <a:pt x="36857" y="958151"/>
                  </a:lnTo>
                  <a:cubicBezTo>
                    <a:pt x="27082" y="958151"/>
                    <a:pt x="17707" y="954268"/>
                    <a:pt x="10795" y="947356"/>
                  </a:cubicBezTo>
                  <a:cubicBezTo>
                    <a:pt x="3883" y="940444"/>
                    <a:pt x="0" y="931069"/>
                    <a:pt x="0" y="921294"/>
                  </a:cubicBezTo>
                  <a:lnTo>
                    <a:pt x="0" y="36857"/>
                  </a:lnTo>
                  <a:cubicBezTo>
                    <a:pt x="0" y="27082"/>
                    <a:pt x="3883" y="17707"/>
                    <a:pt x="10795" y="10795"/>
                  </a:cubicBezTo>
                  <a:cubicBezTo>
                    <a:pt x="17707" y="3883"/>
                    <a:pt x="27082" y="0"/>
                    <a:pt x="36857" y="0"/>
                  </a:cubicBezTo>
                  <a:close/>
                </a:path>
              </a:pathLst>
            </a:custGeom>
            <a:solidFill>
              <a:srgbClr val="F2F0EB"/>
            </a:solidFill>
            <a:ln w="47625" cap="rnd">
              <a:solidFill>
                <a:srgbClr val="006241"/>
              </a:solidFill>
              <a:prstDash val="solid"/>
              <a:round/>
            </a:ln>
          </p:spPr>
        </p:sp>
        <p:sp>
          <p:nvSpPr>
            <p:cNvPr name="TextBox 21" id="21"/>
            <p:cNvSpPr txBox="true"/>
            <p:nvPr/>
          </p:nvSpPr>
          <p:spPr>
            <a:xfrm>
              <a:off x="0" y="-38100"/>
              <a:ext cx="2101914" cy="996252"/>
            </a:xfrm>
            <a:prstGeom prst="rect">
              <a:avLst/>
            </a:prstGeom>
          </p:spPr>
          <p:txBody>
            <a:bodyPr anchor="ctr" rtlCol="false" tIns="0" lIns="0" bIns="0" rIns="0"/>
            <a:lstStyle/>
            <a:p>
              <a:pPr algn="ctr">
                <a:lnSpc>
                  <a:spcPts val="1679"/>
                </a:lnSpc>
                <a:spcBef>
                  <a:spcPct val="0"/>
                </a:spcBef>
              </a:pPr>
            </a:p>
          </p:txBody>
        </p:sp>
      </p:grpSp>
      <p:grpSp>
        <p:nvGrpSpPr>
          <p:cNvPr name="Group 22" id="22"/>
          <p:cNvGrpSpPr/>
          <p:nvPr/>
        </p:nvGrpSpPr>
        <p:grpSpPr>
          <a:xfrm rot="0">
            <a:off x="1028700" y="5619750"/>
            <a:ext cx="7981950" cy="666750"/>
            <a:chOff x="0" y="0"/>
            <a:chExt cx="2101914" cy="175578"/>
          </a:xfrm>
        </p:grpSpPr>
        <p:sp>
          <p:nvSpPr>
            <p:cNvPr name="Freeform 23" id="23"/>
            <p:cNvSpPr/>
            <p:nvPr/>
          </p:nvSpPr>
          <p:spPr>
            <a:xfrm flipH="false" flipV="false" rot="0">
              <a:off x="0" y="0"/>
              <a:ext cx="2101914" cy="175577"/>
            </a:xfrm>
            <a:custGeom>
              <a:avLst/>
              <a:gdLst/>
              <a:ahLst/>
              <a:cxnLst/>
              <a:rect r="r" b="b" t="t" l="l"/>
              <a:pathLst>
                <a:path h="175577" w="2101914">
                  <a:moveTo>
                    <a:pt x="6789" y="0"/>
                  </a:moveTo>
                  <a:lnTo>
                    <a:pt x="2095124" y="0"/>
                  </a:lnTo>
                  <a:cubicBezTo>
                    <a:pt x="2098874" y="0"/>
                    <a:pt x="2101914" y="3040"/>
                    <a:pt x="2101914" y="6789"/>
                  </a:cubicBezTo>
                  <a:lnTo>
                    <a:pt x="2101914" y="168788"/>
                  </a:lnTo>
                  <a:cubicBezTo>
                    <a:pt x="2101914" y="172538"/>
                    <a:pt x="2098874" y="175577"/>
                    <a:pt x="2095124" y="175577"/>
                  </a:cubicBezTo>
                  <a:lnTo>
                    <a:pt x="6789" y="175577"/>
                  </a:lnTo>
                  <a:cubicBezTo>
                    <a:pt x="3040" y="175577"/>
                    <a:pt x="0" y="172538"/>
                    <a:pt x="0" y="168788"/>
                  </a:cubicBezTo>
                  <a:lnTo>
                    <a:pt x="0" y="6789"/>
                  </a:lnTo>
                  <a:cubicBezTo>
                    <a:pt x="0" y="3040"/>
                    <a:pt x="3040" y="0"/>
                    <a:pt x="6789" y="0"/>
                  </a:cubicBezTo>
                  <a:close/>
                </a:path>
              </a:pathLst>
            </a:custGeom>
            <a:solidFill>
              <a:srgbClr val="006241"/>
            </a:solidFill>
            <a:ln cap="sq">
              <a:noFill/>
              <a:prstDash val="solid"/>
              <a:miter/>
            </a:ln>
          </p:spPr>
        </p:sp>
        <p:sp>
          <p:nvSpPr>
            <p:cNvPr name="TextBox 24" id="24"/>
            <p:cNvSpPr txBox="true"/>
            <p:nvPr/>
          </p:nvSpPr>
          <p:spPr>
            <a:xfrm>
              <a:off x="0" y="-38100"/>
              <a:ext cx="2101914" cy="213678"/>
            </a:xfrm>
            <a:prstGeom prst="rect">
              <a:avLst/>
            </a:prstGeom>
          </p:spPr>
          <p:txBody>
            <a:bodyPr anchor="ctr" rtlCol="false" tIns="0" lIns="0" bIns="0" rIns="0"/>
            <a:lstStyle/>
            <a:p>
              <a:pPr algn="ctr">
                <a:lnSpc>
                  <a:spcPts val="1679"/>
                </a:lnSpc>
                <a:spcBef>
                  <a:spcPct val="0"/>
                </a:spcBef>
              </a:pPr>
            </a:p>
          </p:txBody>
        </p:sp>
      </p:grpSp>
      <p:sp>
        <p:nvSpPr>
          <p:cNvPr name="TextBox 25" id="25"/>
          <p:cNvSpPr txBox="true"/>
          <p:nvPr/>
        </p:nvSpPr>
        <p:spPr>
          <a:xfrm rot="0">
            <a:off x="1219200" y="5715000"/>
            <a:ext cx="7600950" cy="523875"/>
          </a:xfrm>
          <a:prstGeom prst="rect">
            <a:avLst/>
          </a:prstGeom>
        </p:spPr>
        <p:txBody>
          <a:bodyPr anchor="t" rtlCol="false" tIns="0" lIns="0" bIns="0" rIns="0">
            <a:spAutoFit/>
          </a:bodyPr>
          <a:lstStyle/>
          <a:p>
            <a:pPr algn="ctr">
              <a:lnSpc>
                <a:spcPts val="4197"/>
              </a:lnSpc>
            </a:pPr>
            <a:r>
              <a:rPr lang="en-US" b="true" sz="3497" u="none">
                <a:solidFill>
                  <a:srgbClr val="C8A14B"/>
                </a:solidFill>
                <a:latin typeface="Montserrat Bold"/>
                <a:ea typeface="Montserrat Bold"/>
                <a:cs typeface="Montserrat Bold"/>
                <a:sym typeface="Montserrat Bold"/>
              </a:rPr>
              <a:t>INFERRED</a:t>
            </a:r>
          </a:p>
        </p:txBody>
      </p:sp>
      <p:sp>
        <p:nvSpPr>
          <p:cNvPr name="TextBox 26" id="26"/>
          <p:cNvSpPr txBox="true"/>
          <p:nvPr/>
        </p:nvSpPr>
        <p:spPr>
          <a:xfrm rot="0">
            <a:off x="1464845" y="6522085"/>
            <a:ext cx="7109659" cy="2325370"/>
          </a:xfrm>
          <a:prstGeom prst="rect">
            <a:avLst/>
          </a:prstGeom>
        </p:spPr>
        <p:txBody>
          <a:bodyPr anchor="t" rtlCol="false" tIns="0" lIns="0" bIns="0" rIns="0">
            <a:spAutoFit/>
          </a:bodyPr>
          <a:lstStyle/>
          <a:p>
            <a:pPr algn="l">
              <a:lnSpc>
                <a:spcPts val="3079"/>
              </a:lnSpc>
            </a:pPr>
            <a:r>
              <a:rPr lang="en-US" b="true" sz="2199" u="none">
                <a:solidFill>
                  <a:srgbClr val="27251F"/>
                </a:solidFill>
                <a:latin typeface="Inter Bold"/>
                <a:ea typeface="Inter Bold"/>
                <a:cs typeface="Inter Bold"/>
                <a:sym typeface="Inter Bold"/>
              </a:rPr>
              <a:t>What your existing systems already produce.</a:t>
            </a:r>
          </a:p>
          <a:p>
            <a:pPr algn="l">
              <a:lnSpc>
                <a:spcPts val="3079"/>
              </a:lnSpc>
            </a:pPr>
            <a:r>
              <a:rPr lang="en-US" sz="2199" u="none">
                <a:solidFill>
                  <a:srgbClr val="27251F"/>
                </a:solidFill>
                <a:latin typeface="Inter"/>
                <a:ea typeface="Inter"/>
                <a:cs typeface="Inter"/>
                <a:sym typeface="Inter"/>
              </a:rPr>
              <a:t>• Tier transition history (Green ↔ Gold ↔ Reserve, since March 2026 launch)</a:t>
            </a:r>
          </a:p>
          <a:p>
            <a:pPr algn="l">
              <a:lnSpc>
                <a:spcPts val="3079"/>
              </a:lnSpc>
            </a:pPr>
            <a:r>
              <a:rPr lang="en-US" sz="2199" u="none">
                <a:solidFill>
                  <a:srgbClr val="27251F"/>
                </a:solidFill>
                <a:latin typeface="Inter"/>
                <a:ea typeface="Inter"/>
                <a:cs typeface="Inter"/>
                <a:sym typeface="Inter"/>
              </a:rPr>
              <a:t>• Mobile order incompletion flags at member level</a:t>
            </a:r>
          </a:p>
          <a:p>
            <a:pPr algn="l">
              <a:lnSpc>
                <a:spcPts val="3079"/>
              </a:lnSpc>
            </a:pPr>
            <a:r>
              <a:rPr lang="en-US" sz="2199" u="none">
                <a:solidFill>
                  <a:srgbClr val="27251F"/>
                </a:solidFill>
                <a:latin typeface="Inter"/>
                <a:ea typeface="Inter"/>
                <a:cs typeface="Inter"/>
                <a:sym typeface="Inter"/>
              </a:rPr>
              <a:t>• Customer satisfaction / NPS scores at member level (where collected)</a:t>
            </a:r>
          </a:p>
        </p:txBody>
      </p:sp>
      <p:grpSp>
        <p:nvGrpSpPr>
          <p:cNvPr name="Group 27" id="27"/>
          <p:cNvGrpSpPr/>
          <p:nvPr/>
        </p:nvGrpSpPr>
        <p:grpSpPr>
          <a:xfrm rot="0">
            <a:off x="9277350" y="5619750"/>
            <a:ext cx="7981950" cy="3638550"/>
            <a:chOff x="0" y="0"/>
            <a:chExt cx="2101914" cy="958151"/>
          </a:xfrm>
        </p:grpSpPr>
        <p:sp>
          <p:nvSpPr>
            <p:cNvPr name="Freeform 28" id="28"/>
            <p:cNvSpPr/>
            <p:nvPr/>
          </p:nvSpPr>
          <p:spPr>
            <a:xfrm flipH="false" flipV="false" rot="0">
              <a:off x="0" y="0"/>
              <a:ext cx="2101914" cy="958151"/>
            </a:xfrm>
            <a:custGeom>
              <a:avLst/>
              <a:gdLst/>
              <a:ahLst/>
              <a:cxnLst/>
              <a:rect r="r" b="b" t="t" l="l"/>
              <a:pathLst>
                <a:path h="958151" w="2101914">
                  <a:moveTo>
                    <a:pt x="36857" y="0"/>
                  </a:moveTo>
                  <a:lnTo>
                    <a:pt x="2065056" y="0"/>
                  </a:lnTo>
                  <a:cubicBezTo>
                    <a:pt x="2085412" y="0"/>
                    <a:pt x="2101914" y="16502"/>
                    <a:pt x="2101914" y="36857"/>
                  </a:cubicBezTo>
                  <a:lnTo>
                    <a:pt x="2101914" y="921294"/>
                  </a:lnTo>
                  <a:cubicBezTo>
                    <a:pt x="2101914" y="941650"/>
                    <a:pt x="2085412" y="958151"/>
                    <a:pt x="2065056" y="958151"/>
                  </a:cubicBezTo>
                  <a:lnTo>
                    <a:pt x="36857" y="958151"/>
                  </a:lnTo>
                  <a:cubicBezTo>
                    <a:pt x="27082" y="958151"/>
                    <a:pt x="17707" y="954268"/>
                    <a:pt x="10795" y="947356"/>
                  </a:cubicBezTo>
                  <a:cubicBezTo>
                    <a:pt x="3883" y="940444"/>
                    <a:pt x="0" y="931069"/>
                    <a:pt x="0" y="921294"/>
                  </a:cubicBezTo>
                  <a:lnTo>
                    <a:pt x="0" y="36857"/>
                  </a:lnTo>
                  <a:cubicBezTo>
                    <a:pt x="0" y="27082"/>
                    <a:pt x="3883" y="17707"/>
                    <a:pt x="10795" y="10795"/>
                  </a:cubicBezTo>
                  <a:cubicBezTo>
                    <a:pt x="17707" y="3883"/>
                    <a:pt x="27082" y="0"/>
                    <a:pt x="36857" y="0"/>
                  </a:cubicBezTo>
                  <a:close/>
                </a:path>
              </a:pathLst>
            </a:custGeom>
            <a:solidFill>
              <a:srgbClr val="F2F0EB"/>
            </a:solidFill>
            <a:ln w="47625" cap="rnd">
              <a:solidFill>
                <a:srgbClr val="006241"/>
              </a:solidFill>
              <a:prstDash val="solid"/>
              <a:round/>
            </a:ln>
          </p:spPr>
        </p:sp>
        <p:sp>
          <p:nvSpPr>
            <p:cNvPr name="TextBox 29" id="29"/>
            <p:cNvSpPr txBox="true"/>
            <p:nvPr/>
          </p:nvSpPr>
          <p:spPr>
            <a:xfrm>
              <a:off x="0" y="-38100"/>
              <a:ext cx="2101914" cy="996252"/>
            </a:xfrm>
            <a:prstGeom prst="rect">
              <a:avLst/>
            </a:prstGeom>
          </p:spPr>
          <p:txBody>
            <a:bodyPr anchor="ctr" rtlCol="false" tIns="0" lIns="0" bIns="0" rIns="0"/>
            <a:lstStyle/>
            <a:p>
              <a:pPr algn="ctr">
                <a:lnSpc>
                  <a:spcPts val="1679"/>
                </a:lnSpc>
                <a:spcBef>
                  <a:spcPct val="0"/>
                </a:spcBef>
              </a:pPr>
            </a:p>
          </p:txBody>
        </p:sp>
      </p:grpSp>
      <p:grpSp>
        <p:nvGrpSpPr>
          <p:cNvPr name="Group 30" id="30"/>
          <p:cNvGrpSpPr/>
          <p:nvPr/>
        </p:nvGrpSpPr>
        <p:grpSpPr>
          <a:xfrm rot="0">
            <a:off x="9277350" y="5619750"/>
            <a:ext cx="7981950" cy="666750"/>
            <a:chOff x="0" y="0"/>
            <a:chExt cx="2101914" cy="175578"/>
          </a:xfrm>
        </p:grpSpPr>
        <p:sp>
          <p:nvSpPr>
            <p:cNvPr name="Freeform 31" id="31"/>
            <p:cNvSpPr/>
            <p:nvPr/>
          </p:nvSpPr>
          <p:spPr>
            <a:xfrm flipH="false" flipV="false" rot="0">
              <a:off x="0" y="0"/>
              <a:ext cx="2101914" cy="175577"/>
            </a:xfrm>
            <a:custGeom>
              <a:avLst/>
              <a:gdLst/>
              <a:ahLst/>
              <a:cxnLst/>
              <a:rect r="r" b="b" t="t" l="l"/>
              <a:pathLst>
                <a:path h="175577" w="2101914">
                  <a:moveTo>
                    <a:pt x="6789" y="0"/>
                  </a:moveTo>
                  <a:lnTo>
                    <a:pt x="2095124" y="0"/>
                  </a:lnTo>
                  <a:cubicBezTo>
                    <a:pt x="2098874" y="0"/>
                    <a:pt x="2101914" y="3040"/>
                    <a:pt x="2101914" y="6789"/>
                  </a:cubicBezTo>
                  <a:lnTo>
                    <a:pt x="2101914" y="168788"/>
                  </a:lnTo>
                  <a:cubicBezTo>
                    <a:pt x="2101914" y="172538"/>
                    <a:pt x="2098874" y="175577"/>
                    <a:pt x="2095124" y="175577"/>
                  </a:cubicBezTo>
                  <a:lnTo>
                    <a:pt x="6789" y="175577"/>
                  </a:lnTo>
                  <a:cubicBezTo>
                    <a:pt x="3040" y="175577"/>
                    <a:pt x="0" y="172538"/>
                    <a:pt x="0" y="168788"/>
                  </a:cubicBezTo>
                  <a:lnTo>
                    <a:pt x="0" y="6789"/>
                  </a:lnTo>
                  <a:cubicBezTo>
                    <a:pt x="0" y="3040"/>
                    <a:pt x="3040" y="0"/>
                    <a:pt x="6789" y="0"/>
                  </a:cubicBezTo>
                  <a:close/>
                </a:path>
              </a:pathLst>
            </a:custGeom>
            <a:solidFill>
              <a:srgbClr val="006241"/>
            </a:solidFill>
            <a:ln cap="sq">
              <a:noFill/>
              <a:prstDash val="solid"/>
              <a:miter/>
            </a:ln>
          </p:spPr>
        </p:sp>
        <p:sp>
          <p:nvSpPr>
            <p:cNvPr name="TextBox 32" id="32"/>
            <p:cNvSpPr txBox="true"/>
            <p:nvPr/>
          </p:nvSpPr>
          <p:spPr>
            <a:xfrm>
              <a:off x="0" y="-38100"/>
              <a:ext cx="2101914" cy="213678"/>
            </a:xfrm>
            <a:prstGeom prst="rect">
              <a:avLst/>
            </a:prstGeom>
          </p:spPr>
          <p:txBody>
            <a:bodyPr anchor="ctr" rtlCol="false" tIns="0" lIns="0" bIns="0" rIns="0"/>
            <a:lstStyle/>
            <a:p>
              <a:pPr algn="ctr">
                <a:lnSpc>
                  <a:spcPts val="1679"/>
                </a:lnSpc>
                <a:spcBef>
                  <a:spcPct val="0"/>
                </a:spcBef>
              </a:pPr>
            </a:p>
          </p:txBody>
        </p:sp>
      </p:grpSp>
      <p:sp>
        <p:nvSpPr>
          <p:cNvPr name="TextBox 33" id="33"/>
          <p:cNvSpPr txBox="true"/>
          <p:nvPr/>
        </p:nvSpPr>
        <p:spPr>
          <a:xfrm rot="0">
            <a:off x="9467850" y="5715000"/>
            <a:ext cx="7600950" cy="523875"/>
          </a:xfrm>
          <a:prstGeom prst="rect">
            <a:avLst/>
          </a:prstGeom>
        </p:spPr>
        <p:txBody>
          <a:bodyPr anchor="t" rtlCol="false" tIns="0" lIns="0" bIns="0" rIns="0">
            <a:spAutoFit/>
          </a:bodyPr>
          <a:lstStyle/>
          <a:p>
            <a:pPr algn="ctr">
              <a:lnSpc>
                <a:spcPts val="4197"/>
              </a:lnSpc>
            </a:pPr>
            <a:r>
              <a:rPr lang="en-US" b="true" sz="3497" u="none">
                <a:solidFill>
                  <a:srgbClr val="C8A14B"/>
                </a:solidFill>
                <a:latin typeface="Montserrat Bold"/>
                <a:ea typeface="Montserrat Bold"/>
                <a:cs typeface="Montserrat Bold"/>
                <a:sym typeface="Montserrat Bold"/>
              </a:rPr>
              <a:t>EXTERNAL</a:t>
            </a:r>
          </a:p>
        </p:txBody>
      </p:sp>
      <p:sp>
        <p:nvSpPr>
          <p:cNvPr name="TextBox 34" id="34"/>
          <p:cNvSpPr txBox="true"/>
          <p:nvPr/>
        </p:nvSpPr>
        <p:spPr>
          <a:xfrm rot="0">
            <a:off x="9610725" y="6457633"/>
            <a:ext cx="7505700" cy="2454275"/>
          </a:xfrm>
          <a:prstGeom prst="rect">
            <a:avLst/>
          </a:prstGeom>
        </p:spPr>
        <p:txBody>
          <a:bodyPr anchor="t" rtlCol="false" tIns="0" lIns="0" bIns="0" rIns="0">
            <a:spAutoFit/>
          </a:bodyPr>
          <a:lstStyle/>
          <a:p>
            <a:pPr algn="l">
              <a:lnSpc>
                <a:spcPts val="2799"/>
              </a:lnSpc>
            </a:pPr>
            <a:r>
              <a:rPr lang="en-US" b="true" sz="1999" u="none">
                <a:solidFill>
                  <a:srgbClr val="27251F"/>
                </a:solidFill>
                <a:latin typeface="Inter Bold"/>
                <a:ea typeface="Inter Bold"/>
                <a:cs typeface="Inter Bold"/>
                <a:sym typeface="Inter Bold"/>
              </a:rPr>
              <a:t>Recommended additions to enrich your view.</a:t>
            </a:r>
          </a:p>
          <a:p>
            <a:pPr algn="l">
              <a:lnSpc>
                <a:spcPts val="2799"/>
              </a:lnSpc>
            </a:pPr>
            <a:r>
              <a:rPr lang="en-US" sz="1999" u="none">
                <a:solidFill>
                  <a:srgbClr val="27251F"/>
                </a:solidFill>
                <a:latin typeface="Inter"/>
                <a:ea typeface="Inter"/>
                <a:cs typeface="Inter"/>
                <a:sym typeface="Inter"/>
              </a:rPr>
              <a:t>• Weather data (already a Deep Brew input can extend to segmentation)</a:t>
            </a:r>
          </a:p>
          <a:p>
            <a:pPr algn="l">
              <a:lnSpc>
                <a:spcPts val="2799"/>
              </a:lnSpc>
            </a:pPr>
            <a:r>
              <a:rPr lang="en-US" sz="1999" u="none">
                <a:solidFill>
                  <a:srgbClr val="27251F"/>
                </a:solidFill>
                <a:latin typeface="Inter"/>
                <a:ea typeface="Inter"/>
                <a:cs typeface="Inter"/>
                <a:sym typeface="Inter"/>
              </a:rPr>
              <a:t>• Regional economic indicators (relevant to international market variation)</a:t>
            </a:r>
          </a:p>
          <a:p>
            <a:pPr algn="l">
              <a:lnSpc>
                <a:spcPts val="2799"/>
              </a:lnSpc>
            </a:pPr>
            <a:r>
              <a:rPr lang="en-US" sz="1999" u="none">
                <a:solidFill>
                  <a:srgbClr val="27251F"/>
                </a:solidFill>
                <a:latin typeface="Inter"/>
                <a:ea typeface="Inter"/>
                <a:cs typeface="Inter"/>
                <a:sym typeface="Inter"/>
              </a:rPr>
              <a:t>• Social listening signals (relevant to brand discourse and programme launch reaction)</a:t>
            </a:r>
          </a:p>
        </p:txBody>
      </p:sp>
      <p:sp>
        <p:nvSpPr>
          <p:cNvPr name="TextBox 35" id="35"/>
          <p:cNvSpPr txBox="true"/>
          <p:nvPr/>
        </p:nvSpPr>
        <p:spPr>
          <a:xfrm rot="0">
            <a:off x="5556275" y="9677400"/>
            <a:ext cx="7175450" cy="266700"/>
          </a:xfrm>
          <a:prstGeom prst="rect">
            <a:avLst/>
          </a:prstGeom>
        </p:spPr>
        <p:txBody>
          <a:bodyPr anchor="t" rtlCol="false" tIns="0" lIns="0" bIns="0" rIns="0">
            <a:spAutoFit/>
          </a:bodyPr>
          <a:lstStyle/>
          <a:p>
            <a:pPr algn="ctr">
              <a:lnSpc>
                <a:spcPts val="2157"/>
              </a:lnSpc>
              <a:spcBef>
                <a:spcPct val="0"/>
              </a:spcBef>
            </a:pPr>
            <a:r>
              <a:rPr lang="en-US" sz="1797">
                <a:solidFill>
                  <a:srgbClr val="000000"/>
                </a:solidFill>
                <a:latin typeface="Montserrat"/>
                <a:ea typeface="Montserrat"/>
                <a:cs typeface="Montserrat"/>
                <a:sym typeface="Montserrat"/>
              </a:rPr>
              <a:t>Smith, A. (2019) Consumer Behaviour and Analytics. Routledge.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11931042" y="2942100"/>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2"/>
            <a:stretch>
              <a:fillRect l="0" t="0" r="0" b="0"/>
            </a:stretch>
          </a:blipFill>
        </p:spPr>
      </p:sp>
      <p:sp>
        <p:nvSpPr>
          <p:cNvPr name="TextBox 3" id="3"/>
          <p:cNvSpPr txBox="true"/>
          <p:nvPr/>
        </p:nvSpPr>
        <p:spPr>
          <a:xfrm rot="0">
            <a:off x="1028700" y="676275"/>
            <a:ext cx="9815215"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TECHNOLOGY REQUIREMENTS</a:t>
            </a:r>
          </a:p>
        </p:txBody>
      </p:sp>
      <p:sp>
        <p:nvSpPr>
          <p:cNvPr name="TextBox 4" id="4"/>
          <p:cNvSpPr txBox="true"/>
          <p:nvPr/>
        </p:nvSpPr>
        <p:spPr>
          <a:xfrm rot="0">
            <a:off x="1028700" y="2365471"/>
            <a:ext cx="4032845" cy="409575"/>
          </a:xfrm>
          <a:prstGeom prst="rect">
            <a:avLst/>
          </a:prstGeom>
        </p:spPr>
        <p:txBody>
          <a:bodyPr anchor="t" rtlCol="false" tIns="0" lIns="0" bIns="0" rIns="0">
            <a:spAutoFit/>
          </a:bodyPr>
          <a:lstStyle/>
          <a:p>
            <a:pPr algn="l">
              <a:lnSpc>
                <a:spcPts val="3357"/>
              </a:lnSpc>
              <a:spcBef>
                <a:spcPct val="0"/>
              </a:spcBef>
            </a:pPr>
            <a:r>
              <a:rPr lang="en-US" b="true" sz="2797">
                <a:solidFill>
                  <a:srgbClr val="006241"/>
                </a:solidFill>
                <a:latin typeface="Montserrat Bold"/>
                <a:ea typeface="Montserrat Bold"/>
                <a:cs typeface="Montserrat Bold"/>
                <a:sym typeface="Montserrat Bold"/>
              </a:rPr>
              <a:t>01. INGESTION - </a:t>
            </a:r>
            <a:r>
              <a:rPr lang="en-US" b="true" sz="2797">
                <a:solidFill>
                  <a:srgbClr val="C8A14B"/>
                </a:solidFill>
                <a:latin typeface="Montserrat Bold"/>
                <a:ea typeface="Montserrat Bold"/>
                <a:cs typeface="Montserrat Bold"/>
                <a:sym typeface="Montserrat Bold"/>
              </a:rPr>
              <a:t>EDAP</a:t>
            </a:r>
          </a:p>
        </p:txBody>
      </p:sp>
      <p:sp>
        <p:nvSpPr>
          <p:cNvPr name="TextBox 5" id="5"/>
          <p:cNvSpPr txBox="true"/>
          <p:nvPr/>
        </p:nvSpPr>
        <p:spPr>
          <a:xfrm rot="0">
            <a:off x="1028700" y="2775046"/>
            <a:ext cx="11874417" cy="533400"/>
          </a:xfrm>
          <a:prstGeom prst="rect">
            <a:avLst/>
          </a:prstGeom>
        </p:spPr>
        <p:txBody>
          <a:bodyPr anchor="t" rtlCol="false" tIns="0" lIns="0" bIns="0" rIns="0">
            <a:spAutoFit/>
          </a:bodyPr>
          <a:lstStyle/>
          <a:p>
            <a:pPr algn="l">
              <a:lnSpc>
                <a:spcPts val="2157"/>
              </a:lnSpc>
              <a:spcBef>
                <a:spcPct val="0"/>
              </a:spcBef>
            </a:pPr>
            <a:r>
              <a:rPr lang="en-US" sz="1797">
                <a:solidFill>
                  <a:srgbClr val="27251F"/>
                </a:solidFill>
                <a:latin typeface="Montserrat"/>
                <a:ea typeface="Montserrat"/>
                <a:cs typeface="Montserrat"/>
                <a:sym typeface="Montserrat"/>
              </a:rPr>
              <a:t>Member-linked transactions, app engagement signals, mobile incompletion flags, marketing campaign logs.</a:t>
            </a:r>
          </a:p>
        </p:txBody>
      </p:sp>
      <p:sp>
        <p:nvSpPr>
          <p:cNvPr name="TextBox 6" id="6"/>
          <p:cNvSpPr txBox="true"/>
          <p:nvPr/>
        </p:nvSpPr>
        <p:spPr>
          <a:xfrm rot="0">
            <a:off x="1028700" y="3661385"/>
            <a:ext cx="6724055" cy="438150"/>
          </a:xfrm>
          <a:prstGeom prst="rect">
            <a:avLst/>
          </a:prstGeom>
        </p:spPr>
        <p:txBody>
          <a:bodyPr anchor="t" rtlCol="false" tIns="0" lIns="0" bIns="0" rIns="0">
            <a:spAutoFit/>
          </a:bodyPr>
          <a:lstStyle/>
          <a:p>
            <a:pPr algn="l">
              <a:lnSpc>
                <a:spcPts val="3597"/>
              </a:lnSpc>
              <a:spcBef>
                <a:spcPct val="0"/>
              </a:spcBef>
            </a:pPr>
            <a:r>
              <a:rPr lang="en-US" b="true" sz="2997">
                <a:solidFill>
                  <a:srgbClr val="006241"/>
                </a:solidFill>
                <a:latin typeface="Montserrat Bold"/>
                <a:ea typeface="Montserrat Bold"/>
                <a:cs typeface="Montserrat Bold"/>
                <a:sym typeface="Montserrat Bold"/>
              </a:rPr>
              <a:t>02. STORAGE - </a:t>
            </a:r>
            <a:r>
              <a:rPr lang="en-US" b="true" sz="2997">
                <a:solidFill>
                  <a:srgbClr val="C8A14B"/>
                </a:solidFill>
                <a:latin typeface="Montserrat Bold"/>
                <a:ea typeface="Montserrat Bold"/>
                <a:cs typeface="Montserrat Bold"/>
                <a:sym typeface="Montserrat Bold"/>
              </a:rPr>
              <a:t>AZURE DATA LAKE</a:t>
            </a:r>
          </a:p>
        </p:txBody>
      </p:sp>
      <p:sp>
        <p:nvSpPr>
          <p:cNvPr name="TextBox 7" id="7"/>
          <p:cNvSpPr txBox="true"/>
          <p:nvPr/>
        </p:nvSpPr>
        <p:spPr>
          <a:xfrm rot="0">
            <a:off x="1028700" y="4165646"/>
            <a:ext cx="11874417" cy="266700"/>
          </a:xfrm>
          <a:prstGeom prst="rect">
            <a:avLst/>
          </a:prstGeom>
        </p:spPr>
        <p:txBody>
          <a:bodyPr anchor="t" rtlCol="false" tIns="0" lIns="0" bIns="0" rIns="0">
            <a:spAutoFit/>
          </a:bodyPr>
          <a:lstStyle/>
          <a:p>
            <a:pPr algn="l">
              <a:lnSpc>
                <a:spcPts val="2157"/>
              </a:lnSpc>
              <a:spcBef>
                <a:spcPct val="0"/>
              </a:spcBef>
            </a:pPr>
            <a:r>
              <a:rPr lang="en-US" sz="1797">
                <a:solidFill>
                  <a:srgbClr val="27251F"/>
                </a:solidFill>
                <a:latin typeface="Montserrat"/>
                <a:ea typeface="Montserrat"/>
                <a:cs typeface="Montserrat"/>
                <a:sym typeface="Montserrat"/>
              </a:rPr>
              <a:t>5 years of transaction history and segment outputs. Member-linked, partitioned by segment.</a:t>
            </a:r>
          </a:p>
        </p:txBody>
      </p:sp>
      <p:sp>
        <p:nvSpPr>
          <p:cNvPr name="TextBox 8" id="8"/>
          <p:cNvSpPr txBox="true"/>
          <p:nvPr/>
        </p:nvSpPr>
        <p:spPr>
          <a:xfrm rot="0">
            <a:off x="1028700" y="4784771"/>
            <a:ext cx="6168628" cy="438150"/>
          </a:xfrm>
          <a:prstGeom prst="rect">
            <a:avLst/>
          </a:prstGeom>
        </p:spPr>
        <p:txBody>
          <a:bodyPr anchor="t" rtlCol="false" tIns="0" lIns="0" bIns="0" rIns="0">
            <a:spAutoFit/>
          </a:bodyPr>
          <a:lstStyle/>
          <a:p>
            <a:pPr algn="l">
              <a:lnSpc>
                <a:spcPts val="3597"/>
              </a:lnSpc>
              <a:spcBef>
                <a:spcPct val="0"/>
              </a:spcBef>
            </a:pPr>
            <a:r>
              <a:rPr lang="en-US" b="true" sz="2997">
                <a:solidFill>
                  <a:srgbClr val="006241"/>
                </a:solidFill>
                <a:latin typeface="Montserrat Bold"/>
                <a:ea typeface="Montserrat Bold"/>
                <a:cs typeface="Montserrat Bold"/>
                <a:sym typeface="Montserrat Bold"/>
              </a:rPr>
              <a:t>03 PROCESSING - </a:t>
            </a:r>
            <a:r>
              <a:rPr lang="en-US" b="true" sz="2997">
                <a:solidFill>
                  <a:srgbClr val="C8A14B"/>
                </a:solidFill>
                <a:latin typeface="Montserrat Bold"/>
                <a:ea typeface="Montserrat Bold"/>
                <a:cs typeface="Montserrat Bold"/>
                <a:sym typeface="Montserrat Bold"/>
              </a:rPr>
              <a:t>DATABRICKS</a:t>
            </a:r>
          </a:p>
        </p:txBody>
      </p:sp>
      <p:sp>
        <p:nvSpPr>
          <p:cNvPr name="TextBox 9" id="9"/>
          <p:cNvSpPr txBox="true"/>
          <p:nvPr/>
        </p:nvSpPr>
        <p:spPr>
          <a:xfrm rot="0">
            <a:off x="1028700" y="5289596"/>
            <a:ext cx="11874417" cy="533400"/>
          </a:xfrm>
          <a:prstGeom prst="rect">
            <a:avLst/>
          </a:prstGeom>
        </p:spPr>
        <p:txBody>
          <a:bodyPr anchor="t" rtlCol="false" tIns="0" lIns="0" bIns="0" rIns="0">
            <a:spAutoFit/>
          </a:bodyPr>
          <a:lstStyle/>
          <a:p>
            <a:pPr algn="l">
              <a:lnSpc>
                <a:spcPts val="2157"/>
              </a:lnSpc>
              <a:spcBef>
                <a:spcPct val="0"/>
              </a:spcBef>
            </a:pPr>
            <a:r>
              <a:rPr lang="en-US" sz="1797">
                <a:solidFill>
                  <a:srgbClr val="27251F"/>
                </a:solidFill>
                <a:latin typeface="Montserrat"/>
                <a:ea typeface="Montserrat"/>
                <a:cs typeface="Montserrat"/>
                <a:sym typeface="Montserrat"/>
              </a:rPr>
              <a:t>Feature engineering pipeline. RFM features for clustering, churn features (recency, frequency, app engagement, lapse signals), MMM features (channel × segment exposure matrix).</a:t>
            </a:r>
          </a:p>
        </p:txBody>
      </p:sp>
      <p:sp>
        <p:nvSpPr>
          <p:cNvPr name="TextBox 10" id="10"/>
          <p:cNvSpPr txBox="true"/>
          <p:nvPr/>
        </p:nvSpPr>
        <p:spPr>
          <a:xfrm rot="0">
            <a:off x="1028700" y="6175421"/>
            <a:ext cx="4794647" cy="409575"/>
          </a:xfrm>
          <a:prstGeom prst="rect">
            <a:avLst/>
          </a:prstGeom>
        </p:spPr>
        <p:txBody>
          <a:bodyPr anchor="t" rtlCol="false" tIns="0" lIns="0" bIns="0" rIns="0">
            <a:spAutoFit/>
          </a:bodyPr>
          <a:lstStyle/>
          <a:p>
            <a:pPr algn="l">
              <a:lnSpc>
                <a:spcPts val="3357"/>
              </a:lnSpc>
              <a:spcBef>
                <a:spcPct val="0"/>
              </a:spcBef>
            </a:pPr>
            <a:r>
              <a:rPr lang="en-US" b="true" sz="2797">
                <a:solidFill>
                  <a:srgbClr val="006241"/>
                </a:solidFill>
                <a:latin typeface="Montserrat Bold"/>
                <a:ea typeface="Montserrat Bold"/>
                <a:cs typeface="Montserrat Bold"/>
                <a:sym typeface="Montserrat Bold"/>
              </a:rPr>
              <a:t>04. ANALYSIS - </a:t>
            </a:r>
            <a:r>
              <a:rPr lang="en-US" b="true" sz="2797">
                <a:solidFill>
                  <a:srgbClr val="C8A14B"/>
                </a:solidFill>
                <a:latin typeface="Montserrat Bold"/>
                <a:ea typeface="Montserrat Bold"/>
                <a:cs typeface="Montserrat Bold"/>
                <a:sym typeface="Montserrat Bold"/>
              </a:rPr>
              <a:t>AZURE ML</a:t>
            </a:r>
          </a:p>
        </p:txBody>
      </p:sp>
      <p:sp>
        <p:nvSpPr>
          <p:cNvPr name="TextBox 11" id="11"/>
          <p:cNvSpPr txBox="true"/>
          <p:nvPr/>
        </p:nvSpPr>
        <p:spPr>
          <a:xfrm rot="0">
            <a:off x="1028700" y="6584996"/>
            <a:ext cx="11874417" cy="533400"/>
          </a:xfrm>
          <a:prstGeom prst="rect">
            <a:avLst/>
          </a:prstGeom>
        </p:spPr>
        <p:txBody>
          <a:bodyPr anchor="t" rtlCol="false" tIns="0" lIns="0" bIns="0" rIns="0">
            <a:spAutoFit/>
          </a:bodyPr>
          <a:lstStyle/>
          <a:p>
            <a:pPr algn="l">
              <a:lnSpc>
                <a:spcPts val="2157"/>
              </a:lnSpc>
              <a:spcBef>
                <a:spcPct val="0"/>
              </a:spcBef>
            </a:pPr>
            <a:r>
              <a:rPr lang="en-US" sz="1797">
                <a:solidFill>
                  <a:srgbClr val="27251F"/>
                </a:solidFill>
                <a:latin typeface="Montserrat"/>
                <a:ea typeface="Montserrat"/>
                <a:cs typeface="Montserrat"/>
                <a:sym typeface="Montserrat"/>
              </a:rPr>
              <a:t>Model training, scoring, and deployment at scale. K-means clustering, logistic regression for churn, hierarchical multiple regression for MMM. Weekly retraining cadence.</a:t>
            </a:r>
          </a:p>
        </p:txBody>
      </p:sp>
      <p:sp>
        <p:nvSpPr>
          <p:cNvPr name="TextBox 12" id="12"/>
          <p:cNvSpPr txBox="true"/>
          <p:nvPr/>
        </p:nvSpPr>
        <p:spPr>
          <a:xfrm rot="0">
            <a:off x="1028700" y="7470821"/>
            <a:ext cx="6239173" cy="438150"/>
          </a:xfrm>
          <a:prstGeom prst="rect">
            <a:avLst/>
          </a:prstGeom>
        </p:spPr>
        <p:txBody>
          <a:bodyPr anchor="t" rtlCol="false" tIns="0" lIns="0" bIns="0" rIns="0">
            <a:spAutoFit/>
          </a:bodyPr>
          <a:lstStyle/>
          <a:p>
            <a:pPr algn="l">
              <a:lnSpc>
                <a:spcPts val="3597"/>
              </a:lnSpc>
              <a:spcBef>
                <a:spcPct val="0"/>
              </a:spcBef>
            </a:pPr>
            <a:r>
              <a:rPr lang="en-US" b="true" sz="2997">
                <a:solidFill>
                  <a:srgbClr val="006241"/>
                </a:solidFill>
                <a:latin typeface="Montserrat Bold"/>
                <a:ea typeface="Montserrat Bold"/>
                <a:cs typeface="Montserrat Bold"/>
                <a:sym typeface="Montserrat Bold"/>
              </a:rPr>
              <a:t>05. VISUALISATION - </a:t>
            </a:r>
            <a:r>
              <a:rPr lang="en-US" b="true" sz="2997">
                <a:solidFill>
                  <a:srgbClr val="C8A14B"/>
                </a:solidFill>
                <a:latin typeface="Montserrat Bold"/>
                <a:ea typeface="Montserrat Bold"/>
                <a:cs typeface="Montserrat Bold"/>
                <a:sym typeface="Montserrat Bold"/>
              </a:rPr>
              <a:t>POWER BI</a:t>
            </a:r>
          </a:p>
        </p:txBody>
      </p:sp>
      <p:sp>
        <p:nvSpPr>
          <p:cNvPr name="TextBox 13" id="13"/>
          <p:cNvSpPr txBox="true"/>
          <p:nvPr/>
        </p:nvSpPr>
        <p:spPr>
          <a:xfrm rot="0">
            <a:off x="1028700" y="7975083"/>
            <a:ext cx="11874417" cy="533400"/>
          </a:xfrm>
          <a:prstGeom prst="rect">
            <a:avLst/>
          </a:prstGeom>
        </p:spPr>
        <p:txBody>
          <a:bodyPr anchor="t" rtlCol="false" tIns="0" lIns="0" bIns="0" rIns="0">
            <a:spAutoFit/>
          </a:bodyPr>
          <a:lstStyle/>
          <a:p>
            <a:pPr algn="l">
              <a:lnSpc>
                <a:spcPts val="2157"/>
              </a:lnSpc>
              <a:spcBef>
                <a:spcPct val="0"/>
              </a:spcBef>
            </a:pPr>
            <a:r>
              <a:rPr lang="en-US" sz="1797">
                <a:solidFill>
                  <a:srgbClr val="27251F"/>
                </a:solidFill>
                <a:latin typeface="Montserrat"/>
                <a:ea typeface="Montserrat"/>
                <a:cs typeface="Montserrat"/>
                <a:sym typeface="Montserrat"/>
              </a:rPr>
              <a:t>Live segment dashboards for the marketing team - segment views, churn flags, MMM allocation. Outputs feed campaign deployment via your existing marketing automation platform.</a:t>
            </a:r>
          </a:p>
        </p:txBody>
      </p:sp>
      <p:sp>
        <p:nvSpPr>
          <p:cNvPr name="TextBox 14" id="14"/>
          <p:cNvSpPr txBox="true"/>
          <p:nvPr/>
        </p:nvSpPr>
        <p:spPr>
          <a:xfrm rot="0">
            <a:off x="1028700" y="8860908"/>
            <a:ext cx="8515251" cy="438150"/>
          </a:xfrm>
          <a:prstGeom prst="rect">
            <a:avLst/>
          </a:prstGeom>
        </p:spPr>
        <p:txBody>
          <a:bodyPr anchor="t" rtlCol="false" tIns="0" lIns="0" bIns="0" rIns="0">
            <a:spAutoFit/>
          </a:bodyPr>
          <a:lstStyle/>
          <a:p>
            <a:pPr algn="l">
              <a:lnSpc>
                <a:spcPts val="3597"/>
              </a:lnSpc>
              <a:spcBef>
                <a:spcPct val="0"/>
              </a:spcBef>
            </a:pPr>
            <a:r>
              <a:rPr lang="en-US" b="true" sz="2997">
                <a:solidFill>
                  <a:srgbClr val="006241"/>
                </a:solidFill>
                <a:latin typeface="Montserrat Bold"/>
                <a:ea typeface="Montserrat Bold"/>
                <a:cs typeface="Montserrat Bold"/>
                <a:sym typeface="Montserrat Bold"/>
              </a:rPr>
              <a:t>06. GOVERNANCE  - </a:t>
            </a:r>
            <a:r>
              <a:rPr lang="en-US" b="true" sz="2997">
                <a:solidFill>
                  <a:srgbClr val="C8A14B"/>
                </a:solidFill>
                <a:latin typeface="Montserrat Bold"/>
                <a:ea typeface="Montserrat Bold"/>
                <a:cs typeface="Montserrat Bold"/>
                <a:sym typeface="Montserrat Bold"/>
              </a:rPr>
              <a:t>MICROSOFT PURVIEW</a:t>
            </a:r>
          </a:p>
        </p:txBody>
      </p:sp>
      <p:sp>
        <p:nvSpPr>
          <p:cNvPr name="TextBox 15" id="15"/>
          <p:cNvSpPr txBox="true"/>
          <p:nvPr/>
        </p:nvSpPr>
        <p:spPr>
          <a:xfrm rot="0">
            <a:off x="1028700" y="9365733"/>
            <a:ext cx="11874417" cy="266700"/>
          </a:xfrm>
          <a:prstGeom prst="rect">
            <a:avLst/>
          </a:prstGeom>
        </p:spPr>
        <p:txBody>
          <a:bodyPr anchor="t" rtlCol="false" tIns="0" lIns="0" bIns="0" rIns="0">
            <a:spAutoFit/>
          </a:bodyPr>
          <a:lstStyle/>
          <a:p>
            <a:pPr algn="l">
              <a:lnSpc>
                <a:spcPts val="2157"/>
              </a:lnSpc>
              <a:spcBef>
                <a:spcPct val="0"/>
              </a:spcBef>
            </a:pPr>
            <a:r>
              <a:rPr lang="en-US" sz="1797">
                <a:solidFill>
                  <a:srgbClr val="27251F"/>
                </a:solidFill>
                <a:latin typeface="Montserrat"/>
                <a:ea typeface="Montserrat"/>
                <a:cs typeface="Montserrat"/>
                <a:sym typeface="Montserrat"/>
              </a:rPr>
              <a:t>Data lineage, sensitivity labels, audit trails. Privacy by Design controls per Cavoukian (2009). </a:t>
            </a:r>
          </a:p>
        </p:txBody>
      </p:sp>
      <p:sp>
        <p:nvSpPr>
          <p:cNvPr name="TextBox 16" id="16"/>
          <p:cNvSpPr txBox="true"/>
          <p:nvPr/>
        </p:nvSpPr>
        <p:spPr>
          <a:xfrm rot="0">
            <a:off x="5936307" y="9946758"/>
            <a:ext cx="12116842" cy="240665"/>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Inter"/>
                <a:ea typeface="Inter"/>
                <a:cs typeface="Inter"/>
                <a:sym typeface="Inter"/>
              </a:rPr>
              <a:t>Smith, A., Lukinova, E., Harvey, J., Smith, G., Mansilla, R., Goulding, J. and Nica-Avram, G. Consumer Decision-Making, Analytics and AI. Routledge.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sp>
        <p:nvSpPr>
          <p:cNvPr name="Freeform 2" id="2"/>
          <p:cNvSpPr/>
          <p:nvPr/>
        </p:nvSpPr>
        <p:spPr>
          <a:xfrm flipH="false" flipV="false" rot="0">
            <a:off x="203432" y="1390650"/>
            <a:ext cx="17746791" cy="6757287"/>
          </a:xfrm>
          <a:custGeom>
            <a:avLst/>
            <a:gdLst/>
            <a:ahLst/>
            <a:cxnLst/>
            <a:rect r="r" b="b" t="t" l="l"/>
            <a:pathLst>
              <a:path h="6757287" w="17746791">
                <a:moveTo>
                  <a:pt x="0" y="0"/>
                </a:moveTo>
                <a:lnTo>
                  <a:pt x="17746790" y="0"/>
                </a:lnTo>
                <a:lnTo>
                  <a:pt x="17746790" y="6757287"/>
                </a:lnTo>
                <a:lnTo>
                  <a:pt x="0" y="6757287"/>
                </a:lnTo>
                <a:lnTo>
                  <a:pt x="0" y="0"/>
                </a:lnTo>
                <a:close/>
              </a:path>
            </a:pathLst>
          </a:custGeom>
          <a:blipFill>
            <a:blip r:embed="rId2"/>
            <a:stretch>
              <a:fillRect l="0" t="-6978" r="0" b="-262"/>
            </a:stretch>
          </a:blipFill>
        </p:spPr>
      </p:sp>
      <p:sp>
        <p:nvSpPr>
          <p:cNvPr name="TextBox 3" id="3"/>
          <p:cNvSpPr txBox="true"/>
          <p:nvPr/>
        </p:nvSpPr>
        <p:spPr>
          <a:xfrm rot="0">
            <a:off x="1028700" y="676275"/>
            <a:ext cx="6160691"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PROJECT TIMELINE</a:t>
            </a:r>
          </a:p>
        </p:txBody>
      </p:sp>
      <p:sp>
        <p:nvSpPr>
          <p:cNvPr name="Freeform 4" id="4"/>
          <p:cNvSpPr/>
          <p:nvPr/>
        </p:nvSpPr>
        <p:spPr>
          <a:xfrm flipH="false" flipV="false" rot="0">
            <a:off x="203432" y="8147937"/>
            <a:ext cx="17266129" cy="1365073"/>
          </a:xfrm>
          <a:custGeom>
            <a:avLst/>
            <a:gdLst/>
            <a:ahLst/>
            <a:cxnLst/>
            <a:rect r="r" b="b" t="t" l="l"/>
            <a:pathLst>
              <a:path h="1365073" w="17266129">
                <a:moveTo>
                  <a:pt x="0" y="0"/>
                </a:moveTo>
                <a:lnTo>
                  <a:pt x="17266129" y="0"/>
                </a:lnTo>
                <a:lnTo>
                  <a:pt x="17266129" y="1365073"/>
                </a:lnTo>
                <a:lnTo>
                  <a:pt x="0" y="1365073"/>
                </a:lnTo>
                <a:lnTo>
                  <a:pt x="0" y="0"/>
                </a:lnTo>
                <a:close/>
              </a:path>
            </a:pathLst>
          </a:custGeom>
          <a:blipFill>
            <a:blip r:embed="rId3"/>
            <a:stretch>
              <a:fillRect l="0" t="-610842" r="-8678" b="-7397"/>
            </a:stretch>
          </a:blipFill>
        </p:spPr>
      </p:sp>
      <p:sp>
        <p:nvSpPr>
          <p:cNvPr name="TextBox 5" id="5"/>
          <p:cNvSpPr txBox="true"/>
          <p:nvPr/>
        </p:nvSpPr>
        <p:spPr>
          <a:xfrm rot="0">
            <a:off x="11607912" y="9714241"/>
            <a:ext cx="6342311" cy="273685"/>
          </a:xfrm>
          <a:prstGeom prst="rect">
            <a:avLst/>
          </a:prstGeom>
        </p:spPr>
        <p:txBody>
          <a:bodyPr anchor="t" rtlCol="false" tIns="0" lIns="0" bIns="0" rIns="0">
            <a:spAutoFit/>
          </a:bodyPr>
          <a:lstStyle/>
          <a:p>
            <a:pPr algn="ctr">
              <a:lnSpc>
                <a:spcPts val="2240"/>
              </a:lnSpc>
              <a:spcBef>
                <a:spcPct val="0"/>
              </a:spcBef>
            </a:pPr>
            <a:r>
              <a:rPr lang="en-US" sz="1600">
                <a:solidFill>
                  <a:srgbClr val="1E3932"/>
                </a:solidFill>
                <a:latin typeface="Inter"/>
                <a:ea typeface="Inter"/>
                <a:cs typeface="Inter"/>
                <a:sym typeface="Inter"/>
              </a:rPr>
              <a:t>Wysocki, R.K. (2019) Effective Project Management. 8th edn. Wiley.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grpSp>
        <p:nvGrpSpPr>
          <p:cNvPr name="Group 2" id="2"/>
          <p:cNvGrpSpPr/>
          <p:nvPr/>
        </p:nvGrpSpPr>
        <p:grpSpPr>
          <a:xfrm rot="0">
            <a:off x="1543050" y="2617648"/>
            <a:ext cx="1886045" cy="1886037"/>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1696" t="-18039" r="-8595" b="-29107"/>
              </a:stretch>
            </a:blipFill>
          </p:spPr>
        </p:sp>
      </p:grpSp>
      <p:grpSp>
        <p:nvGrpSpPr>
          <p:cNvPr name="Group 4" id="4"/>
          <p:cNvGrpSpPr/>
          <p:nvPr/>
        </p:nvGrpSpPr>
        <p:grpSpPr>
          <a:xfrm rot="0">
            <a:off x="14858905" y="2590972"/>
            <a:ext cx="1886045" cy="1886037"/>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28571"/>
              </a:stretch>
            </a:blipFill>
          </p:spPr>
        </p:sp>
      </p:grpSp>
      <p:grpSp>
        <p:nvGrpSpPr>
          <p:cNvPr name="Group 6" id="6"/>
          <p:cNvGrpSpPr/>
          <p:nvPr/>
        </p:nvGrpSpPr>
        <p:grpSpPr>
          <a:xfrm rot="0">
            <a:off x="8200978" y="2617648"/>
            <a:ext cx="1886045" cy="1886037"/>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12500" r="0" b="-12500"/>
              </a:stretch>
            </a:blipFill>
          </p:spPr>
        </p:sp>
      </p:grpSp>
      <p:grpSp>
        <p:nvGrpSpPr>
          <p:cNvPr name="Group 8" id="8"/>
          <p:cNvGrpSpPr/>
          <p:nvPr/>
        </p:nvGrpSpPr>
        <p:grpSpPr>
          <a:xfrm rot="0">
            <a:off x="11525297" y="2617648"/>
            <a:ext cx="1886045" cy="1886037"/>
            <a:chOff x="0" y="0"/>
            <a:chExt cx="6350000" cy="6349975"/>
          </a:xfrm>
        </p:grpSpPr>
        <p:sp>
          <p:nvSpPr>
            <p:cNvPr name="Freeform 9" id="9"/>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0" t="0" r="0" b="0"/>
              </a:stretch>
            </a:blipFill>
          </p:spPr>
        </p:sp>
      </p:grpSp>
      <p:sp>
        <p:nvSpPr>
          <p:cNvPr name="TextBox 10" id="10"/>
          <p:cNvSpPr txBox="true"/>
          <p:nvPr/>
        </p:nvSpPr>
        <p:spPr>
          <a:xfrm rot="0">
            <a:off x="1031680" y="4911647"/>
            <a:ext cx="2672236" cy="843280"/>
          </a:xfrm>
          <a:prstGeom prst="rect">
            <a:avLst/>
          </a:prstGeom>
        </p:spPr>
        <p:txBody>
          <a:bodyPr anchor="t" rtlCol="false" tIns="0" lIns="0" bIns="0" rIns="0">
            <a:spAutoFit/>
          </a:bodyPr>
          <a:lstStyle/>
          <a:p>
            <a:pPr algn="ctr">
              <a:lnSpc>
                <a:spcPts val="3380"/>
              </a:lnSpc>
            </a:pPr>
            <a:r>
              <a:rPr lang="en-US" b="true" sz="2600">
                <a:solidFill>
                  <a:srgbClr val="006241"/>
                </a:solidFill>
                <a:latin typeface="Inter Bold"/>
                <a:ea typeface="Inter Bold"/>
                <a:cs typeface="Inter Bold"/>
                <a:sym typeface="Inter Bold"/>
              </a:rPr>
              <a:t>Vallabh Joshi</a:t>
            </a:r>
          </a:p>
          <a:p>
            <a:pPr algn="ctr">
              <a:lnSpc>
                <a:spcPts val="3380"/>
              </a:lnSpc>
            </a:pPr>
            <a:r>
              <a:rPr lang="en-US" b="true" sz="2600">
                <a:solidFill>
                  <a:srgbClr val="6B6B5E"/>
                </a:solidFill>
                <a:latin typeface="Inter Bold"/>
                <a:ea typeface="Inter Bold"/>
                <a:cs typeface="Inter Bold"/>
                <a:sym typeface="Inter Bold"/>
              </a:rPr>
              <a:t>Project Lead</a:t>
            </a:r>
          </a:p>
        </p:txBody>
      </p:sp>
      <p:sp>
        <p:nvSpPr>
          <p:cNvPr name="TextBox 11" id="11"/>
          <p:cNvSpPr txBox="true"/>
          <p:nvPr/>
        </p:nvSpPr>
        <p:spPr>
          <a:xfrm rot="0">
            <a:off x="4449856" y="4911647"/>
            <a:ext cx="2832470" cy="843280"/>
          </a:xfrm>
          <a:prstGeom prst="rect">
            <a:avLst/>
          </a:prstGeom>
        </p:spPr>
        <p:txBody>
          <a:bodyPr anchor="t" rtlCol="false" tIns="0" lIns="0" bIns="0" rIns="0">
            <a:spAutoFit/>
          </a:bodyPr>
          <a:lstStyle/>
          <a:p>
            <a:pPr algn="ctr">
              <a:lnSpc>
                <a:spcPts val="3380"/>
              </a:lnSpc>
            </a:pPr>
            <a:r>
              <a:rPr lang="en-US" b="true" sz="2600">
                <a:solidFill>
                  <a:srgbClr val="006241"/>
                </a:solidFill>
                <a:latin typeface="Inter Bold"/>
                <a:ea typeface="Inter Bold"/>
                <a:cs typeface="Inter Bold"/>
                <a:sym typeface="Inter Bold"/>
              </a:rPr>
              <a:t>Ashutosh Shinde</a:t>
            </a:r>
          </a:p>
          <a:p>
            <a:pPr algn="ctr">
              <a:lnSpc>
                <a:spcPts val="3380"/>
              </a:lnSpc>
            </a:pPr>
            <a:r>
              <a:rPr lang="en-US" b="true" sz="2600">
                <a:solidFill>
                  <a:srgbClr val="6B6B5E"/>
                </a:solidFill>
                <a:latin typeface="Inter Bold"/>
                <a:ea typeface="Inter Bold"/>
                <a:cs typeface="Inter Bold"/>
                <a:sym typeface="Inter Bold"/>
              </a:rPr>
              <a:t>Data Scientist</a:t>
            </a:r>
          </a:p>
        </p:txBody>
      </p:sp>
      <p:sp>
        <p:nvSpPr>
          <p:cNvPr name="TextBox 12" id="12"/>
          <p:cNvSpPr txBox="true"/>
          <p:nvPr/>
        </p:nvSpPr>
        <p:spPr>
          <a:xfrm rot="0">
            <a:off x="14587064" y="4911647"/>
            <a:ext cx="2672236" cy="843280"/>
          </a:xfrm>
          <a:prstGeom prst="rect">
            <a:avLst/>
          </a:prstGeom>
        </p:spPr>
        <p:txBody>
          <a:bodyPr anchor="t" rtlCol="false" tIns="0" lIns="0" bIns="0" rIns="0">
            <a:spAutoFit/>
          </a:bodyPr>
          <a:lstStyle/>
          <a:p>
            <a:pPr algn="ctr">
              <a:lnSpc>
                <a:spcPts val="3380"/>
              </a:lnSpc>
            </a:pPr>
            <a:r>
              <a:rPr lang="en-US" b="true" sz="2600">
                <a:solidFill>
                  <a:srgbClr val="006241"/>
                </a:solidFill>
                <a:latin typeface="Inter Bold"/>
                <a:ea typeface="Inter Bold"/>
                <a:cs typeface="Inter Bold"/>
                <a:sym typeface="Inter Bold"/>
              </a:rPr>
              <a:t>Noor Bhatti</a:t>
            </a:r>
          </a:p>
          <a:p>
            <a:pPr algn="ctr">
              <a:lnSpc>
                <a:spcPts val="3380"/>
              </a:lnSpc>
            </a:pPr>
            <a:r>
              <a:rPr lang="en-US" b="true" sz="2600">
                <a:solidFill>
                  <a:srgbClr val="6B6B5E"/>
                </a:solidFill>
                <a:latin typeface="Inter Bold"/>
                <a:ea typeface="Inter Bold"/>
                <a:cs typeface="Inter Bold"/>
                <a:sym typeface="Inter Bold"/>
              </a:rPr>
              <a:t>Industry Lead</a:t>
            </a:r>
          </a:p>
        </p:txBody>
      </p:sp>
      <p:sp>
        <p:nvSpPr>
          <p:cNvPr name="TextBox 13" id="13"/>
          <p:cNvSpPr txBox="true"/>
          <p:nvPr/>
        </p:nvSpPr>
        <p:spPr>
          <a:xfrm rot="0">
            <a:off x="7599578" y="4911647"/>
            <a:ext cx="3175055" cy="843280"/>
          </a:xfrm>
          <a:prstGeom prst="rect">
            <a:avLst/>
          </a:prstGeom>
        </p:spPr>
        <p:txBody>
          <a:bodyPr anchor="t" rtlCol="false" tIns="0" lIns="0" bIns="0" rIns="0">
            <a:spAutoFit/>
          </a:bodyPr>
          <a:lstStyle/>
          <a:p>
            <a:pPr algn="ctr">
              <a:lnSpc>
                <a:spcPts val="3380"/>
              </a:lnSpc>
            </a:pPr>
            <a:r>
              <a:rPr lang="en-US" b="true" sz="2600">
                <a:solidFill>
                  <a:srgbClr val="00633E"/>
                </a:solidFill>
                <a:latin typeface="Inter Bold"/>
                <a:ea typeface="Inter Bold"/>
                <a:cs typeface="Inter Bold"/>
                <a:sym typeface="Inter Bold"/>
              </a:rPr>
              <a:t>Shreyash Meshram</a:t>
            </a:r>
          </a:p>
          <a:p>
            <a:pPr algn="ctr">
              <a:lnSpc>
                <a:spcPts val="3380"/>
              </a:lnSpc>
            </a:pPr>
            <a:r>
              <a:rPr lang="en-US" b="true" sz="2600">
                <a:solidFill>
                  <a:srgbClr val="6B6B5E"/>
                </a:solidFill>
                <a:latin typeface="Inter Bold"/>
                <a:ea typeface="Inter Bold"/>
                <a:cs typeface="Inter Bold"/>
                <a:sym typeface="Inter Bold"/>
              </a:rPr>
              <a:t>Data Engineer</a:t>
            </a:r>
          </a:p>
        </p:txBody>
      </p:sp>
      <p:sp>
        <p:nvSpPr>
          <p:cNvPr name="TextBox 14" id="14"/>
          <p:cNvSpPr txBox="true"/>
          <p:nvPr/>
        </p:nvSpPr>
        <p:spPr>
          <a:xfrm rot="0">
            <a:off x="11047156" y="4911647"/>
            <a:ext cx="3165129" cy="1271905"/>
          </a:xfrm>
          <a:prstGeom prst="rect">
            <a:avLst/>
          </a:prstGeom>
        </p:spPr>
        <p:txBody>
          <a:bodyPr anchor="t" rtlCol="false" tIns="0" lIns="0" bIns="0" rIns="0">
            <a:spAutoFit/>
          </a:bodyPr>
          <a:lstStyle/>
          <a:p>
            <a:pPr algn="ctr">
              <a:lnSpc>
                <a:spcPts val="3380"/>
              </a:lnSpc>
            </a:pPr>
            <a:r>
              <a:rPr lang="en-US" b="true" sz="2600">
                <a:solidFill>
                  <a:srgbClr val="006241"/>
                </a:solidFill>
                <a:latin typeface="Inter Bold"/>
                <a:ea typeface="Inter Bold"/>
                <a:cs typeface="Inter Bold"/>
                <a:sym typeface="Inter Bold"/>
              </a:rPr>
              <a:t>Paras Yadav</a:t>
            </a:r>
          </a:p>
          <a:p>
            <a:pPr algn="ctr">
              <a:lnSpc>
                <a:spcPts val="3380"/>
              </a:lnSpc>
            </a:pPr>
            <a:r>
              <a:rPr lang="en-US" b="true" sz="2600">
                <a:solidFill>
                  <a:srgbClr val="6B6B5E"/>
                </a:solidFill>
                <a:latin typeface="Inter Bold"/>
                <a:ea typeface="Inter Bold"/>
                <a:cs typeface="Inter Bold"/>
                <a:sym typeface="Inter Bold"/>
              </a:rPr>
              <a:t>Senior Data Scientist</a:t>
            </a:r>
          </a:p>
        </p:txBody>
      </p:sp>
      <p:sp>
        <p:nvSpPr>
          <p:cNvPr name="TextBox 15" id="15"/>
          <p:cNvSpPr txBox="true"/>
          <p:nvPr/>
        </p:nvSpPr>
        <p:spPr>
          <a:xfrm rot="0">
            <a:off x="1028700" y="1085850"/>
            <a:ext cx="4173875" cy="670560"/>
          </a:xfrm>
          <a:prstGeom prst="rect">
            <a:avLst/>
          </a:prstGeom>
        </p:spPr>
        <p:txBody>
          <a:bodyPr anchor="t" rtlCol="false" tIns="0" lIns="0" bIns="0" rIns="0">
            <a:spAutoFit/>
          </a:bodyPr>
          <a:lstStyle/>
          <a:p>
            <a:pPr algn="l" marL="0" indent="0" lvl="0">
              <a:lnSpc>
                <a:spcPts val="5280"/>
              </a:lnSpc>
            </a:pPr>
            <a:r>
              <a:rPr lang="en-US" b="true" sz="4800" spc="-96">
                <a:solidFill>
                  <a:srgbClr val="1E3932"/>
                </a:solidFill>
                <a:latin typeface="Montserrat Bold"/>
                <a:ea typeface="Montserrat Bold"/>
                <a:cs typeface="Montserrat Bold"/>
                <a:sym typeface="Montserrat Bold"/>
              </a:rPr>
              <a:t>THE TEAM</a:t>
            </a:r>
          </a:p>
        </p:txBody>
      </p:sp>
      <p:grpSp>
        <p:nvGrpSpPr>
          <p:cNvPr name="Group 16" id="16"/>
          <p:cNvGrpSpPr/>
          <p:nvPr/>
        </p:nvGrpSpPr>
        <p:grpSpPr>
          <a:xfrm rot="0">
            <a:off x="4923069" y="2617648"/>
            <a:ext cx="1886045" cy="1886037"/>
            <a:chOff x="0" y="0"/>
            <a:chExt cx="6350000" cy="6349975"/>
          </a:xfrm>
        </p:grpSpPr>
        <p:sp>
          <p:nvSpPr>
            <p:cNvPr name="Freeform 17" id="1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0" t="-12500" r="0" b="-12500"/>
              </a:stretch>
            </a:blipFill>
          </p:spPr>
        </p:sp>
      </p:grpSp>
      <p:sp>
        <p:nvSpPr>
          <p:cNvPr name="TextBox 18" id="18"/>
          <p:cNvSpPr txBox="true"/>
          <p:nvPr/>
        </p:nvSpPr>
        <p:spPr>
          <a:xfrm rot="0">
            <a:off x="2459591" y="7325826"/>
            <a:ext cx="13455030" cy="1136650"/>
          </a:xfrm>
          <a:prstGeom prst="rect">
            <a:avLst/>
          </a:prstGeom>
        </p:spPr>
        <p:txBody>
          <a:bodyPr anchor="t" rtlCol="false" tIns="0" lIns="0" bIns="0" rIns="0">
            <a:spAutoFit/>
          </a:bodyPr>
          <a:lstStyle/>
          <a:p>
            <a:pPr algn="ctr">
              <a:lnSpc>
                <a:spcPts val="4549"/>
              </a:lnSpc>
              <a:spcBef>
                <a:spcPct val="0"/>
              </a:spcBef>
            </a:pPr>
            <a:r>
              <a:rPr lang="en-US" b="true" sz="3499">
                <a:solidFill>
                  <a:srgbClr val="000000"/>
                </a:solidFill>
                <a:latin typeface="Montserrat Bold"/>
                <a:ea typeface="Montserrat Bold"/>
                <a:cs typeface="Montserrat Bold"/>
                <a:sym typeface="Montserrat Bold"/>
              </a:rPr>
              <a:t>“T</a:t>
            </a:r>
            <a:r>
              <a:rPr lang="en-US" b="true" sz="3499">
                <a:solidFill>
                  <a:srgbClr val="000000"/>
                </a:solidFill>
                <a:latin typeface="Montserrat Bold"/>
                <a:ea typeface="Montserrat Bold"/>
                <a:cs typeface="Montserrat Bold"/>
                <a:sym typeface="Montserrat Bold"/>
              </a:rPr>
              <a:t>urning Data into Decisions, and Decisions into Growth.”</a:t>
            </a:r>
          </a:p>
          <a:p>
            <a:pPr algn="ctr">
              <a:lnSpc>
                <a:spcPts val="454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grpSp>
        <p:nvGrpSpPr>
          <p:cNvPr name="Group 2" id="2"/>
          <p:cNvGrpSpPr/>
          <p:nvPr/>
        </p:nvGrpSpPr>
        <p:grpSpPr>
          <a:xfrm rot="0">
            <a:off x="7154584" y="0"/>
            <a:ext cx="11133416" cy="3429000"/>
            <a:chOff x="0" y="0"/>
            <a:chExt cx="2639032" cy="812800"/>
          </a:xfrm>
        </p:grpSpPr>
        <p:sp>
          <p:nvSpPr>
            <p:cNvPr name="Freeform 3" id="3"/>
            <p:cNvSpPr/>
            <p:nvPr/>
          </p:nvSpPr>
          <p:spPr>
            <a:xfrm flipH="false" flipV="false" rot="0">
              <a:off x="0" y="0"/>
              <a:ext cx="2639032" cy="812800"/>
            </a:xfrm>
            <a:custGeom>
              <a:avLst/>
              <a:gdLst/>
              <a:ahLst/>
              <a:cxnLst/>
              <a:rect r="r" b="b" t="t" l="l"/>
              <a:pathLst>
                <a:path h="812800" w="2639032">
                  <a:moveTo>
                    <a:pt x="0" y="0"/>
                  </a:moveTo>
                  <a:lnTo>
                    <a:pt x="2639032" y="0"/>
                  </a:lnTo>
                  <a:lnTo>
                    <a:pt x="2639032" y="812800"/>
                  </a:lnTo>
                  <a:lnTo>
                    <a:pt x="0" y="812800"/>
                  </a:lnTo>
                  <a:close/>
                </a:path>
              </a:pathLst>
            </a:custGeom>
            <a:solidFill>
              <a:srgbClr val="006241"/>
            </a:solidFill>
          </p:spPr>
        </p:sp>
        <p:sp>
          <p:nvSpPr>
            <p:cNvPr name="TextBox 4" id="4"/>
            <p:cNvSpPr txBox="true"/>
            <p:nvPr/>
          </p:nvSpPr>
          <p:spPr>
            <a:xfrm>
              <a:off x="0" y="-38100"/>
              <a:ext cx="2639032"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154584" y="3429000"/>
            <a:ext cx="11133416" cy="3429000"/>
            <a:chOff x="0" y="0"/>
            <a:chExt cx="2639032" cy="812800"/>
          </a:xfrm>
        </p:grpSpPr>
        <p:sp>
          <p:nvSpPr>
            <p:cNvPr name="Freeform 6" id="6"/>
            <p:cNvSpPr/>
            <p:nvPr/>
          </p:nvSpPr>
          <p:spPr>
            <a:xfrm flipH="false" flipV="false" rot="0">
              <a:off x="0" y="0"/>
              <a:ext cx="2639032" cy="812800"/>
            </a:xfrm>
            <a:custGeom>
              <a:avLst/>
              <a:gdLst/>
              <a:ahLst/>
              <a:cxnLst/>
              <a:rect r="r" b="b" t="t" l="l"/>
              <a:pathLst>
                <a:path h="812800" w="2639032">
                  <a:moveTo>
                    <a:pt x="0" y="0"/>
                  </a:moveTo>
                  <a:lnTo>
                    <a:pt x="2639032" y="0"/>
                  </a:lnTo>
                  <a:lnTo>
                    <a:pt x="2639032" y="812800"/>
                  </a:lnTo>
                  <a:lnTo>
                    <a:pt x="0" y="812800"/>
                  </a:lnTo>
                  <a:close/>
                </a:path>
              </a:pathLst>
            </a:custGeom>
            <a:solidFill>
              <a:srgbClr val="C8A14B"/>
            </a:solidFill>
          </p:spPr>
        </p:sp>
        <p:sp>
          <p:nvSpPr>
            <p:cNvPr name="TextBox 7" id="7"/>
            <p:cNvSpPr txBox="true"/>
            <p:nvPr/>
          </p:nvSpPr>
          <p:spPr>
            <a:xfrm>
              <a:off x="0" y="-38100"/>
              <a:ext cx="2639032"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154584" y="6858000"/>
            <a:ext cx="11133416" cy="3429000"/>
            <a:chOff x="0" y="0"/>
            <a:chExt cx="2639032" cy="812800"/>
          </a:xfrm>
        </p:grpSpPr>
        <p:sp>
          <p:nvSpPr>
            <p:cNvPr name="Freeform 9" id="9"/>
            <p:cNvSpPr/>
            <p:nvPr/>
          </p:nvSpPr>
          <p:spPr>
            <a:xfrm flipH="false" flipV="false" rot="0">
              <a:off x="0" y="0"/>
              <a:ext cx="2639032" cy="812800"/>
            </a:xfrm>
            <a:custGeom>
              <a:avLst/>
              <a:gdLst/>
              <a:ahLst/>
              <a:cxnLst/>
              <a:rect r="r" b="b" t="t" l="l"/>
              <a:pathLst>
                <a:path h="812800" w="2639032">
                  <a:moveTo>
                    <a:pt x="0" y="0"/>
                  </a:moveTo>
                  <a:lnTo>
                    <a:pt x="2639032" y="0"/>
                  </a:lnTo>
                  <a:lnTo>
                    <a:pt x="2639032" y="812800"/>
                  </a:lnTo>
                  <a:lnTo>
                    <a:pt x="0" y="812800"/>
                  </a:lnTo>
                  <a:close/>
                </a:path>
              </a:pathLst>
            </a:custGeom>
            <a:solidFill>
              <a:srgbClr val="006241"/>
            </a:solidFill>
          </p:spPr>
        </p:sp>
        <p:sp>
          <p:nvSpPr>
            <p:cNvPr name="TextBox 10" id="10"/>
            <p:cNvSpPr txBox="true"/>
            <p:nvPr/>
          </p:nvSpPr>
          <p:spPr>
            <a:xfrm>
              <a:off x="0" y="-38100"/>
              <a:ext cx="2639032"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7570217" y="476859"/>
            <a:ext cx="599449" cy="819759"/>
          </a:xfrm>
          <a:custGeom>
            <a:avLst/>
            <a:gdLst/>
            <a:ahLst/>
            <a:cxnLst/>
            <a:rect r="r" b="b" t="t" l="l"/>
            <a:pathLst>
              <a:path h="819759" w="599449">
                <a:moveTo>
                  <a:pt x="0" y="0"/>
                </a:moveTo>
                <a:lnTo>
                  <a:pt x="599449" y="0"/>
                </a:lnTo>
                <a:lnTo>
                  <a:pt x="599449" y="819760"/>
                </a:lnTo>
                <a:lnTo>
                  <a:pt x="0" y="819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7570217" y="3789210"/>
            <a:ext cx="796191" cy="819759"/>
          </a:xfrm>
          <a:custGeom>
            <a:avLst/>
            <a:gdLst/>
            <a:ahLst/>
            <a:cxnLst/>
            <a:rect r="r" b="b" t="t" l="l"/>
            <a:pathLst>
              <a:path h="819759" w="796191">
                <a:moveTo>
                  <a:pt x="0" y="0"/>
                </a:moveTo>
                <a:lnTo>
                  <a:pt x="796191" y="0"/>
                </a:lnTo>
                <a:lnTo>
                  <a:pt x="796191" y="819759"/>
                </a:lnTo>
                <a:lnTo>
                  <a:pt x="0" y="819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570217" y="7408145"/>
            <a:ext cx="777964" cy="795871"/>
          </a:xfrm>
          <a:custGeom>
            <a:avLst/>
            <a:gdLst/>
            <a:ahLst/>
            <a:cxnLst/>
            <a:rect r="r" b="b" t="t" l="l"/>
            <a:pathLst>
              <a:path h="795871" w="777964">
                <a:moveTo>
                  <a:pt x="0" y="0"/>
                </a:moveTo>
                <a:lnTo>
                  <a:pt x="777964" y="0"/>
                </a:lnTo>
                <a:lnTo>
                  <a:pt x="777964" y="795871"/>
                </a:lnTo>
                <a:lnTo>
                  <a:pt x="0" y="795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577785" y="3239796"/>
            <a:ext cx="4569142" cy="6858000"/>
          </a:xfrm>
          <a:custGeom>
            <a:avLst/>
            <a:gdLst/>
            <a:ahLst/>
            <a:cxnLst/>
            <a:rect r="r" b="b" t="t" l="l"/>
            <a:pathLst>
              <a:path h="6858000" w="4569142">
                <a:moveTo>
                  <a:pt x="0" y="0"/>
                </a:moveTo>
                <a:lnTo>
                  <a:pt x="4569143" y="0"/>
                </a:lnTo>
                <a:lnTo>
                  <a:pt x="4569143" y="6858000"/>
                </a:lnTo>
                <a:lnTo>
                  <a:pt x="0" y="6858000"/>
                </a:lnTo>
                <a:lnTo>
                  <a:pt x="0" y="0"/>
                </a:lnTo>
                <a:close/>
              </a:path>
            </a:pathLst>
          </a:custGeom>
          <a:blipFill>
            <a:blip r:embed="rId8"/>
            <a:stretch>
              <a:fillRect l="0" t="0" r="0" b="0"/>
            </a:stretch>
          </a:blipFill>
        </p:spPr>
      </p:sp>
      <p:sp>
        <p:nvSpPr>
          <p:cNvPr name="TextBox 15" id="15"/>
          <p:cNvSpPr txBox="true"/>
          <p:nvPr/>
        </p:nvSpPr>
        <p:spPr>
          <a:xfrm rot="0">
            <a:off x="1028700" y="676275"/>
            <a:ext cx="4615208" cy="14382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ETHICS &amp; PRIVACY</a:t>
            </a:r>
          </a:p>
        </p:txBody>
      </p:sp>
      <p:sp>
        <p:nvSpPr>
          <p:cNvPr name="TextBox 16" id="16"/>
          <p:cNvSpPr txBox="true"/>
          <p:nvPr/>
        </p:nvSpPr>
        <p:spPr>
          <a:xfrm rot="0">
            <a:off x="8437354" y="429234"/>
            <a:ext cx="5969920" cy="471805"/>
          </a:xfrm>
          <a:prstGeom prst="rect">
            <a:avLst/>
          </a:prstGeom>
        </p:spPr>
        <p:txBody>
          <a:bodyPr anchor="t" rtlCol="false" tIns="0" lIns="0" bIns="0" rIns="0">
            <a:spAutoFit/>
          </a:bodyPr>
          <a:lstStyle/>
          <a:p>
            <a:pPr algn="l">
              <a:lnSpc>
                <a:spcPts val="3919"/>
              </a:lnSpc>
            </a:pPr>
            <a:r>
              <a:rPr lang="en-US" sz="2799" b="true">
                <a:solidFill>
                  <a:srgbClr val="FFFFFF"/>
                </a:solidFill>
                <a:latin typeface="Montserrat Bold"/>
                <a:ea typeface="Montserrat Bold"/>
                <a:cs typeface="Montserrat Bold"/>
                <a:sym typeface="Montserrat Bold"/>
              </a:rPr>
              <a:t> PRIVACY</a:t>
            </a:r>
          </a:p>
        </p:txBody>
      </p:sp>
      <p:sp>
        <p:nvSpPr>
          <p:cNvPr name="TextBox 17" id="17"/>
          <p:cNvSpPr txBox="true"/>
          <p:nvPr/>
        </p:nvSpPr>
        <p:spPr>
          <a:xfrm rot="0">
            <a:off x="8523079" y="1463345"/>
            <a:ext cx="9003837" cy="1726566"/>
          </a:xfrm>
          <a:prstGeom prst="rect">
            <a:avLst/>
          </a:prstGeom>
        </p:spPr>
        <p:txBody>
          <a:bodyPr anchor="t" rtlCol="false" tIns="0" lIns="0" bIns="0" rIns="0">
            <a:spAutoFit/>
          </a:bodyPr>
          <a:lstStyle/>
          <a:p>
            <a:pPr algn="l">
              <a:lnSpc>
                <a:spcPts val="3519"/>
              </a:lnSpc>
            </a:pPr>
            <a:r>
              <a:rPr lang="en-US" sz="2199">
                <a:solidFill>
                  <a:srgbClr val="EEF2F5"/>
                </a:solidFill>
                <a:latin typeface="Montserrat"/>
                <a:ea typeface="Montserrat"/>
                <a:cs typeface="Montserrat"/>
                <a:sym typeface="Montserrat"/>
              </a:rPr>
              <a:t>Lawful basis documented per data category</a:t>
            </a:r>
          </a:p>
          <a:p>
            <a:pPr algn="l">
              <a:lnSpc>
                <a:spcPts val="3519"/>
              </a:lnSpc>
            </a:pPr>
            <a:r>
              <a:rPr lang="en-US" sz="2199">
                <a:solidFill>
                  <a:srgbClr val="EEF2F5"/>
                </a:solidFill>
                <a:latin typeface="Montserrat"/>
                <a:ea typeface="Montserrat"/>
                <a:cs typeface="Montserrat"/>
                <a:sym typeface="Montserrat"/>
              </a:rPr>
              <a:t>Purpose limitation: data used only for stated objectives</a:t>
            </a:r>
          </a:p>
          <a:p>
            <a:pPr algn="l">
              <a:lnSpc>
                <a:spcPts val="3519"/>
              </a:lnSpc>
            </a:pPr>
            <a:r>
              <a:rPr lang="en-US" sz="2199">
                <a:solidFill>
                  <a:srgbClr val="EEF2F5"/>
                </a:solidFill>
                <a:latin typeface="Montserrat"/>
                <a:ea typeface="Montserrat"/>
                <a:cs typeface="Montserrat"/>
                <a:sym typeface="Montserrat"/>
              </a:rPr>
              <a:t>Data minimisation across model inputs</a:t>
            </a:r>
          </a:p>
          <a:p>
            <a:pPr algn="l">
              <a:lnSpc>
                <a:spcPts val="3519"/>
              </a:lnSpc>
            </a:pPr>
            <a:r>
              <a:rPr lang="en-US" sz="2199">
                <a:solidFill>
                  <a:srgbClr val="EEF2F5"/>
                </a:solidFill>
                <a:latin typeface="Montserrat"/>
                <a:ea typeface="Montserrat"/>
                <a:cs typeface="Montserrat"/>
                <a:sym typeface="Montserrat"/>
              </a:rPr>
              <a:t>Member opt-out one tap away in app</a:t>
            </a:r>
          </a:p>
        </p:txBody>
      </p:sp>
      <p:sp>
        <p:nvSpPr>
          <p:cNvPr name="TextBox 18" id="18"/>
          <p:cNvSpPr txBox="true"/>
          <p:nvPr/>
        </p:nvSpPr>
        <p:spPr>
          <a:xfrm rot="0">
            <a:off x="8593332" y="3858234"/>
            <a:ext cx="5969920" cy="471805"/>
          </a:xfrm>
          <a:prstGeom prst="rect">
            <a:avLst/>
          </a:prstGeom>
        </p:spPr>
        <p:txBody>
          <a:bodyPr anchor="t" rtlCol="false" tIns="0" lIns="0" bIns="0" rIns="0">
            <a:spAutoFit/>
          </a:bodyPr>
          <a:lstStyle/>
          <a:p>
            <a:pPr algn="l">
              <a:lnSpc>
                <a:spcPts val="3919"/>
              </a:lnSpc>
            </a:pPr>
            <a:r>
              <a:rPr lang="en-US" sz="2799" b="true">
                <a:solidFill>
                  <a:srgbClr val="27251F"/>
                </a:solidFill>
                <a:latin typeface="Montserrat Bold"/>
                <a:ea typeface="Montserrat Bold"/>
                <a:cs typeface="Montserrat Bold"/>
                <a:sym typeface="Montserrat Bold"/>
              </a:rPr>
              <a:t>FAIRNESS</a:t>
            </a:r>
          </a:p>
        </p:txBody>
      </p:sp>
      <p:sp>
        <p:nvSpPr>
          <p:cNvPr name="TextBox 19" id="19"/>
          <p:cNvSpPr txBox="true"/>
          <p:nvPr/>
        </p:nvSpPr>
        <p:spPr>
          <a:xfrm rot="0">
            <a:off x="8633247" y="4834395"/>
            <a:ext cx="8665968" cy="1726566"/>
          </a:xfrm>
          <a:prstGeom prst="rect">
            <a:avLst/>
          </a:prstGeom>
        </p:spPr>
        <p:txBody>
          <a:bodyPr anchor="t" rtlCol="false" tIns="0" lIns="0" bIns="0" rIns="0">
            <a:spAutoFit/>
          </a:bodyPr>
          <a:lstStyle/>
          <a:p>
            <a:pPr algn="l">
              <a:lnSpc>
                <a:spcPts val="3519"/>
              </a:lnSpc>
            </a:pPr>
            <a:r>
              <a:rPr lang="en-US" sz="2199">
                <a:solidFill>
                  <a:srgbClr val="27251F"/>
                </a:solidFill>
                <a:latin typeface="Montserrat"/>
                <a:ea typeface="Montserrat"/>
                <a:cs typeface="Montserrat"/>
                <a:sym typeface="Montserrat"/>
              </a:rPr>
              <a:t>Fairness audits across age, postcode, gender, tenure</a:t>
            </a:r>
          </a:p>
          <a:p>
            <a:pPr algn="l">
              <a:lnSpc>
                <a:spcPts val="3519"/>
              </a:lnSpc>
            </a:pPr>
            <a:r>
              <a:rPr lang="en-US" sz="2199">
                <a:solidFill>
                  <a:srgbClr val="27251F"/>
                </a:solidFill>
                <a:latin typeface="Montserrat"/>
                <a:ea typeface="Montserrat"/>
                <a:cs typeface="Montserrat"/>
                <a:sym typeface="Montserrat"/>
              </a:rPr>
              <a:t>Logistic regression for GDPR Article 22 compliance</a:t>
            </a:r>
          </a:p>
          <a:p>
            <a:pPr algn="l">
              <a:lnSpc>
                <a:spcPts val="3519"/>
              </a:lnSpc>
            </a:pPr>
            <a:r>
              <a:rPr lang="en-US" sz="2199">
                <a:solidFill>
                  <a:srgbClr val="27251F"/>
                </a:solidFill>
                <a:latin typeface="Montserrat"/>
                <a:ea typeface="Montserrat"/>
                <a:cs typeface="Montserrat"/>
                <a:sym typeface="Montserrat"/>
              </a:rPr>
              <a:t>Human-in-the-loop before retention spend triggers</a:t>
            </a:r>
          </a:p>
          <a:p>
            <a:pPr algn="l">
              <a:lnSpc>
                <a:spcPts val="3519"/>
              </a:lnSpc>
            </a:pPr>
            <a:r>
              <a:rPr lang="en-US" sz="2199">
                <a:solidFill>
                  <a:srgbClr val="27251F"/>
                </a:solidFill>
                <a:latin typeface="Montserrat"/>
                <a:ea typeface="Montserrat"/>
                <a:cs typeface="Montserrat"/>
                <a:sym typeface="Montserrat"/>
              </a:rPr>
              <a:t>No features that proxy sensitive attributes</a:t>
            </a:r>
          </a:p>
        </p:txBody>
      </p:sp>
      <p:sp>
        <p:nvSpPr>
          <p:cNvPr name="TextBox 20" id="20"/>
          <p:cNvSpPr txBox="true"/>
          <p:nvPr/>
        </p:nvSpPr>
        <p:spPr>
          <a:xfrm rot="0">
            <a:off x="8633247" y="7334276"/>
            <a:ext cx="5969920" cy="471805"/>
          </a:xfrm>
          <a:prstGeom prst="rect">
            <a:avLst/>
          </a:prstGeom>
        </p:spPr>
        <p:txBody>
          <a:bodyPr anchor="t" rtlCol="false" tIns="0" lIns="0" bIns="0" rIns="0">
            <a:spAutoFit/>
          </a:bodyPr>
          <a:lstStyle/>
          <a:p>
            <a:pPr algn="l">
              <a:lnSpc>
                <a:spcPts val="3919"/>
              </a:lnSpc>
            </a:pPr>
            <a:r>
              <a:rPr lang="en-US" sz="2799" b="true">
                <a:solidFill>
                  <a:srgbClr val="FFFFFF"/>
                </a:solidFill>
                <a:latin typeface="Montserrat Bold"/>
                <a:ea typeface="Montserrat Bold"/>
                <a:cs typeface="Montserrat Bold"/>
                <a:sym typeface="Montserrat Bold"/>
              </a:rPr>
              <a:t>GOVERNANCE</a:t>
            </a:r>
          </a:p>
        </p:txBody>
      </p:sp>
      <p:sp>
        <p:nvSpPr>
          <p:cNvPr name="TextBox 21" id="21"/>
          <p:cNvSpPr txBox="true"/>
          <p:nvPr/>
        </p:nvSpPr>
        <p:spPr>
          <a:xfrm rot="0">
            <a:off x="8633247" y="8371231"/>
            <a:ext cx="7909390" cy="1726566"/>
          </a:xfrm>
          <a:prstGeom prst="rect">
            <a:avLst/>
          </a:prstGeom>
        </p:spPr>
        <p:txBody>
          <a:bodyPr anchor="t" rtlCol="false" tIns="0" lIns="0" bIns="0" rIns="0">
            <a:spAutoFit/>
          </a:bodyPr>
          <a:lstStyle/>
          <a:p>
            <a:pPr algn="l">
              <a:lnSpc>
                <a:spcPts val="3519"/>
              </a:lnSpc>
            </a:pPr>
            <a:r>
              <a:rPr lang="en-US" sz="2199">
                <a:solidFill>
                  <a:srgbClr val="EEF2F5"/>
                </a:solidFill>
                <a:latin typeface="Montserrat"/>
                <a:ea typeface="Montserrat"/>
                <a:cs typeface="Montserrat"/>
                <a:sym typeface="Montserrat"/>
              </a:rPr>
              <a:t>Microsoft Purview sensitivity labels and audit trails</a:t>
            </a:r>
          </a:p>
          <a:p>
            <a:pPr algn="l">
              <a:lnSpc>
                <a:spcPts val="3519"/>
              </a:lnSpc>
            </a:pPr>
            <a:r>
              <a:rPr lang="en-US" sz="2199">
                <a:solidFill>
                  <a:srgbClr val="EEF2F5"/>
                </a:solidFill>
                <a:latin typeface="Montserrat"/>
                <a:ea typeface="Montserrat"/>
                <a:cs typeface="Montserrat"/>
                <a:sym typeface="Montserrat"/>
              </a:rPr>
              <a:t>Consent management at the ingestion layer</a:t>
            </a:r>
          </a:p>
          <a:p>
            <a:pPr algn="l">
              <a:lnSpc>
                <a:spcPts val="3519"/>
              </a:lnSpc>
            </a:pPr>
            <a:r>
              <a:rPr lang="en-US" sz="2199">
                <a:solidFill>
                  <a:srgbClr val="EEF2F5"/>
                </a:solidFill>
                <a:latin typeface="Montserrat"/>
                <a:ea typeface="Montserrat"/>
                <a:cs typeface="Montserrat"/>
                <a:sym typeface="Montserrat"/>
              </a:rPr>
              <a:t>Quarterly ethics review with Privacy &amp; Compliance</a:t>
            </a:r>
          </a:p>
          <a:p>
            <a:pPr algn="l">
              <a:lnSpc>
                <a:spcPts val="3519"/>
              </a:lnSpc>
            </a:pPr>
            <a:r>
              <a:rPr lang="en-US" sz="2199">
                <a:solidFill>
                  <a:srgbClr val="EEF2F5"/>
                </a:solidFill>
                <a:latin typeface="Montserrat"/>
                <a:ea typeface="Montserrat"/>
                <a:cs typeface="Montserrat"/>
                <a:sym typeface="Montserrat"/>
              </a:rPr>
              <a:t>Sensitivity-driven feature engineering</a:t>
            </a:r>
          </a:p>
        </p:txBody>
      </p:sp>
      <p:sp>
        <p:nvSpPr>
          <p:cNvPr name="TextBox 22" id="22"/>
          <p:cNvSpPr txBox="true"/>
          <p:nvPr/>
        </p:nvSpPr>
        <p:spPr>
          <a:xfrm rot="0">
            <a:off x="8523079" y="1025525"/>
            <a:ext cx="8176563" cy="365125"/>
          </a:xfrm>
          <a:prstGeom prst="rect">
            <a:avLst/>
          </a:prstGeom>
        </p:spPr>
        <p:txBody>
          <a:bodyPr anchor="t" rtlCol="false" tIns="0" lIns="0" bIns="0" rIns="0">
            <a:spAutoFit/>
          </a:bodyPr>
          <a:lstStyle/>
          <a:p>
            <a:pPr algn="l">
              <a:lnSpc>
                <a:spcPts val="3199"/>
              </a:lnSpc>
            </a:pPr>
            <a:r>
              <a:rPr lang="en-US" sz="1999">
                <a:solidFill>
                  <a:srgbClr val="C8A14B"/>
                </a:solidFill>
                <a:latin typeface="Montserrat"/>
                <a:ea typeface="Montserrat"/>
                <a:cs typeface="Montserrat"/>
                <a:sym typeface="Montserrat"/>
              </a:rPr>
              <a:t>Per Cavoukian (2009)</a:t>
            </a:r>
          </a:p>
        </p:txBody>
      </p:sp>
      <p:sp>
        <p:nvSpPr>
          <p:cNvPr name="TextBox 23" id="23"/>
          <p:cNvSpPr txBox="true"/>
          <p:nvPr/>
        </p:nvSpPr>
        <p:spPr>
          <a:xfrm rot="0">
            <a:off x="8593332" y="4393069"/>
            <a:ext cx="8176563" cy="365125"/>
          </a:xfrm>
          <a:prstGeom prst="rect">
            <a:avLst/>
          </a:prstGeom>
        </p:spPr>
        <p:txBody>
          <a:bodyPr anchor="t" rtlCol="false" tIns="0" lIns="0" bIns="0" rIns="0">
            <a:spAutoFit/>
          </a:bodyPr>
          <a:lstStyle/>
          <a:p>
            <a:pPr algn="l">
              <a:lnSpc>
                <a:spcPts val="3199"/>
              </a:lnSpc>
            </a:pPr>
            <a:r>
              <a:rPr lang="en-US" sz="1999">
                <a:solidFill>
                  <a:srgbClr val="6B6B5E"/>
                </a:solidFill>
                <a:latin typeface="Montserrat"/>
                <a:ea typeface="Montserrat"/>
                <a:cs typeface="Montserrat"/>
                <a:sym typeface="Montserrat"/>
              </a:rPr>
              <a:t>Per FAccT principles</a:t>
            </a:r>
          </a:p>
        </p:txBody>
      </p:sp>
      <p:sp>
        <p:nvSpPr>
          <p:cNvPr name="TextBox 24" id="24"/>
          <p:cNvSpPr txBox="true"/>
          <p:nvPr/>
        </p:nvSpPr>
        <p:spPr>
          <a:xfrm rot="0">
            <a:off x="8593332" y="7901331"/>
            <a:ext cx="8176563" cy="365125"/>
          </a:xfrm>
          <a:prstGeom prst="rect">
            <a:avLst/>
          </a:prstGeom>
        </p:spPr>
        <p:txBody>
          <a:bodyPr anchor="t" rtlCol="false" tIns="0" lIns="0" bIns="0" rIns="0">
            <a:spAutoFit/>
          </a:bodyPr>
          <a:lstStyle/>
          <a:p>
            <a:pPr algn="l">
              <a:lnSpc>
                <a:spcPts val="3199"/>
              </a:lnSpc>
            </a:pPr>
            <a:r>
              <a:rPr lang="en-US" sz="1999">
                <a:solidFill>
                  <a:srgbClr val="C8A14B"/>
                </a:solidFill>
                <a:latin typeface="Montserrat"/>
                <a:ea typeface="Montserrat"/>
                <a:cs typeface="Montserrat"/>
                <a:sym typeface="Montserrat"/>
              </a:rPr>
              <a:t> Per CNIL Deliberation</a:t>
            </a:r>
          </a:p>
        </p:txBody>
      </p:sp>
      <p:sp>
        <p:nvSpPr>
          <p:cNvPr name="TextBox 25" id="25"/>
          <p:cNvSpPr txBox="true"/>
          <p:nvPr/>
        </p:nvSpPr>
        <p:spPr>
          <a:xfrm rot="0">
            <a:off x="334965" y="9736557"/>
            <a:ext cx="6332175" cy="361239"/>
          </a:xfrm>
          <a:prstGeom prst="rect">
            <a:avLst/>
          </a:prstGeom>
        </p:spPr>
        <p:txBody>
          <a:bodyPr anchor="t" rtlCol="false" tIns="0" lIns="0" bIns="0" rIns="0">
            <a:spAutoFit/>
          </a:bodyPr>
          <a:lstStyle/>
          <a:p>
            <a:pPr algn="ctr">
              <a:lnSpc>
                <a:spcPts val="1410"/>
              </a:lnSpc>
              <a:spcBef>
                <a:spcPct val="0"/>
              </a:spcBef>
            </a:pPr>
            <a:r>
              <a:rPr lang="en-US" sz="1007">
                <a:solidFill>
                  <a:srgbClr val="000000"/>
                </a:solidFill>
                <a:latin typeface="Inter"/>
                <a:ea typeface="Inter"/>
                <a:cs typeface="Inter"/>
                <a:sym typeface="Inter"/>
              </a:rPr>
              <a:t>Cavoukian, A. (2009) Privacy by Design: The 7 Foundational Principles. IPC Ontario. (already in your script)</a:t>
            </a:r>
          </a:p>
          <a:p>
            <a:pPr algn="ctr">
              <a:lnSpc>
                <a:spcPts val="1410"/>
              </a:lnSpc>
              <a:spcBef>
                <a:spcPct val="0"/>
              </a:spcBef>
            </a:pPr>
            <a:r>
              <a:rPr lang="en-US" sz="1007">
                <a:solidFill>
                  <a:srgbClr val="000000"/>
                </a:solidFill>
                <a:latin typeface="Inter"/>
                <a:ea typeface="Inter"/>
                <a:cs typeface="Inter"/>
                <a:sym typeface="Inter"/>
              </a:rPr>
              <a:t> Barocas, S., Hardt, M. and Narayanan, A. (2023) Fairness and Machine Learning. MIT Press.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F0EB"/>
        </a:solidFill>
      </p:bgPr>
    </p:bg>
    <p:spTree>
      <p:nvGrpSpPr>
        <p:cNvPr id="1" name=""/>
        <p:cNvGrpSpPr/>
        <p:nvPr/>
      </p:nvGrpSpPr>
      <p:grpSpPr>
        <a:xfrm>
          <a:off x="0" y="0"/>
          <a:ext cx="0" cy="0"/>
          <a:chOff x="0" y="0"/>
          <a:chExt cx="0" cy="0"/>
        </a:xfrm>
      </p:grpSpPr>
      <p:grpSp>
        <p:nvGrpSpPr>
          <p:cNvPr name="Group 2" id="2"/>
          <p:cNvGrpSpPr/>
          <p:nvPr/>
        </p:nvGrpSpPr>
        <p:grpSpPr>
          <a:xfrm rot="0">
            <a:off x="0" y="6264679"/>
            <a:ext cx="18288000" cy="4022321"/>
            <a:chOff x="0" y="0"/>
            <a:chExt cx="4816593" cy="1059377"/>
          </a:xfrm>
        </p:grpSpPr>
        <p:sp>
          <p:nvSpPr>
            <p:cNvPr name="Freeform 3" id="3"/>
            <p:cNvSpPr/>
            <p:nvPr/>
          </p:nvSpPr>
          <p:spPr>
            <a:xfrm flipH="false" flipV="false" rot="0">
              <a:off x="0" y="0"/>
              <a:ext cx="4816592" cy="1059377"/>
            </a:xfrm>
            <a:custGeom>
              <a:avLst/>
              <a:gdLst/>
              <a:ahLst/>
              <a:cxnLst/>
              <a:rect r="r" b="b" t="t" l="l"/>
              <a:pathLst>
                <a:path h="1059377" w="4816592">
                  <a:moveTo>
                    <a:pt x="0" y="0"/>
                  </a:moveTo>
                  <a:lnTo>
                    <a:pt x="4816592" y="0"/>
                  </a:lnTo>
                  <a:lnTo>
                    <a:pt x="4816592" y="1059377"/>
                  </a:lnTo>
                  <a:lnTo>
                    <a:pt x="0" y="1059377"/>
                  </a:lnTo>
                  <a:close/>
                </a:path>
              </a:pathLst>
            </a:custGeom>
            <a:solidFill>
              <a:srgbClr val="006241"/>
            </a:solidFill>
          </p:spPr>
        </p:sp>
        <p:sp>
          <p:nvSpPr>
            <p:cNvPr name="TextBox 4" id="4"/>
            <p:cNvSpPr txBox="true"/>
            <p:nvPr/>
          </p:nvSpPr>
          <p:spPr>
            <a:xfrm>
              <a:off x="0" y="-28575"/>
              <a:ext cx="4816593" cy="1087952"/>
            </a:xfrm>
            <a:prstGeom prst="rect">
              <a:avLst/>
            </a:prstGeom>
          </p:spPr>
          <p:txBody>
            <a:bodyPr anchor="ctr" rtlCol="false" tIns="50800" lIns="50800" bIns="50800" rIns="50800"/>
            <a:lstStyle/>
            <a:p>
              <a:pPr algn="ctr">
                <a:lnSpc>
                  <a:spcPts val="2513"/>
                </a:lnSpc>
              </a:pPr>
            </a:p>
          </p:txBody>
        </p:sp>
      </p:grpSp>
      <p:sp>
        <p:nvSpPr>
          <p:cNvPr name="Freeform 5" id="5"/>
          <p:cNvSpPr/>
          <p:nvPr/>
        </p:nvSpPr>
        <p:spPr>
          <a:xfrm flipH="false" flipV="false" rot="0">
            <a:off x="8296485" y="0"/>
            <a:ext cx="10182321" cy="10182321"/>
          </a:xfrm>
          <a:custGeom>
            <a:avLst/>
            <a:gdLst/>
            <a:ahLst/>
            <a:cxnLst/>
            <a:rect r="r" b="b" t="t" l="l"/>
            <a:pathLst>
              <a:path h="10182321" w="10182321">
                <a:moveTo>
                  <a:pt x="0" y="0"/>
                </a:moveTo>
                <a:lnTo>
                  <a:pt x="10182320" y="0"/>
                </a:lnTo>
                <a:lnTo>
                  <a:pt x="10182320" y="10182321"/>
                </a:lnTo>
                <a:lnTo>
                  <a:pt x="0" y="10182321"/>
                </a:lnTo>
                <a:lnTo>
                  <a:pt x="0" y="0"/>
                </a:lnTo>
                <a:close/>
              </a:path>
            </a:pathLst>
          </a:custGeom>
          <a:blipFill>
            <a:blip r:embed="rId2"/>
            <a:stretch>
              <a:fillRect l="0" t="0" r="0" b="0"/>
            </a:stretch>
          </a:blipFill>
        </p:spPr>
      </p:sp>
      <p:sp>
        <p:nvSpPr>
          <p:cNvPr name="TextBox 6" id="6"/>
          <p:cNvSpPr txBox="true"/>
          <p:nvPr/>
        </p:nvSpPr>
        <p:spPr>
          <a:xfrm rot="0">
            <a:off x="1028700" y="3820659"/>
            <a:ext cx="11113076" cy="20821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27251F"/>
                </a:solidFill>
                <a:latin typeface="Inter"/>
                <a:ea typeface="Inter"/>
                <a:cs typeface="Inter"/>
                <a:sym typeface="Inter"/>
              </a:rPr>
              <a:t>Five validated behavioural segments</a:t>
            </a:r>
          </a:p>
          <a:p>
            <a:pPr algn="l" marL="518160" indent="-259080" lvl="1">
              <a:lnSpc>
                <a:spcPts val="3359"/>
              </a:lnSpc>
              <a:buFont typeface="Arial"/>
              <a:buChar char="•"/>
            </a:pPr>
            <a:r>
              <a:rPr lang="en-US" sz="2400">
                <a:solidFill>
                  <a:srgbClr val="27251F"/>
                </a:solidFill>
                <a:latin typeface="Inter"/>
                <a:ea typeface="Inter"/>
                <a:cs typeface="Inter"/>
                <a:sym typeface="Inter"/>
              </a:rPr>
              <a:t>Live churn-flag cohort in Power BI</a:t>
            </a:r>
          </a:p>
          <a:p>
            <a:pPr algn="l" marL="518160" indent="-259080" lvl="1">
              <a:lnSpc>
                <a:spcPts val="3359"/>
              </a:lnSpc>
              <a:buFont typeface="Arial"/>
              <a:buChar char="•"/>
            </a:pPr>
            <a:r>
              <a:rPr lang="en-US" sz="2400">
                <a:solidFill>
                  <a:srgbClr val="27251F"/>
                </a:solidFill>
                <a:latin typeface="Inter"/>
                <a:ea typeface="Inter"/>
                <a:cs typeface="Inter"/>
                <a:sym typeface="Inter"/>
              </a:rPr>
              <a:t>Per-segment marketing mix model</a:t>
            </a:r>
          </a:p>
          <a:p>
            <a:pPr algn="l" marL="518160" indent="-259080" lvl="1">
              <a:lnSpc>
                <a:spcPts val="3359"/>
              </a:lnSpc>
              <a:buFont typeface="Arial"/>
              <a:buChar char="•"/>
            </a:pPr>
            <a:r>
              <a:rPr lang="en-US" sz="2400">
                <a:solidFill>
                  <a:srgbClr val="27251F"/>
                </a:solidFill>
                <a:latin typeface="Inter"/>
                <a:ea typeface="Inter"/>
                <a:cs typeface="Inter"/>
                <a:sym typeface="Inter"/>
              </a:rPr>
              <a:t>Marketing team trained and operating</a:t>
            </a:r>
          </a:p>
          <a:p>
            <a:pPr algn="l" marL="518160" indent="-259080" lvl="1">
              <a:lnSpc>
                <a:spcPts val="3359"/>
              </a:lnSpc>
              <a:buFont typeface="Arial"/>
              <a:buChar char="•"/>
            </a:pPr>
            <a:r>
              <a:rPr lang="en-US" sz="2400">
                <a:solidFill>
                  <a:srgbClr val="27251F"/>
                </a:solidFill>
                <a:latin typeface="Inter"/>
                <a:ea typeface="Inter"/>
                <a:cs typeface="Inter"/>
                <a:sym typeface="Inter"/>
              </a:rPr>
              <a:t>Autumn 2026 campaign brief, segment-aware</a:t>
            </a:r>
          </a:p>
        </p:txBody>
      </p:sp>
      <p:sp>
        <p:nvSpPr>
          <p:cNvPr name="TextBox 7" id="7"/>
          <p:cNvSpPr txBox="true"/>
          <p:nvPr/>
        </p:nvSpPr>
        <p:spPr>
          <a:xfrm rot="0">
            <a:off x="1028700" y="676275"/>
            <a:ext cx="9259342" cy="714375"/>
          </a:xfrm>
          <a:prstGeom prst="rect">
            <a:avLst/>
          </a:prstGeom>
        </p:spPr>
        <p:txBody>
          <a:bodyPr anchor="t" rtlCol="false" tIns="0" lIns="0" bIns="0" rIns="0">
            <a:spAutoFit/>
          </a:bodyPr>
          <a:lstStyle/>
          <a:p>
            <a:pPr algn="l">
              <a:lnSpc>
                <a:spcPts val="5759"/>
              </a:lnSpc>
              <a:spcBef>
                <a:spcPct val="0"/>
              </a:spcBef>
            </a:pPr>
            <a:r>
              <a:rPr lang="en-US" b="true" sz="4800">
                <a:solidFill>
                  <a:srgbClr val="1E3932"/>
                </a:solidFill>
                <a:latin typeface="Montserrat Bold"/>
                <a:ea typeface="Montserrat Bold"/>
                <a:cs typeface="Montserrat Bold"/>
                <a:sym typeface="Montserrat Bold"/>
              </a:rPr>
              <a:t>FROM INSIGHT TO OUTCOME</a:t>
            </a:r>
          </a:p>
        </p:txBody>
      </p:sp>
      <p:sp>
        <p:nvSpPr>
          <p:cNvPr name="TextBox 8" id="8"/>
          <p:cNvSpPr txBox="true"/>
          <p:nvPr/>
        </p:nvSpPr>
        <p:spPr>
          <a:xfrm rot="0">
            <a:off x="1028700" y="1760032"/>
            <a:ext cx="15436652" cy="388620"/>
          </a:xfrm>
          <a:prstGeom prst="rect">
            <a:avLst/>
          </a:prstGeom>
        </p:spPr>
        <p:txBody>
          <a:bodyPr anchor="t" rtlCol="false" tIns="0" lIns="0" bIns="0" rIns="0">
            <a:spAutoFit/>
          </a:bodyPr>
          <a:lstStyle/>
          <a:p>
            <a:pPr algn="l">
              <a:lnSpc>
                <a:spcPts val="3120"/>
              </a:lnSpc>
              <a:spcBef>
                <a:spcPct val="0"/>
              </a:spcBef>
            </a:pPr>
            <a:r>
              <a:rPr lang="en-US" b="true" sz="2400">
                <a:solidFill>
                  <a:srgbClr val="006241"/>
                </a:solidFill>
                <a:latin typeface="Inter Bold"/>
                <a:ea typeface="Inter Bold"/>
                <a:cs typeface="Inter Bold"/>
                <a:sym typeface="Inter Bold"/>
              </a:rPr>
              <a:t>17 weeks to the first per-segment campaign - a foundation that compounds toward the $50M opportunity</a:t>
            </a:r>
          </a:p>
        </p:txBody>
      </p:sp>
      <p:sp>
        <p:nvSpPr>
          <p:cNvPr name="TextBox 9" id="9"/>
          <p:cNvSpPr txBox="true"/>
          <p:nvPr/>
        </p:nvSpPr>
        <p:spPr>
          <a:xfrm rot="0">
            <a:off x="1028700" y="2799038"/>
            <a:ext cx="4197152" cy="440690"/>
          </a:xfrm>
          <a:prstGeom prst="rect">
            <a:avLst/>
          </a:prstGeom>
        </p:spPr>
        <p:txBody>
          <a:bodyPr anchor="t" rtlCol="false" tIns="0" lIns="0" bIns="0" rIns="0">
            <a:spAutoFit/>
          </a:bodyPr>
          <a:lstStyle/>
          <a:p>
            <a:pPr algn="l">
              <a:lnSpc>
                <a:spcPts val="3639"/>
              </a:lnSpc>
              <a:spcBef>
                <a:spcPct val="0"/>
              </a:spcBef>
            </a:pPr>
            <a:r>
              <a:rPr lang="en-US" b="true" sz="2799">
                <a:solidFill>
                  <a:srgbClr val="C8A14B"/>
                </a:solidFill>
                <a:latin typeface="Montserrat Bold"/>
                <a:ea typeface="Montserrat Bold"/>
                <a:cs typeface="Montserrat Bold"/>
                <a:sym typeface="Montserrat Bold"/>
              </a:rPr>
              <a:t>YEAR 1 DELIVERABLES</a:t>
            </a:r>
          </a:p>
        </p:txBody>
      </p:sp>
      <p:sp>
        <p:nvSpPr>
          <p:cNvPr name="TextBox 10" id="10"/>
          <p:cNvSpPr txBox="true"/>
          <p:nvPr/>
        </p:nvSpPr>
        <p:spPr>
          <a:xfrm rot="0">
            <a:off x="1028700" y="6809472"/>
            <a:ext cx="2768798" cy="450215"/>
          </a:xfrm>
          <a:prstGeom prst="rect">
            <a:avLst/>
          </a:prstGeom>
        </p:spPr>
        <p:txBody>
          <a:bodyPr anchor="t" rtlCol="false" tIns="0" lIns="0" bIns="0" rIns="0">
            <a:spAutoFit/>
          </a:bodyPr>
          <a:lstStyle/>
          <a:p>
            <a:pPr algn="ctr">
              <a:lnSpc>
                <a:spcPts val="3639"/>
              </a:lnSpc>
              <a:spcBef>
                <a:spcPct val="0"/>
              </a:spcBef>
            </a:pPr>
            <a:r>
              <a:rPr lang="en-US" b="true" sz="2799">
                <a:solidFill>
                  <a:srgbClr val="C8A14B"/>
                </a:solidFill>
                <a:latin typeface="Inter Bold"/>
                <a:ea typeface="Inter Bold"/>
                <a:cs typeface="Inter Bold"/>
                <a:sym typeface="Inter Bold"/>
              </a:rPr>
              <a:t>BEYOND YEAR 1</a:t>
            </a:r>
          </a:p>
        </p:txBody>
      </p:sp>
      <p:sp>
        <p:nvSpPr>
          <p:cNvPr name="TextBox 11" id="11"/>
          <p:cNvSpPr txBox="true"/>
          <p:nvPr/>
        </p:nvSpPr>
        <p:spPr>
          <a:xfrm rot="0">
            <a:off x="1028700" y="3346314"/>
            <a:ext cx="4985941" cy="388620"/>
          </a:xfrm>
          <a:prstGeom prst="rect">
            <a:avLst/>
          </a:prstGeom>
        </p:spPr>
        <p:txBody>
          <a:bodyPr anchor="t" rtlCol="false" tIns="0" lIns="0" bIns="0" rIns="0">
            <a:spAutoFit/>
          </a:bodyPr>
          <a:lstStyle/>
          <a:p>
            <a:pPr algn="ctr">
              <a:lnSpc>
                <a:spcPts val="3120"/>
              </a:lnSpc>
              <a:spcBef>
                <a:spcPct val="0"/>
              </a:spcBef>
            </a:pPr>
            <a:r>
              <a:rPr lang="en-US" sz="2400" i="true">
                <a:solidFill>
                  <a:srgbClr val="006241"/>
                </a:solidFill>
                <a:latin typeface="Inter Italics"/>
                <a:ea typeface="Inter Italics"/>
                <a:cs typeface="Inter Italics"/>
                <a:sym typeface="Inter Italics"/>
              </a:rPr>
              <a:t>What you have at engagement end</a:t>
            </a:r>
          </a:p>
        </p:txBody>
      </p:sp>
      <p:sp>
        <p:nvSpPr>
          <p:cNvPr name="TextBox 12" id="12"/>
          <p:cNvSpPr txBox="true"/>
          <p:nvPr/>
        </p:nvSpPr>
        <p:spPr>
          <a:xfrm rot="0">
            <a:off x="1070223" y="7364462"/>
            <a:ext cx="3271242" cy="388620"/>
          </a:xfrm>
          <a:prstGeom prst="rect">
            <a:avLst/>
          </a:prstGeom>
        </p:spPr>
        <p:txBody>
          <a:bodyPr anchor="t" rtlCol="false" tIns="0" lIns="0" bIns="0" rIns="0">
            <a:spAutoFit/>
          </a:bodyPr>
          <a:lstStyle/>
          <a:p>
            <a:pPr algn="ctr">
              <a:lnSpc>
                <a:spcPts val="3120"/>
              </a:lnSpc>
              <a:spcBef>
                <a:spcPct val="0"/>
              </a:spcBef>
            </a:pPr>
            <a:r>
              <a:rPr lang="en-US" sz="2400" i="true">
                <a:solidFill>
                  <a:srgbClr val="FFFFFF"/>
                </a:solidFill>
                <a:latin typeface="Inter Italics"/>
                <a:ea typeface="Inter Italics"/>
                <a:cs typeface="Inter Italics"/>
                <a:sym typeface="Inter Italics"/>
              </a:rPr>
              <a:t>Where this compounds</a:t>
            </a:r>
          </a:p>
        </p:txBody>
      </p:sp>
      <p:sp>
        <p:nvSpPr>
          <p:cNvPr name="TextBox 13" id="13"/>
          <p:cNvSpPr txBox="true"/>
          <p:nvPr/>
        </p:nvSpPr>
        <p:spPr>
          <a:xfrm rot="0">
            <a:off x="1078409" y="7857857"/>
            <a:ext cx="8065591" cy="1950720"/>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2F0EB"/>
                </a:solidFill>
                <a:latin typeface="Inter"/>
                <a:ea typeface="Inter"/>
                <a:cs typeface="Inter"/>
                <a:sym typeface="Inter"/>
              </a:rPr>
              <a:t>Real-time personalisation as data volume grows</a:t>
            </a:r>
          </a:p>
          <a:p>
            <a:pPr algn="l" marL="518160" indent="-259080" lvl="1">
              <a:lnSpc>
                <a:spcPts val="3120"/>
              </a:lnSpc>
              <a:buFont typeface="Arial"/>
              <a:buChar char="•"/>
            </a:pPr>
            <a:r>
              <a:rPr lang="en-US" sz="2400">
                <a:solidFill>
                  <a:srgbClr val="F2F0EB"/>
                </a:solidFill>
                <a:latin typeface="Inter"/>
                <a:ea typeface="Inter"/>
                <a:cs typeface="Inter"/>
                <a:sym typeface="Inter"/>
              </a:rPr>
              <a:t>Loyalty programme evolution: segment-aware tier upgrades</a:t>
            </a:r>
          </a:p>
          <a:p>
            <a:pPr algn="l" marL="518160" indent="-259080" lvl="1">
              <a:lnSpc>
                <a:spcPts val="3120"/>
              </a:lnSpc>
              <a:buFont typeface="Arial"/>
              <a:buChar char="•"/>
            </a:pPr>
            <a:r>
              <a:rPr lang="en-US" sz="2400">
                <a:solidFill>
                  <a:srgbClr val="F2F0EB"/>
                </a:solidFill>
                <a:latin typeface="Inter"/>
                <a:ea typeface="Inter"/>
                <a:cs typeface="Inter"/>
                <a:sym typeface="Inter"/>
              </a:rPr>
              <a:t>Long-term partnership: segmentation underneath every campaign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DAHIoJGJuXk</dc:identifier>
  <dcterms:modified xsi:type="dcterms:W3CDTF">2011-08-01T06:04:30Z</dcterms:modified>
  <cp:revision>1</cp:revision>
  <dc:title>VASP-N Consultancy</dc:title>
</cp:coreProperties>
</file>